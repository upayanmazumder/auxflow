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640080"/>
          <a:lstStyle/>
          <a:p>
            <a:pPr algn="ctr"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COMPILER DESIGN LAB   ·   REVIEW 2</a:t>
            </a:r>
          </a:p>
          <a:p>
            <a:pPr>
              <a:spcBef>
                <a:spcPts val="1200"/>
              </a:spcBef>
              <a:defRPr sz="3200" b="1">
                <a:solidFill>
                  <a:srgbClr val="E6EDF3"/>
                </a:solidFill>
                <a:latin typeface="Trebuchet MS"/>
              </a:defRPr>
            </a:pPr>
            <a:r>
              <a:t>AuxFlow: Front-End, Semantics, &amp; IR</a:t>
            </a:r>
          </a:p>
          <a:p>
            <a:pPr>
              <a:spcBef>
                <a:spcPts val="1000"/>
              </a:spcBef>
              <a:defRPr sz="1600">
                <a:solidFill>
                  <a:srgbClr val="9BAFC6"/>
                </a:solidFill>
                <a:latin typeface="Calibri"/>
              </a:defRPr>
            </a:pPr>
            <a:r>
              <a:t>Lexer Catcodes, Recursive Descent, Multi-File Symbol Tables, and the Auxiliary Reference Graph</a:t>
            </a:r>
          </a:p>
          <a:p>
            <a:pPr>
              <a:spcBef>
                <a:spcPts val="4000"/>
              </a:spcBef>
              <a:defRPr sz="1400">
                <a:solidFill>
                  <a:srgbClr val="E6EDF3"/>
                </a:solidFill>
                <a:latin typeface="Calibri"/>
              </a:defRPr>
            </a:pPr>
            <a:r>
              <a:t>Student: Upayan Mazumder (24BDS0367)</a:t>
            </a:r>
            <a:br/>
            <a:r>
              <a:t>Course: Compiler Design Lab</a:t>
            </a:r>
            <a:br/>
            <a:r>
              <a:t>Milestone: Review 2 — Phases 1 to 7 Implementation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REVIEW 2 MILESTONE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From Proposed Architecture to Working Front-End &amp; 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02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PHASES 1–4: FRONT-END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TeX Catcode Lexer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Single-pass scanner supporting all 16 TeX category codes with full source fidelity.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Recursive Descent Parser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Hand-written, 1-token lookahead over declared macro signature table.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Fault-Tolerant AST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Missing braces or unterminated groups record diagnostics without crashing.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Multi-File Forest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Resolves \input/\include chains and detects circular inclusions via DFS.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PHASES 5–6: SEMANTICS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6 Symbol Tables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LabelTable, RefTable, CiteTable, PackageTable, FileTable, CounterTable.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Two-Pass Resolution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Declare pass defines all symbols; Resolve pass binds cross-file references.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Zero-Engine Check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auxflow check surfaces undefined refs, duplicate labels, and missing assets in milliseconds.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Opacity Boundary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Unmodelled packages flagged immediately under strict default-deny policy.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PHASE 7: INTERMEDIATE REP.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Instance-Level ARG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Auxiliary Reference Graph nodes are fact instances, not generic types.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Typed Lagged Edges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Edges carry pass-lag (0 or 1) and dependency type (AUX_ROUNDTRIP, TOOL, LAYOUT).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Exists / Value Split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List entries split into structure (exists) vs page (value) to keep standard docs acyclic.</a:t>
            </a:r>
          </a:p>
          <a:p>
            <a:pPr>
              <a:spcBef>
                <a:spcPts val="1200"/>
              </a:spcBef>
              <a:defRPr b="1" sz="1200">
                <a:solidFill>
                  <a:srgbClr val="E6EDF3"/>
                </a:solidFill>
              </a:defRPr>
            </a:pPr>
            <a:r>
              <a:t>• Graphviz DOT Export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auxflow graph serializes the complete IR with visual component coloring.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COMPILER PHASE 2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Lexical Analysis: TeX Category Codes &amp; Scanners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03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THE TEX CATCODE SCANNER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16 Category Codes: Characters are classified by dynamic catcode table (escape '\', group '{ }', comment '%', math '$').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Single-Pass Linear Scan: O(N) table-driven state machine without backtracking.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Comment Semantics: '%' consumes through the newline and all leading whitespace on the following line.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Delimiter-Driven Verbatim: \verb|...| dynamically reads its delimiter character and bypasses tokenization.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Precise Span Attribution: Every token retains exact (line, col, offset, length) in the input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Trebuchet MS"/>
              </a:defRPr>
            </a:pPr>
            <a:r>
              <a:t>CLI OUTPUT: auxflow tokens</a:t>
            </a:r>
          </a:p>
          <a:p>
            <a:pPr>
              <a:spcBef>
                <a:spcPts val="1000"/>
              </a:spcBef>
              <a:defRPr sz="1100">
                <a:solidFill>
                  <a:srgbClr val="E6EDF3"/>
                </a:solidFill>
                <a:latin typeface="Consolas"/>
              </a:defRPr>
            </a:pPr>
            <a:r>
              <a:t>$ auxflow tokens snippet.tex</a:t>
            </a:r>
            <a:br/>
            <a:r>
              <a:t>1:1  CONTROL_SEQUENCE '\section'</a:t>
            </a:r>
            <a:br/>
            <a:r>
              <a:t>1:9  BEGIN_GROUP      '{'</a:t>
            </a:r>
            <a:br/>
            <a:r>
              <a:t>1:10 LETTER           'I'</a:t>
            </a:r>
            <a:br/>
            <a:r>
              <a:t>1:11 LETTER           'n'</a:t>
            </a:r>
            <a:br/>
            <a:r>
              <a:t>1:12 LETTER           't'</a:t>
            </a:r>
            <a:br/>
            <a:r>
              <a:t>1:13 LETTER           'r'</a:t>
            </a:r>
            <a:br/>
            <a:r>
              <a:t>1:14 LETTER           'o'</a:t>
            </a:r>
            <a:br/>
            <a:r>
              <a:t>1:15 END_GROUP        '}'</a:t>
            </a:r>
            <a:br/>
            <a:r>
              <a:t>2:1  CONTROL_SEQUENCE '\label'</a:t>
            </a:r>
            <a:br/>
            <a:r>
              <a:t>2:7  BEGIN_GROUP      '{'</a:t>
            </a:r>
            <a:br/>
            <a:r>
              <a:t>2:8  LETTER           's'</a:t>
            </a:r>
            <a:br/>
            <a:r>
              <a:t>2:9  LETTER           'e'</a:t>
            </a:r>
            <a:br/>
            <a:r>
              <a:t>2:10 LETTER           'c'</a:t>
            </a:r>
            <a:br/>
            <a:r>
              <a:t>2:11 OTHER            ':'</a:t>
            </a:r>
            <a:br/>
            <a:r>
              <a:t>2:12 LETTER           '1'</a:t>
            </a:r>
            <a:br/>
            <a:r>
              <a:t>2:13 END_GROUP        '}'</a:t>
            </a:r>
            <a:br/>
            <a:br/>
            <a:r>
              <a:t>Property: round_trip(tokens) == source bytes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COMPILER PHASES 3–4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Recursive Descent Parsing &amp; Multi-File AST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04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SYNTACTIC RECONSTRUCTION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Declared Subset: Focuses on structure-bearing macros (\section, \label, \pageref, \cite, \begin{...}).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Signature-Driven: Command arguments (mandatory {}, optional []) parsed by signature table.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Error Recovery: Unterminated groups or missing arguments log a Diagnostic and close gracefully at EOF.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Inclusion Graph: \input and \include nodes connect file ASTs; 3-color DFS flags circular inclusion immediately.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AST Nodes (16): Frozen immutable dataclasses, each with mandatory Span(file_id, start, end).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Trebuchet MS"/>
              </a:defRPr>
            </a:pPr>
            <a:r>
              <a:t>CLI OUTPUT: auxflow ast</a:t>
            </a:r>
          </a:p>
          <a:p>
            <a:pPr>
              <a:spcBef>
                <a:spcPts val="1000"/>
              </a:spcBef>
              <a:defRPr sz="1050">
                <a:solidFill>
                  <a:srgbClr val="E6EDF3"/>
                </a:solidFill>
                <a:latin typeface="Consolas"/>
              </a:defRPr>
            </a:pPr>
            <a:r>
              <a:t>$ auxflow ast main.tex</a:t>
            </a:r>
            <a:br/>
            <a:r>
              <a:t>=== main.tex ===</a:t>
            </a:r>
            <a:br/>
            <a:r>
              <a:t>Document [main.tex:0-142]</a:t>
            </a:r>
            <a:br/>
            <a:r>
              <a:t>  Preamble [main.tex:0-48]</a:t>
            </a:r>
            <a:br/>
            <a:r>
              <a:t>    MacroCall(\documentclass) [main.tex:0-23]</a:t>
            </a:r>
            <a:br/>
            <a:r>
              <a:t>      Text('article') [main.tex:15-22]</a:t>
            </a:r>
            <a:br/>
            <a:r>
              <a:t>    MacroCall(\usepackage) [main.tex:24-43]</a:t>
            </a:r>
            <a:br/>
            <a:r>
              <a:t>      Text('varioref') [main.tex:36-42]</a:t>
            </a:r>
            <a:br/>
            <a:r>
              <a:t>  Sectioning(section) [main.tex:49-68]</a:t>
            </a:r>
            <a:br/>
            <a:r>
              <a:t>    Text('Introduction') [main.tex:58-67]</a:t>
            </a:r>
            <a:br/>
            <a:r>
              <a:t>  MacroCall(\label) [main.tex:69-85]</a:t>
            </a:r>
            <a:br/>
            <a:r>
              <a:t>    Text('sec:intro') [main.tex:76-84]</a:t>
            </a:r>
            <a:br/>
            <a:r>
              <a:t>  Include(include) [main.tex:86-112]</a:t>
            </a:r>
            <a:br/>
            <a:r>
              <a:t>    Text('chapters/methods')</a:t>
            </a:r>
            <a:br/>
            <a:r>
              <a:t>=== chapters/methods.tex ===</a:t>
            </a:r>
            <a:br/>
            <a:r>
              <a:t>Document [chapters/methods.tex:0-320]</a:t>
            </a:r>
            <a:br/>
            <a:r>
              <a:t>  Sectioning(chapter) ...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COMPILER PHASES 5–6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Symbol Tables &amp; Zero-Engine Semantic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05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TWO-PASS CROSS-MODULE RESOLUTION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Pass 1: Declare: Walks all ASTs in the forest. Populates LabelTable definitions, PackageTable declarations, FileTable reachability, and CounterTable ops.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Pass 2: Resolve: Binds RefTable use sites to defining labels across file boundaries; matches citations to bibliography entries.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Multi-File Forward References: Reference in intro.tex to label in appendix.tex resolves cleanly without ordering hazards.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Diagnostics Engine: auxflow check surfaces errors before running any engine pass: undefined refs, duplicate labels, missing graphic files, inclusion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Trebuchet MS"/>
              </a:defRPr>
            </a:pPr>
            <a:r>
              <a:t>CLI OUTPUT: auxflow symbols &amp; check</a:t>
            </a:r>
          </a:p>
          <a:p>
            <a:pPr>
              <a:spcBef>
                <a:spcPts val="1000"/>
              </a:spcBef>
              <a:defRPr sz="1050">
                <a:solidFill>
                  <a:srgbClr val="E6EDF3"/>
                </a:solidFill>
                <a:latin typeface="Consolas"/>
              </a:defRPr>
            </a:pPr>
            <a:r>
              <a:t>$ auxflow symbols main.tex</a:t>
            </a:r>
            <a:br/>
            <a:r>
              <a:t>labels:</a:t>
            </a:r>
            <a:br/>
            <a:r>
              <a:t>  sec:intro -&gt; main.tex:2:1 (counter: section)</a:t>
            </a:r>
            <a:br/>
            <a:r>
              <a:t>  ch:methods -&gt; chapters/methods.tex:1:1</a:t>
            </a:r>
            <a:br/>
            <a:r>
              <a:t>refs:</a:t>
            </a:r>
            <a:br/>
            <a:r>
              <a:t>  sec:intro -&gt; bound to main.tex:2:1 (ref)</a:t>
            </a:r>
            <a:br/>
            <a:r>
              <a:t>  ch:methods -&gt; bound to methods.tex:1:1 (pageref)</a:t>
            </a:r>
            <a:br/>
            <a:r>
              <a:t>cites:</a:t>
            </a:r>
            <a:br/>
            <a:r>
              <a:t>  knuth1984 -&gt; present in refs.bib (1 use)</a:t>
            </a:r>
            <a:br/>
            <a:r>
              <a:t>packages:</a:t>
            </a:r>
            <a:br/>
            <a:r>
              <a:t>  varioref -&gt; modelled (narrow syntax)</a:t>
            </a:r>
            <a:br/>
            <a:r>
              <a:t>  tikz -&gt; unmodelled (OPAQUE)</a:t>
            </a:r>
            <a:br/>
            <a:br/>
            <a:r>
              <a:t>$ auxflow check broken.tex</a:t>
            </a:r>
            <a:br/>
            <a:r>
              <a:t>error: undefined reference 'fig:missing' (broken.tex:14:22)</a:t>
            </a:r>
            <a:br/>
            <a:r>
              <a:t>error: duplicate label 'sec:intro' (broken.tex:45:1)</a:t>
            </a:r>
            <a:br/>
            <a:r>
              <a:t>[Exit status: 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COMPILER PHASE 7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The Auxiliary Reference Graph (ARG) Intermediate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06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IR FORMAL SPECIFICATION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Instance Facts: ARG vertices are specific fact instances in code, not coarse categories. Nodes carry exact source spans.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Component Tagging: Every fact is tagged either exists (structural presence) or value (typeset content / number / page).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Edge Semantics: Edges E = (u, v, lag, type, reason).</a:t>
            </a:r>
            <a:br/>
            <a:r>
              <a:t>  - AUX_ROUNDTRIP (lag 1): read from prior .aux pass.</a:t>
            </a:r>
            <a:br/>
            <a:r>
              <a:t>  - TOOL (lag 1): consumed by external tool (BibTeX).</a:t>
            </a:r>
            <a:br/>
            <a:r>
              <a:t>  - LAYOUT (lag 0 or 1): pagination and list extents.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• Acyclic Normal Case: Ordinary TOC documents remain strictly acyclic in the ARG, matching the fixed-point convergence of standard LaTeX.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Trebuchet MS"/>
              </a:defRPr>
            </a:pPr>
            <a:r>
              <a:t>THE CRITICAL EXISTS / VALUE SPLIT</a:t>
            </a:r>
          </a:p>
          <a:p>
            <a:pPr>
              <a:spcBef>
                <a:spcPts val="1000"/>
              </a:spcBef>
              <a:defRPr sz="1100">
                <a:solidFill>
                  <a:srgbClr val="E6EDF3"/>
                </a:solidFill>
                <a:latin typeface="Consolas"/>
              </a:defRPr>
            </a:pPr>
            <a:r>
              <a:t>THE PROBLEM IN NAIVE MODELING:</a:t>
            </a:r>
            <a:br/>
            <a:r>
              <a:t>A Section produces a TOC entry on page P.</a:t>
            </a:r>
            <a:br/>
            <a:r>
              <a:t>The TOC entry shifts document pagination.</a:t>
            </a:r>
            <a:br/>
            <a:r>
              <a:t>Pagination alters page P.</a:t>
            </a:r>
            <a:br/>
            <a:r>
              <a:t>-&gt; Forms a cyclic graph for EVERY document!</a:t>
            </a:r>
            <a:br/>
            <a:br/>
            <a:r>
              <a:t>AUXFLOW'S ARCHITECTURAL SOLUTION:</a:t>
            </a:r>
            <a:br/>
            <a:r>
              <a:t>Split TOC_ENTRY into two nodes:</a:t>
            </a:r>
            <a:br/>
            <a:r>
              <a:t>1. TOC_ENTRY [exists] (depends only on structure)</a:t>
            </a:r>
            <a:br/>
            <a:r>
              <a:t>   --&gt; feeds LIST_EXTENT</a:t>
            </a:r>
            <a:br/>
            <a:r>
              <a:t>   --&gt; feeds CONTENT_VOLUME</a:t>
            </a:r>
            <a:br/>
            <a:r>
              <a:t>2. TOC_ENTRY [value] (the rendered page number)</a:t>
            </a:r>
            <a:br/>
            <a:r>
              <a:t>   &lt;-- fed by CONTENT_VOLUME</a:t>
            </a:r>
            <a:br/>
            <a:br/>
            <a:r>
              <a:t>Result: Edges flow in ONE direction.</a:t>
            </a:r>
            <a:br/>
            <a:r>
              <a:t>Ordinary documents are provably acyclic.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VERIFICATION &amp; WALKTHROUGH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Tracing a Forward Reference: Code to IR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07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2316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1. SOURCE SNIPPET</a:t>
            </a:r>
          </a:p>
          <a:p>
            <a:pPr>
              <a:spcBef>
                <a:spcPts val="1000"/>
              </a:spcBef>
              <a:defRPr sz="1100">
                <a:solidFill>
                  <a:srgbClr val="E6EDF3"/>
                </a:solidFill>
                <a:latin typeface="Consolas"/>
              </a:defRPr>
            </a:pPr>
            <a:r>
              <a:t>\section{Intro}</a:t>
            </a:r>
            <a:br/>
            <a:r>
              <a:t>\label{s:intro}</a:t>
            </a:r>
            <a:br/>
            <a:r>
              <a:t>...</a:t>
            </a:r>
            <a:br/>
            <a:r>
              <a:t>See page \pageref{s:intro}</a:t>
            </a:r>
            <a:br/>
            <a:r>
              <a:t>\newpage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2152" y="1463040"/>
            <a:ext cx="242316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6459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2. AST &amp; SYMBOLS</a:t>
            </a:r>
          </a:p>
          <a:p>
            <a:pPr>
              <a:spcBef>
                <a:spcPts val="1000"/>
              </a:spcBef>
              <a:defRPr sz="1100">
                <a:solidFill>
                  <a:srgbClr val="9BAFC6"/>
                </a:solidFill>
                <a:latin typeface="Calibri"/>
              </a:defRPr>
            </a:pPr>
            <a:r>
              <a:t>• AST Node: MacroCall(\label)</a:t>
            </a:r>
            <a:br/>
            <a:r>
              <a:t>• LabelTable: 's:intro'</a:t>
            </a:r>
            <a:br/>
            <a:r>
              <a:t>  counter: 'section'</a:t>
            </a:r>
            <a:br/>
            <a:r>
              <a:t>• RefTable: 's:intro'</a:t>
            </a:r>
            <a:br/>
            <a:r>
              <a:t>  kind: 'pageref'</a:t>
            </a:r>
            <a:br/>
            <a:r>
              <a:t>• Bound across files: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3" y="1463040"/>
            <a:ext cx="242316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6459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3. LOWERED IR FACTS</a:t>
            </a:r>
          </a:p>
          <a:p>
            <a:pPr>
              <a:spcBef>
                <a:spcPts val="1000"/>
              </a:spcBef>
              <a:defRPr sz="1000">
                <a:solidFill>
                  <a:srgbClr val="E6EDF3"/>
                </a:solidFill>
                <a:latin typeface="Consolas"/>
              </a:defRPr>
            </a:pPr>
            <a:r>
              <a:t>f0: CONTENT_VOLUME</a:t>
            </a:r>
            <a:br/>
            <a:r>
              <a:t>    [value]</a:t>
            </a:r>
            <a:br/>
            <a:r>
              <a:t>f1: LABEL_NUMBER(s:intro)</a:t>
            </a:r>
            <a:br/>
            <a:r>
              <a:t>    [value]</a:t>
            </a:r>
            <a:br/>
            <a:r>
              <a:t>f2: LABEL_PAGE(s:intro)</a:t>
            </a:r>
            <a:br/>
            <a:r>
              <a:t>    [value]</a:t>
            </a:r>
            <a:br/>
            <a:r>
              <a:t>f3: PAGEREF_USE(s:intro)</a:t>
            </a:r>
            <a:br/>
            <a:r>
              <a:t>    [value]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3416" y="1463040"/>
            <a:ext cx="242316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0576" y="16459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4. ARG EDGES</a:t>
            </a:r>
          </a:p>
          <a:p>
            <a:pPr>
              <a:spcBef>
                <a:spcPts val="1000"/>
              </a:spcBef>
              <a:defRPr sz="1100">
                <a:solidFill>
                  <a:srgbClr val="9BAFC6"/>
                </a:solidFill>
                <a:latin typeface="Calibri"/>
              </a:defRPr>
            </a:pPr>
            <a:r>
              <a:t>• f0 -&gt; f2: LAYOUT (lag 0)</a:t>
            </a:r>
            <a:br/>
            <a:r>
              <a:t>  'pagination sets page'</a:t>
            </a:r>
            <a:br/>
            <a:r>
              <a:t>• f2 -&gt; f3: AUX_ROUNDTRIP</a:t>
            </a:r>
            <a:br/>
            <a:r>
              <a:t>  (lag 1)</a:t>
            </a:r>
            <a:br/>
            <a:r>
              <a:t>  'pageref reads label'</a:t>
            </a:r>
            <a:br/>
            <a:br/>
            <a:r>
              <a:t>Result: 2-run chain</a:t>
            </a:r>
            <a:br/>
            <a:r>
              <a:t>Acyclic DAG (Pass 1 -&gt; 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SUMMARY &amp; NEXT STAGES</a:t>
            </a:r>
          </a:p>
          <a:p>
            <a:pPr>
              <a:defRPr sz="2200" b="1">
                <a:solidFill>
                  <a:srgbClr val="E6EDF3"/>
                </a:solidFill>
                <a:latin typeface="Trebuchet MS"/>
              </a:defRPr>
            </a:pPr>
            <a:r>
              <a:t>Review 2 Deliverables Complete; Ready for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9BAFC6"/>
                </a:solidFill>
                <a:latin typeface="Trebuchet MS"/>
              </a:defRPr>
            </a:pPr>
            <a:r>
              <a:t>08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Trebuchet MS"/>
              </a:defRPr>
            </a:pPr>
            <a:r>
              <a:t>REVIEW 2 DELIVERABLES ACHIEVED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✓ Phase 1–7 Implementation Complete: Lexer, Parser, AST Forest, Symbol Tables, Semantics, and ARG IR fully functional.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✓ Zero-Engine Operation: All front-end analysis runs in Python without requiring TeX Live installed.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✓ Robust Test Suite: 100+ unit tests covering token round-trips, error recovery, forward references, and graph lowering.</a:t>
            </a:r>
          </a:p>
          <a:p>
            <a:pPr>
              <a:spcBef>
                <a:spcPts val="1200"/>
              </a:spcBef>
              <a:defRPr sz="1200">
                <a:solidFill>
                  <a:srgbClr val="E6EDF3"/>
                </a:solidFill>
              </a:defRPr>
            </a:pPr>
            <a:r>
              <a:t>✓ Type Safety: strict mypy enabled across 40+ source modules with zero type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52A3E"/>
          </a:solidFill>
          <a:ln w="19050">
            <a:solidFill>
              <a:srgbClr val="1B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REVIEW 3 ROADMAP (PHASES 8–16)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→ Phase 8–9: SCC &amp; Taint Analysis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 Iterative Tarjan algorithm detects cycles; taint analysis identifies content amplification risks.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→ Phase 10–11: Fixpoint &amp; Classification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 Compute stable pass P; classify into CERTIFIED, BENIGN_CYCLIC, AMPLIFYING, UNKNOWN.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→ Phase 12–13: Planner &amp; Verifier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 Emit safe execution plans with dead-code elimination; verify canonical auxiliary state.</a:t>
            </a:r>
          </a:p>
          <a:p>
            <a:pPr>
              <a:spcBef>
                <a:spcPts val="1000"/>
              </a:spcBef>
              <a:defRPr b="1" sz="1200">
                <a:solidFill>
                  <a:srgbClr val="E6EDF3"/>
                </a:solidFill>
              </a:defRPr>
            </a:pPr>
            <a:r>
              <a:t>→ Phase 14–16: 15-Member Benchmark Corpus</a:t>
            </a:r>
          </a:p>
          <a:p>
            <a:pPr>
              <a:defRPr sz="1100">
                <a:solidFill>
                  <a:srgbClr val="9BAFC6"/>
                </a:solidFill>
              </a:defRPr>
            </a:pPr>
            <a:r>
              <a:t>   Execute 1050 containerized runs across 7 baselines; prove Gates 1 and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