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AuxFlow, a compiler design project. It builds a standard compiler front-end for a restricted document language and uses static analysis to understand how documents behave when compiled in multiple passes. It reads source and analyses dependencies; it is not a typesetter and not an AI project.</a:t>
            </a:r>
          </a:p>
          <a:p/>
          <a:p>
            <a:r>
              <a:t>Follow-ups: Is this AI? No, deterministic static analysis. Output? A dependency graph and an explainable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Documents like reports compile in several passes because of feedback: a pass writes generated information and the next pass reads it back. A cross-reference cannot be filled in until an earlier pass recorded the target, so the compiler repeats until nothing changes, as the loop shows. From the source alone it is hard to predict this behaviour — that is the gap I study.</a:t>
            </a:r>
          </a:p>
          <a:p/>
          <a:p>
            <a:r>
              <a:t>Follow-ups: Why two passes for a reference? Written on one pass, readable on the next. Are existing tools wrong? No — they re-run; I add analysis.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objectives are compiler stages, each buildable and testable on its own: a front-end for a restricted subset, extraction of dependencies, an intermediate dependency graph, static analysis, and readable source-located reports. Scope: restricted features, dependency-only analysis, conservative results. Outside the subset is marked opaque and handled safely.</a:t>
            </a:r>
          </a:p>
          <a:p/>
          <a:p>
            <a:r>
              <a:t>Follow-ups: Why restrict the language? Arbitrary reference analysis is undecidable. What is conservative? Prefer to over-flag or say unknown than be confidently wrong.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slide for a compiler review. Reading down the table: lexical analysis produces tokens with a category-code scanner; syntax analysis builds an AST with a recursive-descent parser; semantic analysis uses symbol tables to extract dependencies; those become the intermediate representation — a dependency graph; static analysis evaluates that graph with dataflow and a fixpoint; and I use Tarjan's algorithm for cycles. The only difference from a textbook compiler is the target: a report, not machine code.</a:t>
            </a:r>
          </a:p>
          <a:p/>
          <a:p>
            <a:r>
              <a:t>Follow-ups: Where is the fixpoint? Graph evaluation. Why is lexing non-trivial? Category codes and verbatim handling.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straight, one-direction pipeline — the shape of a compiler. Source enters the lexer, then parser, AST, and semantic analyzer. That front-end lowers into the Dependency IR, highlighted here, and the static analyzer works only on that IR to produce the report. Every stage is a separate command I can demonstrate on its own, and the whole pipeline runs without any typesetting engine.</a:t>
            </a:r>
          </a:p>
          <a:p/>
          <a:p>
            <a:r>
              <a:t>Follow-ups: Why does the analyzer read only the IR? To keep it self-contained. Hardest part? The parser.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methodology is a small dataflow pipeline over the IR. Extract the facts — labels and references. Link each written value to the later read that depends on it. Those links form a graph. Analyse it with traversal, strongly connected components for cycles, and a fixpoint. Produce a plain-language explanation with source locations. It is conservative: feedback fixed by structure settles; feedback where a value changes how much content exists is flagged as a risk, never asserted.</a:t>
            </a:r>
          </a:p>
          <a:p/>
          <a:p>
            <a:r>
              <a:t>Follow-ups: What is an SCC? Facts that depend on each other in a cycle. Do you prove non-convergence? No — flag a structural risk.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simplest example, read left to right. A section defines a label; later the text refers to it. AuxFlow extracts two facts and records one dependency: the reference can only be filled in one pass after the label is written. The graph shows that. No cycle, so the result is a plain sentence naming the dependency and its location. The point is that it explains the dependency.</a:t>
            </a:r>
          </a:p>
          <a:p/>
          <a:p>
            <a:r>
              <a:t>Follow-ups: Reference before label? Same dependency, still one pass later. A contents list? A benign cycle that settles; classified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AuxFlow is a compiler design project end to end, applying the standard phases — lexer, parser, AST, symbol tables, an IR, and dataflow and graph analysis. Its contribution is a dependency-based static analysis of multi-pass compilation behaviour, expressed as a graph and analysed without running any engine, with explainable and conservative output. It is feasible for one student because it is built phase by phase, each independently testable. Thank you.</a:t>
            </a:r>
          </a:p>
          <a:p/>
          <a:p>
            <a:r>
              <a:t>Follow-ups: One-line contribution? Compiler dependency analysis for multi-pass compilation with explainable output. Biggest risk? The parser; scope is bounded by the restricted subset.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59" y="1554480"/>
            <a:ext cx="10424160" cy="365760"/>
          </a:xfrm>
          <a:prstGeom prst="rect">
            <a:avLst/>
          </a:prstGeom>
          <a:noFill/>
        </p:spPr>
        <p:txBody>
          <a:bodyPr wrap="square" anchor="t" lIns="76200" rIns="76200" tIns="38100" bIns="38100">
            <a:noAutofit/>
          </a:bodyPr>
          <a:lstStyle/>
          <a:p>
            <a:pPr algn="l"/>
            <a:r>
              <a:rPr sz="1200" b="1" i="0">
                <a:solidFill>
                  <a:srgbClr val="38BDF8"/>
                </a:solidFill>
                <a:latin typeface="Inter"/>
              </a:rPr>
              <a:t>COMPILER DESIGN LAB   ·   REVIEW 1</a:t>
            </a:r>
          </a:p>
        </p:txBody>
      </p:sp>
      <p:sp>
        <p:nvSpPr>
          <p:cNvPr id="4" name="TextBox 3"/>
          <p:cNvSpPr txBox="1"/>
          <p:nvPr/>
        </p:nvSpPr>
        <p:spPr>
          <a:xfrm>
            <a:off x="777240" y="1938528"/>
            <a:ext cx="10424160" cy="1097280"/>
          </a:xfrm>
          <a:prstGeom prst="rect">
            <a:avLst/>
          </a:prstGeom>
          <a:noFill/>
        </p:spPr>
        <p:txBody>
          <a:bodyPr wrap="square" anchor="t" lIns="76200" rIns="76200" tIns="38100" bIns="38100">
            <a:noAutofit/>
          </a:bodyPr>
          <a:lstStyle/>
          <a:p>
            <a:pPr algn="l"/>
            <a:r>
              <a:rPr sz="4400" b="1" i="0">
                <a:solidFill>
                  <a:srgbClr val="E6EDF3"/>
                </a:solidFill>
                <a:latin typeface="Inter"/>
              </a:rPr>
              <a:t>AuxFlow</a:t>
            </a:r>
          </a:p>
        </p:txBody>
      </p:sp>
      <p:sp>
        <p:nvSpPr>
          <p:cNvPr id="5" name="TextBox 4"/>
          <p:cNvSpPr txBox="1"/>
          <p:nvPr/>
        </p:nvSpPr>
        <p:spPr>
          <a:xfrm>
            <a:off x="822959" y="3063240"/>
            <a:ext cx="10424160" cy="640080"/>
          </a:xfrm>
          <a:prstGeom prst="rect">
            <a:avLst/>
          </a:prstGeom>
          <a:noFill/>
        </p:spPr>
        <p:txBody>
          <a:bodyPr wrap="square" anchor="t" lIns="76200" rIns="76200" tIns="38100" bIns="38100">
            <a:noAutofit/>
          </a:bodyPr>
          <a:lstStyle/>
          <a:p>
            <a:pPr algn="l"/>
            <a:r>
              <a:rPr sz="2500" b="1" i="0">
                <a:solidFill>
                  <a:srgbClr val="38BDF8"/>
                </a:solidFill>
                <a:latin typeface="Inter"/>
              </a:rPr>
              <a:t>Static Analysis for Multi-Pass Document Compilation</a:t>
            </a:r>
          </a:p>
        </p:txBody>
      </p:sp>
      <p:sp>
        <p:nvSpPr>
          <p:cNvPr id="6" name="TextBox 5"/>
          <p:cNvSpPr txBox="1"/>
          <p:nvPr/>
        </p:nvSpPr>
        <p:spPr>
          <a:xfrm>
            <a:off x="841247" y="3794760"/>
            <a:ext cx="8778240" cy="457200"/>
          </a:xfrm>
          <a:prstGeom prst="rect">
            <a:avLst/>
          </a:prstGeom>
          <a:noFill/>
        </p:spPr>
        <p:txBody>
          <a:bodyPr wrap="square" anchor="t" lIns="76200" rIns="76200" tIns="38100" bIns="38100">
            <a:noAutofit/>
          </a:bodyPr>
          <a:lstStyle/>
          <a:p>
            <a:pPr algn="l"/>
            <a:r>
              <a:rPr sz="1500" b="0" i="0">
                <a:solidFill>
                  <a:srgbClr val="9BAFC6"/>
                </a:solidFill>
                <a:latin typeface="Inter"/>
              </a:rPr>
              <a:t>A compiler-based approach for analyzing dependency-driven compilation behaviour.</a:t>
            </a:r>
          </a:p>
        </p:txBody>
      </p:sp>
      <p:sp>
        <p:nvSpPr>
          <p:cNvPr id="7" name="Rounded Rectangle 6"/>
          <p:cNvSpPr/>
          <p:nvPr/>
        </p:nvSpPr>
        <p:spPr>
          <a:xfrm>
            <a:off x="822959" y="4754880"/>
            <a:ext cx="5943600" cy="1234440"/>
          </a:xfrm>
          <a:prstGeom prst="roundRect">
            <a:avLst>
              <a:gd name="adj" fmla="val 6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01184"/>
            <a:ext cx="5577840" cy="960120"/>
          </a:xfrm>
          <a:prstGeom prst="rect">
            <a:avLst/>
          </a:prstGeom>
          <a:noFill/>
        </p:spPr>
        <p:txBody>
          <a:bodyPr wrap="square" anchor="t" lIns="76200" rIns="76200" tIns="38100" bIns="38100">
            <a:noAutofit/>
          </a:bodyPr>
          <a:lstStyle/>
          <a:p>
            <a:pPr algn="l">
              <a:spcAft>
                <a:spcPts val="700"/>
              </a:spcAft>
            </a:pPr>
            <a:r>
              <a:rPr sz="1500" b="1" i="0">
                <a:solidFill>
                  <a:srgbClr val="9BAFC6"/>
                </a:solidFill>
                <a:latin typeface="Inter"/>
              </a:rPr>
              <a:t>Name        </a:t>
            </a:r>
            <a:r>
              <a:rPr sz="1500" b="0" i="0">
                <a:solidFill>
                  <a:srgbClr val="E6EDF3"/>
                </a:solidFill>
                <a:latin typeface="Inter"/>
              </a:rPr>
              <a:t>Upayan Mazumder</a:t>
            </a:r>
          </a:p>
          <a:p>
            <a:pPr algn="l">
              <a:spcAft>
                <a:spcPts val="700"/>
              </a:spcAft>
            </a:pPr>
            <a:r>
              <a:rPr sz="1500" b="1" i="0">
                <a:solidFill>
                  <a:srgbClr val="9BAFC6"/>
                </a:solidFill>
                <a:latin typeface="Inter"/>
              </a:rPr>
              <a:t>Reg. No.    </a:t>
            </a:r>
            <a:r>
              <a:rPr sz="1500" b="0" i="0">
                <a:solidFill>
                  <a:srgbClr val="E6EDF3"/>
                </a:solidFill>
                <a:latin typeface="Inter"/>
              </a:rPr>
              <a:t>24BDS0367</a:t>
            </a:r>
          </a:p>
          <a:p>
            <a:pPr algn="l"/>
            <a:r>
              <a:rPr sz="1500" b="1" i="0">
                <a:solidFill>
                  <a:srgbClr val="9BAFC6"/>
                </a:solidFill>
                <a:latin typeface="Inter"/>
              </a:rPr>
              <a:t>Course      </a:t>
            </a:r>
            <a:r>
              <a:rPr sz="1500" b="0" i="0">
                <a:solidFill>
                  <a:srgbClr val="E6EDF3"/>
                </a:solidFill>
                <a:latin typeface="Inter"/>
              </a:rPr>
              <a:t>Compiler Design Lab</a:t>
            </a:r>
          </a:p>
        </p:txBody>
      </p:sp>
      <p:sp>
        <p:nvSpPr>
          <p:cNvPr id="9" name="TextBox 8"/>
          <p:cNvSpPr txBox="1"/>
          <p:nvPr/>
        </p:nvSpPr>
        <p:spPr>
          <a:xfrm>
            <a:off x="8503920" y="3931920"/>
            <a:ext cx="2194560" cy="292608"/>
          </a:xfrm>
          <a:prstGeom prst="rect">
            <a:avLst/>
          </a:prstGeom>
          <a:noFill/>
        </p:spPr>
        <p:txBody>
          <a:bodyPr wrap="square" anchor="t" lIns="76200" rIns="76200" tIns="38100" bIns="38100">
            <a:noAutofit/>
          </a:bodyPr>
          <a:lstStyle/>
          <a:p>
            <a:pPr algn="ctr"/>
            <a:r>
              <a:rPr sz="1100" b="0" i="1">
                <a:solidFill>
                  <a:srgbClr val="9BAFC6"/>
                </a:solidFill>
                <a:latin typeface="Inter"/>
              </a:rPr>
              <a:t>dependency graph</a:t>
            </a:r>
          </a:p>
        </p:txBody>
      </p:sp>
      <p:sp>
        <p:nvSpPr>
          <p:cNvPr id="10" name="Rounded Rectangle 9"/>
          <p:cNvSpPr/>
          <p:nvPr/>
        </p:nvSpPr>
        <p:spPr>
          <a:xfrm>
            <a:off x="8503920" y="4315968"/>
            <a:ext cx="2194560" cy="512064"/>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200" b="1" i="0">
                <a:solidFill>
                  <a:srgbClr val="E6EDF3"/>
                </a:solidFill>
                <a:latin typeface="Inter"/>
              </a:rPr>
              <a:t>Source</a:t>
            </a:r>
          </a:p>
        </p:txBody>
      </p:sp>
      <p:sp>
        <p:nvSpPr>
          <p:cNvPr id="11" name="Rounded Rectangle 10"/>
          <p:cNvSpPr/>
          <p:nvPr/>
        </p:nvSpPr>
        <p:spPr>
          <a:xfrm>
            <a:off x="8503920" y="5029199"/>
            <a:ext cx="2194560" cy="512064"/>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200" b="1" i="0">
                <a:solidFill>
                  <a:srgbClr val="38BDF8"/>
                </a:solidFill>
                <a:latin typeface="Inter"/>
              </a:rPr>
              <a:t>IR</a:t>
            </a:r>
          </a:p>
        </p:txBody>
      </p:sp>
      <p:sp>
        <p:nvSpPr>
          <p:cNvPr id="12" name="Rounded Rectangle 11"/>
          <p:cNvSpPr/>
          <p:nvPr/>
        </p:nvSpPr>
        <p:spPr>
          <a:xfrm>
            <a:off x="8503920" y="5742432"/>
            <a:ext cx="2194560" cy="512064"/>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200" b="1" i="0">
                <a:solidFill>
                  <a:srgbClr val="E6EDF3"/>
                </a:solidFill>
                <a:latin typeface="Inter"/>
              </a:rPr>
              <a:t>Report</a:t>
            </a:r>
          </a:p>
        </p:txBody>
      </p:sp>
      <p:cxnSp>
        <p:nvCxnSpPr>
          <p:cNvPr id="13" name="Connector 12"/>
          <p:cNvCxnSpPr/>
          <p:nvPr/>
        </p:nvCxnSpPr>
        <p:spPr>
          <a:xfrm>
            <a:off x="9601200" y="4828031"/>
            <a:ext cx="0" cy="201168"/>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601200" y="5541264"/>
            <a:ext cx="0" cy="201168"/>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420624"/>
            <a:ext cx="10972800" cy="292608"/>
          </a:xfrm>
          <a:prstGeom prst="rect">
            <a:avLst/>
          </a:prstGeom>
          <a:noFill/>
        </p:spPr>
        <p:txBody>
          <a:bodyPr wrap="square" anchor="t" lIns="76200" rIns="76200" tIns="38100" bIns="38100">
            <a:noAutofit/>
          </a:bodyPr>
          <a:lstStyle/>
          <a:p>
            <a:pPr algn="l"/>
            <a:r>
              <a:rPr sz="1100" b="1" i="0">
                <a:solidFill>
                  <a:srgbClr val="38BDF8"/>
                </a:solidFill>
                <a:latin typeface="Inter"/>
              </a:rPr>
              <a:t>PROBLEM</a:t>
            </a:r>
          </a:p>
        </p:txBody>
      </p:sp>
      <p:sp>
        <p:nvSpPr>
          <p:cNvPr id="3" name="TextBox 2"/>
          <p:cNvSpPr txBox="1"/>
          <p:nvPr/>
        </p:nvSpPr>
        <p:spPr>
          <a:xfrm>
            <a:off x="621792" y="694944"/>
            <a:ext cx="11155680" cy="658368"/>
          </a:xfrm>
          <a:prstGeom prst="rect">
            <a:avLst/>
          </a:prstGeom>
          <a:noFill/>
        </p:spPr>
        <p:txBody>
          <a:bodyPr wrap="square" anchor="t" lIns="76200" rIns="76200" tIns="38100" bIns="38100">
            <a:noAutofit/>
          </a:bodyPr>
          <a:lstStyle/>
          <a:p>
            <a:pPr algn="l"/>
            <a:r>
              <a:rPr sz="3000" b="1" i="0">
                <a:solidFill>
                  <a:srgbClr val="E6EDF3"/>
                </a:solidFill>
                <a:latin typeface="Inter"/>
              </a:rPr>
              <a:t>Why documents need multiple passes</a:t>
            </a:r>
          </a:p>
        </p:txBody>
      </p:sp>
      <p:sp>
        <p:nvSpPr>
          <p:cNvPr id="4" name="Rectangle 3"/>
          <p:cNvSpPr/>
          <p:nvPr/>
        </p:nvSpPr>
        <p:spPr>
          <a:xfrm>
            <a:off x="640080" y="1389888"/>
            <a:ext cx="1280160" cy="45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19088"/>
            <a:ext cx="7315200" cy="274320"/>
          </a:xfrm>
          <a:prstGeom prst="rect">
            <a:avLst/>
          </a:prstGeom>
          <a:noFill/>
        </p:spPr>
        <p:txBody>
          <a:bodyPr wrap="square" anchor="t" lIns="76200" rIns="76200" tIns="38100" bIns="38100">
            <a:noAutofit/>
          </a:bodyPr>
          <a:lstStyle/>
          <a:p>
            <a:pPr algn="l"/>
            <a:r>
              <a:rPr sz="900" b="0" i="0">
                <a:solidFill>
                  <a:srgbClr val="9BAFC6"/>
                </a:solidFill>
                <a:latin typeface="Inter"/>
              </a:rPr>
              <a:t>AuxFlow · Static Analysis for Multi-Pass Document Compilation</a:t>
            </a:r>
          </a:p>
        </p:txBody>
      </p:sp>
      <p:sp>
        <p:nvSpPr>
          <p:cNvPr id="6" name="TextBox 5"/>
          <p:cNvSpPr txBox="1"/>
          <p:nvPr/>
        </p:nvSpPr>
        <p:spPr>
          <a:xfrm>
            <a:off x="10058400" y="6419088"/>
            <a:ext cx="1673352" cy="274320"/>
          </a:xfrm>
          <a:prstGeom prst="rect">
            <a:avLst/>
          </a:prstGeom>
          <a:noFill/>
        </p:spPr>
        <p:txBody>
          <a:bodyPr wrap="square" anchor="t" lIns="76200" rIns="76200" tIns="38100" bIns="38100">
            <a:noAutofit/>
          </a:bodyPr>
          <a:lstStyle/>
          <a:p>
            <a:pPr algn="r"/>
            <a:r>
              <a:rPr sz="900" b="0" i="0">
                <a:solidFill>
                  <a:srgbClr val="9BAFC6"/>
                </a:solidFill>
                <a:latin typeface="Inter"/>
              </a:rPr>
              <a:t>02 / 08</a:t>
            </a:r>
          </a:p>
        </p:txBody>
      </p:sp>
      <p:sp>
        <p:nvSpPr>
          <p:cNvPr id="7" name="TextBox 6"/>
          <p:cNvSpPr txBox="1"/>
          <p:nvPr/>
        </p:nvSpPr>
        <p:spPr>
          <a:xfrm>
            <a:off x="640080" y="1874519"/>
            <a:ext cx="4937760" cy="4023360"/>
          </a:xfrm>
          <a:prstGeom prst="rect">
            <a:avLst/>
          </a:prstGeom>
          <a:noFill/>
        </p:spPr>
        <p:txBody>
          <a:bodyPr wrap="square" anchor="t" lIns="76200" rIns="76200" tIns="38100" bIns="38100">
            <a:noAutofit/>
          </a:bodyPr>
          <a:lstStyle/>
          <a:p>
            <a:pPr algn="l">
              <a:spcAft>
                <a:spcPts val="1400"/>
              </a:spcAft>
            </a:pPr>
            <a:r>
              <a:rPr sz="1800" b="1" i="0">
                <a:solidFill>
                  <a:srgbClr val="38BDF8"/>
                </a:solidFill>
                <a:latin typeface="Inter"/>
              </a:rPr>
              <a:t>The behaviour</a:t>
            </a:r>
          </a:p>
          <a:p>
            <a:pPr algn="l">
              <a:lnSpc>
                <a:spcPct val="115000"/>
              </a:lnSpc>
              <a:spcAft>
                <a:spcPts val="1200"/>
              </a:spcAft>
            </a:pPr>
            <a:r>
              <a:rPr sz="1500" b="0" i="0">
                <a:solidFill>
                  <a:srgbClr val="E6EDF3"/>
                </a:solidFill>
                <a:latin typeface="Inter"/>
              </a:rPr>
              <a:t>Documents can compile in </a:t>
            </a:r>
            <a:r>
              <a:rPr sz="1500" b="1" i="0">
                <a:solidFill>
                  <a:srgbClr val="E6EDF3"/>
                </a:solidFill>
                <a:latin typeface="Inter"/>
              </a:rPr>
              <a:t>several passes.</a:t>
            </a:r>
          </a:p>
          <a:p>
            <a:pPr algn="l">
              <a:lnSpc>
                <a:spcPct val="115000"/>
              </a:lnSpc>
              <a:spcAft>
                <a:spcPts val="1200"/>
              </a:spcAft>
            </a:pPr>
            <a:r>
              <a:rPr sz="1500" b="0" i="0">
                <a:solidFill>
                  <a:srgbClr val="E6EDF3"/>
                </a:solidFill>
                <a:latin typeface="Inter"/>
              </a:rPr>
              <a:t>Each pass writes information that later passes read back.</a:t>
            </a:r>
          </a:p>
          <a:p>
            <a:pPr algn="l">
              <a:lnSpc>
                <a:spcPct val="115000"/>
              </a:lnSpc>
            </a:pPr>
            <a:r>
              <a:rPr sz="1500" b="0" i="0">
                <a:solidFill>
                  <a:srgbClr val="E6EDF3"/>
                </a:solidFill>
                <a:latin typeface="Inter"/>
              </a:rPr>
              <a:t>So passes repeat until the state stops changing — and this behaviour is hard to see from the source.</a:t>
            </a:r>
          </a:p>
        </p:txBody>
      </p:sp>
      <p:sp>
        <p:nvSpPr>
          <p:cNvPr id="8" name="Rounded Rectangle 7"/>
          <p:cNvSpPr/>
          <p:nvPr/>
        </p:nvSpPr>
        <p:spPr>
          <a:xfrm>
            <a:off x="6903720" y="1874519"/>
            <a:ext cx="3566160" cy="77724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600" b="0" i="0">
                <a:solidFill>
                  <a:srgbClr val="E6EDF3"/>
                </a:solidFill>
                <a:latin typeface="Inter"/>
              </a:rPr>
              <a:t>Document</a:t>
            </a:r>
          </a:p>
        </p:txBody>
      </p:sp>
      <p:cxnSp>
        <p:nvCxnSpPr>
          <p:cNvPr id="9" name="Connector 8"/>
          <p:cNvCxnSpPr/>
          <p:nvPr/>
        </p:nvCxnSpPr>
        <p:spPr>
          <a:xfrm>
            <a:off x="8686800" y="2651760"/>
            <a:ext cx="0" cy="347472"/>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903720" y="2999232"/>
            <a:ext cx="3566160" cy="777240"/>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600" b="1" i="0">
                <a:solidFill>
                  <a:srgbClr val="38BDF8"/>
                </a:solidFill>
                <a:latin typeface="Inter"/>
              </a:rPr>
              <a:t>Compilation Pass</a:t>
            </a:r>
          </a:p>
        </p:txBody>
      </p:sp>
      <p:cxnSp>
        <p:nvCxnSpPr>
          <p:cNvPr id="11" name="Connector 10"/>
          <p:cNvCxnSpPr/>
          <p:nvPr/>
        </p:nvCxnSpPr>
        <p:spPr>
          <a:xfrm>
            <a:off x="8686800" y="3776472"/>
            <a:ext cx="0" cy="347472"/>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903720" y="4123944"/>
            <a:ext cx="3566160" cy="77724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600" b="0" i="0">
                <a:solidFill>
                  <a:srgbClr val="E6EDF3"/>
                </a:solidFill>
                <a:latin typeface="Inter"/>
              </a:rPr>
              <a:t>Generated Information</a:t>
            </a:r>
          </a:p>
        </p:txBody>
      </p:sp>
      <p:cxnSp>
        <p:nvCxnSpPr>
          <p:cNvPr id="13" name="Connector 12"/>
          <p:cNvCxnSpPr/>
          <p:nvPr/>
        </p:nvCxnSpPr>
        <p:spPr>
          <a:xfrm>
            <a:off x="8686800" y="4901183"/>
            <a:ext cx="0" cy="347473"/>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903720" y="5248656"/>
            <a:ext cx="3566160" cy="777240"/>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600" b="1" i="0">
                <a:solidFill>
                  <a:srgbClr val="38BDF8"/>
                </a:solidFill>
                <a:latin typeface="Inter"/>
              </a:rPr>
              <a:t>Next Pass</a:t>
            </a:r>
          </a:p>
        </p:txBody>
      </p:sp>
      <p:cxnSp>
        <p:nvCxnSpPr>
          <p:cNvPr id="15" name="Connector 14"/>
          <p:cNvCxnSpPr/>
          <p:nvPr/>
        </p:nvCxnSpPr>
        <p:spPr>
          <a:xfrm>
            <a:off x="10469880" y="5637276"/>
            <a:ext cx="502920" cy="0"/>
          </a:xfrm>
          <a:prstGeom prst="line">
            <a:avLst/>
          </a:prstGeom>
          <a:ln w="28575">
            <a:solidFill>
              <a:srgbClr val="38BD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0972800" y="3387851"/>
            <a:ext cx="0" cy="2249425"/>
          </a:xfrm>
          <a:prstGeom prst="line">
            <a:avLst/>
          </a:prstGeom>
          <a:ln w="28575">
            <a:solidFill>
              <a:srgbClr val="38BD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0469880" y="3387851"/>
            <a:ext cx="502920"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082528" y="4219955"/>
            <a:ext cx="1005840" cy="603504"/>
          </a:xfrm>
          <a:prstGeom prst="rect">
            <a:avLst/>
          </a:prstGeom>
          <a:noFill/>
        </p:spPr>
        <p:txBody>
          <a:bodyPr wrap="square" anchor="t" lIns="76200" rIns="76200" tIns="38100" bIns="38100">
            <a:noAutofit/>
          </a:bodyPr>
          <a:lstStyle/>
          <a:p>
            <a:pPr algn="l">
              <a:lnSpc>
                <a:spcPct val="100000"/>
              </a:lnSpc>
            </a:pPr>
            <a:r>
              <a:rPr sz="1100" b="0" i="0">
                <a:solidFill>
                  <a:srgbClr val="9BAFC6"/>
                </a:solidFill>
                <a:latin typeface="Inter"/>
              </a:rPr>
              <a:t>repeat</a:t>
            </a:r>
          </a:p>
          <a:p>
            <a:pPr algn="l">
              <a:lnSpc>
                <a:spcPct val="100000"/>
              </a:lnSpc>
            </a:pPr>
            <a:r>
              <a:rPr sz="1100" b="0" i="0">
                <a:solidFill>
                  <a:srgbClr val="9BAFC6"/>
                </a:solidFill>
                <a:latin typeface="Inter"/>
              </a:rPr>
              <a:t>until stable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420624"/>
            <a:ext cx="10972800" cy="292608"/>
          </a:xfrm>
          <a:prstGeom prst="rect">
            <a:avLst/>
          </a:prstGeom>
          <a:noFill/>
        </p:spPr>
        <p:txBody>
          <a:bodyPr wrap="square" anchor="t" lIns="76200" rIns="76200" tIns="38100" bIns="38100">
            <a:noAutofit/>
          </a:bodyPr>
          <a:lstStyle/>
          <a:p>
            <a:pPr algn="l"/>
            <a:r>
              <a:rPr sz="1100" b="1" i="0">
                <a:solidFill>
                  <a:srgbClr val="38BDF8"/>
                </a:solidFill>
                <a:latin typeface="Inter"/>
              </a:rPr>
              <a:t>OBJECTIVES &amp; SCOPE</a:t>
            </a:r>
          </a:p>
        </p:txBody>
      </p:sp>
      <p:sp>
        <p:nvSpPr>
          <p:cNvPr id="3" name="TextBox 2"/>
          <p:cNvSpPr txBox="1"/>
          <p:nvPr/>
        </p:nvSpPr>
        <p:spPr>
          <a:xfrm>
            <a:off x="621792" y="694944"/>
            <a:ext cx="11155680" cy="658368"/>
          </a:xfrm>
          <a:prstGeom prst="rect">
            <a:avLst/>
          </a:prstGeom>
          <a:noFill/>
        </p:spPr>
        <p:txBody>
          <a:bodyPr wrap="square" anchor="t" lIns="76200" rIns="76200" tIns="38100" bIns="38100">
            <a:noAutofit/>
          </a:bodyPr>
          <a:lstStyle/>
          <a:p>
            <a:pPr algn="l"/>
            <a:r>
              <a:rPr sz="3000" b="1" i="0">
                <a:solidFill>
                  <a:srgbClr val="E6EDF3"/>
                </a:solidFill>
                <a:latin typeface="Inter"/>
              </a:rPr>
              <a:t>What the project sets out to do</a:t>
            </a:r>
          </a:p>
        </p:txBody>
      </p:sp>
      <p:sp>
        <p:nvSpPr>
          <p:cNvPr id="4" name="Rectangle 3"/>
          <p:cNvSpPr/>
          <p:nvPr/>
        </p:nvSpPr>
        <p:spPr>
          <a:xfrm>
            <a:off x="640080" y="1389888"/>
            <a:ext cx="1280160" cy="45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19088"/>
            <a:ext cx="7315200" cy="274320"/>
          </a:xfrm>
          <a:prstGeom prst="rect">
            <a:avLst/>
          </a:prstGeom>
          <a:noFill/>
        </p:spPr>
        <p:txBody>
          <a:bodyPr wrap="square" anchor="t" lIns="76200" rIns="76200" tIns="38100" bIns="38100">
            <a:noAutofit/>
          </a:bodyPr>
          <a:lstStyle/>
          <a:p>
            <a:pPr algn="l"/>
            <a:r>
              <a:rPr sz="900" b="0" i="0">
                <a:solidFill>
                  <a:srgbClr val="9BAFC6"/>
                </a:solidFill>
                <a:latin typeface="Inter"/>
              </a:rPr>
              <a:t>AuxFlow · Static Analysis for Multi-Pass Document Compilation</a:t>
            </a:r>
          </a:p>
        </p:txBody>
      </p:sp>
      <p:sp>
        <p:nvSpPr>
          <p:cNvPr id="6" name="TextBox 5"/>
          <p:cNvSpPr txBox="1"/>
          <p:nvPr/>
        </p:nvSpPr>
        <p:spPr>
          <a:xfrm>
            <a:off x="10058400" y="6419088"/>
            <a:ext cx="1673352" cy="274320"/>
          </a:xfrm>
          <a:prstGeom prst="rect">
            <a:avLst/>
          </a:prstGeom>
          <a:noFill/>
        </p:spPr>
        <p:txBody>
          <a:bodyPr wrap="square" anchor="t" lIns="76200" rIns="76200" tIns="38100" bIns="38100">
            <a:noAutofit/>
          </a:bodyPr>
          <a:lstStyle/>
          <a:p>
            <a:pPr algn="r"/>
            <a:r>
              <a:rPr sz="900" b="0" i="0">
                <a:solidFill>
                  <a:srgbClr val="9BAFC6"/>
                </a:solidFill>
                <a:latin typeface="Inter"/>
              </a:rPr>
              <a:t>03 / 08</a:t>
            </a:r>
          </a:p>
        </p:txBody>
      </p:sp>
      <p:sp>
        <p:nvSpPr>
          <p:cNvPr id="7" name="Rounded Rectangle 6"/>
          <p:cNvSpPr/>
          <p:nvPr/>
        </p:nvSpPr>
        <p:spPr>
          <a:xfrm>
            <a:off x="640080" y="1783080"/>
            <a:ext cx="6537960" cy="4343400"/>
          </a:xfrm>
          <a:prstGeom prst="roundRect">
            <a:avLst>
              <a:gd name="adj" fmla="val 5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84248"/>
            <a:ext cx="6035040" cy="365760"/>
          </a:xfrm>
          <a:prstGeom prst="rect">
            <a:avLst/>
          </a:prstGeom>
          <a:noFill/>
        </p:spPr>
        <p:txBody>
          <a:bodyPr wrap="square" anchor="t" lIns="76200" rIns="76200" tIns="38100" bIns="38100">
            <a:noAutofit/>
          </a:bodyPr>
          <a:lstStyle/>
          <a:p>
            <a:pPr algn="l"/>
            <a:r>
              <a:rPr sz="1800" b="1" i="0">
                <a:solidFill>
                  <a:srgbClr val="38BDF8"/>
                </a:solidFill>
                <a:latin typeface="Inter"/>
              </a:rPr>
              <a:t>Objectives</a:t>
            </a:r>
          </a:p>
        </p:txBody>
      </p:sp>
      <p:sp>
        <p:nvSpPr>
          <p:cNvPr id="9" name="TextBox 8"/>
          <p:cNvSpPr txBox="1"/>
          <p:nvPr/>
        </p:nvSpPr>
        <p:spPr>
          <a:xfrm>
            <a:off x="896112" y="2560320"/>
            <a:ext cx="5989320" cy="3383280"/>
          </a:xfrm>
          <a:prstGeom prst="rect">
            <a:avLst/>
          </a:prstGeom>
          <a:noFill/>
        </p:spPr>
        <p:txBody>
          <a:bodyPr wrap="square" anchor="t" lIns="76200" rIns="76200" tIns="38100" bIns="38100">
            <a:noAutofit/>
          </a:bodyPr>
          <a:lstStyle/>
          <a:p>
            <a:pPr algn="l">
              <a:lnSpc>
                <a:spcPct val="110000"/>
              </a:lnSpc>
              <a:spcAft>
                <a:spcPts val="1400"/>
              </a:spcAft>
            </a:pPr>
            <a:r>
              <a:rPr sz="1500" b="1" i="0">
                <a:solidFill>
                  <a:srgbClr val="38BDF8"/>
                </a:solidFill>
                <a:latin typeface="Inter"/>
              </a:rPr>
              <a:t>✓   </a:t>
            </a:r>
            <a:r>
              <a:rPr sz="1500" b="0" i="0">
                <a:solidFill>
                  <a:srgbClr val="E6EDF3"/>
                </a:solidFill>
                <a:latin typeface="Inter"/>
              </a:rPr>
              <a:t>Build a compiler pipeline for a restricted document subset.</a:t>
            </a:r>
          </a:p>
          <a:p>
            <a:pPr algn="l">
              <a:lnSpc>
                <a:spcPct val="110000"/>
              </a:lnSpc>
              <a:spcAft>
                <a:spcPts val="1400"/>
              </a:spcAft>
            </a:pPr>
            <a:r>
              <a:rPr sz="1500" b="1" i="0">
                <a:solidFill>
                  <a:srgbClr val="38BDF8"/>
                </a:solidFill>
                <a:latin typeface="Inter"/>
              </a:rPr>
              <a:t>✓   </a:t>
            </a:r>
            <a:r>
              <a:rPr sz="1500" b="0" i="0">
                <a:solidFill>
                  <a:srgbClr val="E6EDF3"/>
                </a:solidFill>
                <a:latin typeface="Inter"/>
              </a:rPr>
              <a:t>Extract meaningful cross-reference dependencies.</a:t>
            </a:r>
          </a:p>
          <a:p>
            <a:pPr algn="l">
              <a:lnSpc>
                <a:spcPct val="110000"/>
              </a:lnSpc>
              <a:spcAft>
                <a:spcPts val="1400"/>
              </a:spcAft>
            </a:pPr>
            <a:r>
              <a:rPr sz="1500" b="1" i="0">
                <a:solidFill>
                  <a:srgbClr val="38BDF8"/>
                </a:solidFill>
                <a:latin typeface="Inter"/>
              </a:rPr>
              <a:t>✓   </a:t>
            </a:r>
            <a:r>
              <a:rPr sz="1500" b="0" i="0">
                <a:solidFill>
                  <a:srgbClr val="E6EDF3"/>
                </a:solidFill>
                <a:latin typeface="Inter"/>
              </a:rPr>
              <a:t>Represent them as an intermediate dependency graph.</a:t>
            </a:r>
          </a:p>
          <a:p>
            <a:pPr algn="l">
              <a:lnSpc>
                <a:spcPct val="110000"/>
              </a:lnSpc>
              <a:spcAft>
                <a:spcPts val="1400"/>
              </a:spcAft>
            </a:pPr>
            <a:r>
              <a:rPr sz="1500" b="1" i="0">
                <a:solidFill>
                  <a:srgbClr val="38BDF8"/>
                </a:solidFill>
                <a:latin typeface="Inter"/>
              </a:rPr>
              <a:t>✓   </a:t>
            </a:r>
            <a:r>
              <a:rPr sz="1500" b="0" i="0">
                <a:solidFill>
                  <a:srgbClr val="E6EDF3"/>
                </a:solidFill>
                <a:latin typeface="Inter"/>
              </a:rPr>
              <a:t>Perform static analysis over that representation.</a:t>
            </a:r>
          </a:p>
          <a:p>
            <a:pPr algn="l">
              <a:lnSpc>
                <a:spcPct val="110000"/>
              </a:lnSpc>
              <a:spcAft>
                <a:spcPts val="1400"/>
              </a:spcAft>
            </a:pPr>
            <a:r>
              <a:rPr sz="1500" b="1" i="0">
                <a:solidFill>
                  <a:srgbClr val="38BDF8"/>
                </a:solidFill>
                <a:latin typeface="Inter"/>
              </a:rPr>
              <a:t>✓   </a:t>
            </a:r>
            <a:r>
              <a:rPr sz="1500" b="0" i="0">
                <a:solidFill>
                  <a:srgbClr val="E6EDF3"/>
                </a:solidFill>
                <a:latin typeface="Inter"/>
              </a:rPr>
              <a:t>Generate understandable, source-located reports.</a:t>
            </a:r>
          </a:p>
        </p:txBody>
      </p:sp>
      <p:sp>
        <p:nvSpPr>
          <p:cNvPr id="10" name="Rounded Rectangle 9"/>
          <p:cNvSpPr/>
          <p:nvPr/>
        </p:nvSpPr>
        <p:spPr>
          <a:xfrm>
            <a:off x="7498080" y="1783080"/>
            <a:ext cx="4053535" cy="4343400"/>
          </a:xfrm>
          <a:prstGeom prst="roundRect">
            <a:avLst>
              <a:gd name="adj" fmla="val 5000"/>
            </a:avLst>
          </a:prstGeom>
          <a:solidFill>
            <a:srgbClr val="1B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54112" y="1984248"/>
            <a:ext cx="3596335" cy="365760"/>
          </a:xfrm>
          <a:prstGeom prst="rect">
            <a:avLst/>
          </a:prstGeom>
          <a:noFill/>
        </p:spPr>
        <p:txBody>
          <a:bodyPr wrap="square" anchor="t" lIns="76200" rIns="76200" tIns="38100" bIns="38100">
            <a:noAutofit/>
          </a:bodyPr>
          <a:lstStyle/>
          <a:p>
            <a:pPr algn="l"/>
            <a:r>
              <a:rPr sz="1800" b="1" i="0">
                <a:solidFill>
                  <a:srgbClr val="38BDF8"/>
                </a:solidFill>
                <a:latin typeface="Inter"/>
              </a:rPr>
              <a:t>Scope</a:t>
            </a:r>
          </a:p>
        </p:txBody>
      </p:sp>
      <p:sp>
        <p:nvSpPr>
          <p:cNvPr id="12" name="TextBox 11"/>
          <p:cNvSpPr txBox="1"/>
          <p:nvPr/>
        </p:nvSpPr>
        <p:spPr>
          <a:xfrm>
            <a:off x="7754112" y="2560320"/>
            <a:ext cx="3596335" cy="2103120"/>
          </a:xfrm>
          <a:prstGeom prst="rect">
            <a:avLst/>
          </a:prstGeom>
          <a:noFill/>
        </p:spPr>
        <p:txBody>
          <a:bodyPr wrap="square" anchor="t" lIns="76200" rIns="76200" tIns="38100" bIns="38100">
            <a:noAutofit/>
          </a:bodyPr>
          <a:lstStyle/>
          <a:p>
            <a:pPr algn="l">
              <a:lnSpc>
                <a:spcPct val="110000"/>
              </a:lnSpc>
              <a:spcAft>
                <a:spcPts val="1400"/>
              </a:spcAft>
            </a:pPr>
            <a:r>
              <a:rPr sz="1500" b="1" i="0">
                <a:solidFill>
                  <a:srgbClr val="38BDF8"/>
                </a:solidFill>
                <a:latin typeface="Inter"/>
              </a:rPr>
              <a:t>•   </a:t>
            </a:r>
            <a:r>
              <a:rPr sz="1500" b="0" i="0">
                <a:solidFill>
                  <a:srgbClr val="E6EDF3"/>
                </a:solidFill>
                <a:latin typeface="Inter"/>
              </a:rPr>
              <a:t>Restricted set of document features.</a:t>
            </a:r>
          </a:p>
          <a:p>
            <a:pPr algn="l">
              <a:lnSpc>
                <a:spcPct val="110000"/>
              </a:lnSpc>
              <a:spcAft>
                <a:spcPts val="1400"/>
              </a:spcAft>
            </a:pPr>
            <a:r>
              <a:rPr sz="1500" b="1" i="0">
                <a:solidFill>
                  <a:srgbClr val="38BDF8"/>
                </a:solidFill>
                <a:latin typeface="Inter"/>
              </a:rPr>
              <a:t>•   </a:t>
            </a:r>
            <a:r>
              <a:rPr sz="1500" b="0" i="0">
                <a:solidFill>
                  <a:srgbClr val="E6EDF3"/>
                </a:solidFill>
                <a:latin typeface="Inter"/>
              </a:rPr>
              <a:t>Dependency-focused analysis only.</a:t>
            </a:r>
          </a:p>
          <a:p>
            <a:pPr algn="l">
              <a:lnSpc>
                <a:spcPct val="110000"/>
              </a:lnSpc>
              <a:spcAft>
                <a:spcPts val="1400"/>
              </a:spcAft>
            </a:pPr>
            <a:r>
              <a:rPr sz="1500" b="1" i="0">
                <a:solidFill>
                  <a:srgbClr val="38BDF8"/>
                </a:solidFill>
                <a:latin typeface="Inter"/>
              </a:rPr>
              <a:t>•   </a:t>
            </a:r>
            <a:r>
              <a:rPr sz="1500" b="0" i="0">
                <a:solidFill>
                  <a:srgbClr val="E6EDF3"/>
                </a:solidFill>
                <a:latin typeface="Inter"/>
              </a:rPr>
              <a:t>Conservative results — flag or defer, never guess.</a:t>
            </a:r>
          </a:p>
        </p:txBody>
      </p:sp>
      <p:sp>
        <p:nvSpPr>
          <p:cNvPr id="13" name="Rounded Rectangle 12"/>
          <p:cNvSpPr/>
          <p:nvPr/>
        </p:nvSpPr>
        <p:spPr>
          <a:xfrm>
            <a:off x="7754112" y="5074920"/>
            <a:ext cx="3541471" cy="822960"/>
          </a:xfrm>
          <a:prstGeom prst="roundRect">
            <a:avLst>
              <a:gd name="adj" fmla="val 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l">
              <a:lnSpc>
                <a:spcPct val="110000"/>
              </a:lnSpc>
            </a:pPr>
            <a:r>
              <a:rPr sz="1200" b="0" i="0">
                <a:solidFill>
                  <a:srgbClr val="9BAFC6"/>
                </a:solidFill>
                <a:latin typeface="Inter"/>
              </a:rPr>
              <a:t>Anything outside the subset is marked </a:t>
            </a:r>
            <a:r>
              <a:rPr sz="1200" b="1" i="0">
                <a:solidFill>
                  <a:srgbClr val="38BDF8"/>
                </a:solidFill>
                <a:latin typeface="Inter"/>
              </a:rPr>
              <a:t>opaque</a:t>
            </a:r>
            <a:r>
              <a:rPr sz="1200" b="0" i="0">
                <a:solidFill>
                  <a:srgbClr val="9BAFC6"/>
                </a:solidFill>
                <a:latin typeface="Inter"/>
              </a:rPr>
              <a:t> and degrades safely.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420624"/>
            <a:ext cx="10972800" cy="292608"/>
          </a:xfrm>
          <a:prstGeom prst="rect">
            <a:avLst/>
          </a:prstGeom>
          <a:noFill/>
        </p:spPr>
        <p:txBody>
          <a:bodyPr wrap="square" anchor="t" lIns="76200" rIns="76200" tIns="38100" bIns="38100">
            <a:noAutofit/>
          </a:bodyPr>
          <a:lstStyle/>
          <a:p>
            <a:pPr algn="l"/>
            <a:r>
              <a:rPr sz="1100" b="1" i="0">
                <a:solidFill>
                  <a:srgbClr val="38BDF8"/>
                </a:solidFill>
                <a:latin typeface="Inter"/>
              </a:rPr>
              <a:t>WHY COMPILER DESIGN</a:t>
            </a:r>
          </a:p>
        </p:txBody>
      </p:sp>
      <p:sp>
        <p:nvSpPr>
          <p:cNvPr id="3" name="TextBox 2"/>
          <p:cNvSpPr txBox="1"/>
          <p:nvPr/>
        </p:nvSpPr>
        <p:spPr>
          <a:xfrm>
            <a:off x="621792" y="694944"/>
            <a:ext cx="11155680" cy="658368"/>
          </a:xfrm>
          <a:prstGeom prst="rect">
            <a:avLst/>
          </a:prstGeom>
          <a:noFill/>
        </p:spPr>
        <p:txBody>
          <a:bodyPr wrap="square" anchor="t" lIns="76200" rIns="76200" tIns="38100" bIns="38100">
            <a:noAutofit/>
          </a:bodyPr>
          <a:lstStyle/>
          <a:p>
            <a:pPr algn="l"/>
            <a:r>
              <a:rPr sz="3000" b="1" i="0">
                <a:solidFill>
                  <a:srgbClr val="E6EDF3"/>
                </a:solidFill>
                <a:latin typeface="Inter"/>
              </a:rPr>
              <a:t>Every stage is a standard compiler concept</a:t>
            </a:r>
          </a:p>
        </p:txBody>
      </p:sp>
      <p:sp>
        <p:nvSpPr>
          <p:cNvPr id="4" name="Rectangle 3"/>
          <p:cNvSpPr/>
          <p:nvPr/>
        </p:nvSpPr>
        <p:spPr>
          <a:xfrm>
            <a:off x="640080" y="1389888"/>
            <a:ext cx="1280160" cy="45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19088"/>
            <a:ext cx="7315200" cy="274320"/>
          </a:xfrm>
          <a:prstGeom prst="rect">
            <a:avLst/>
          </a:prstGeom>
          <a:noFill/>
        </p:spPr>
        <p:txBody>
          <a:bodyPr wrap="square" anchor="t" lIns="76200" rIns="76200" tIns="38100" bIns="38100">
            <a:noAutofit/>
          </a:bodyPr>
          <a:lstStyle/>
          <a:p>
            <a:pPr algn="l"/>
            <a:r>
              <a:rPr sz="900" b="0" i="0">
                <a:solidFill>
                  <a:srgbClr val="9BAFC6"/>
                </a:solidFill>
                <a:latin typeface="Inter"/>
              </a:rPr>
              <a:t>AuxFlow · Static Analysis for Multi-Pass Document Compilation</a:t>
            </a:r>
          </a:p>
        </p:txBody>
      </p:sp>
      <p:sp>
        <p:nvSpPr>
          <p:cNvPr id="6" name="TextBox 5"/>
          <p:cNvSpPr txBox="1"/>
          <p:nvPr/>
        </p:nvSpPr>
        <p:spPr>
          <a:xfrm>
            <a:off x="10058400" y="6419088"/>
            <a:ext cx="1673352" cy="274320"/>
          </a:xfrm>
          <a:prstGeom prst="rect">
            <a:avLst/>
          </a:prstGeom>
          <a:noFill/>
        </p:spPr>
        <p:txBody>
          <a:bodyPr wrap="square" anchor="t" lIns="76200" rIns="76200" tIns="38100" bIns="38100">
            <a:noAutofit/>
          </a:bodyPr>
          <a:lstStyle/>
          <a:p>
            <a:pPr algn="r"/>
            <a:r>
              <a:rPr sz="900" b="0" i="0">
                <a:solidFill>
                  <a:srgbClr val="9BAFC6"/>
                </a:solidFill>
                <a:latin typeface="Inter"/>
              </a:rPr>
              <a:t>04 / 08</a:t>
            </a:r>
          </a:p>
        </p:txBody>
      </p:sp>
      <p:graphicFrame>
        <p:nvGraphicFramePr>
          <p:cNvPr id="7" name="Table 6"/>
          <p:cNvGraphicFramePr>
            <a:graphicFrameLocks noGrp="1"/>
          </p:cNvGraphicFramePr>
          <p:nvPr/>
        </p:nvGraphicFramePr>
        <p:xfrm>
          <a:off x="640080" y="1783080"/>
          <a:ext cx="10911534" cy="4480560"/>
        </p:xfrm>
        <a:graphic>
          <a:graphicData uri="http://schemas.openxmlformats.org/drawingml/2006/table">
            <a:tbl>
              <a:tblPr>
                <a:tableStyleId>{5C22544A-7EE6-4342-B048-85BDC9FD1C3A}</a:tableStyleId>
              </a:tblPr>
              <a:tblGrid>
                <a:gridCol w="3977639"/>
                <a:gridCol w="6933895"/>
              </a:tblGrid>
              <a:tr h="640080">
                <a:tc>
                  <a:txBody>
                    <a:bodyPr wrap="square"/>
                    <a:lstStyle/>
                    <a:p>
                      <a:pPr algn="l"/>
                      <a:r>
                        <a:rPr sz="1500" b="1">
                          <a:solidFill>
                            <a:srgbClr val="E6EDF3"/>
                          </a:solidFill>
                          <a:latin typeface="Inter"/>
                        </a:rPr>
                        <a:t>Compiler Phase</a:t>
                      </a:r>
                    </a:p>
                  </a:txBody>
                  <a:tcPr marL="201168" marR="91440" marT="18288" marB="18288" anchor="ctr">
                    <a:solidFill>
                      <a:srgbClr val="125A78"/>
                    </a:solidFill>
                  </a:tcPr>
                </a:tc>
                <a:tc>
                  <a:txBody>
                    <a:bodyPr wrap="square"/>
                    <a:lstStyle/>
                    <a:p>
                      <a:pPr algn="l"/>
                      <a:r>
                        <a:rPr sz="1500" b="1">
                          <a:solidFill>
                            <a:srgbClr val="E6EDF3"/>
                          </a:solidFill>
                          <a:latin typeface="Inter"/>
                        </a:rPr>
                        <a:t>AuxFlow Component</a:t>
                      </a:r>
                    </a:p>
                  </a:txBody>
                  <a:tcPr marL="201168" marR="91440" marT="18288" marB="18288" anchor="ctr">
                    <a:solidFill>
                      <a:srgbClr val="125A78"/>
                    </a:solidFill>
                  </a:tcPr>
                </a:tc>
              </a:tr>
              <a:tr h="640080">
                <a:tc>
                  <a:txBody>
                    <a:bodyPr wrap="square"/>
                    <a:lstStyle/>
                    <a:p>
                      <a:pPr algn="l"/>
                      <a:r>
                        <a:rPr sz="1500" b="1">
                          <a:solidFill>
                            <a:srgbClr val="E6EDF3"/>
                          </a:solidFill>
                          <a:latin typeface="Inter"/>
                        </a:rPr>
                        <a:t>Lexical Analysis</a:t>
                      </a:r>
                    </a:p>
                  </a:txBody>
                  <a:tcPr marL="201168" marR="91440" marT="18288" marB="18288" anchor="ctr">
                    <a:solidFill>
                      <a:srgbClr val="152A3E"/>
                    </a:solidFill>
                  </a:tcPr>
                </a:tc>
                <a:tc>
                  <a:txBody>
                    <a:bodyPr wrap="square"/>
                    <a:lstStyle/>
                    <a:p>
                      <a:pPr algn="l"/>
                      <a:r>
                        <a:rPr sz="1500" b="0">
                          <a:solidFill>
                            <a:srgbClr val="9BAFC6"/>
                          </a:solidFill>
                          <a:latin typeface="Inter"/>
                        </a:rPr>
                        <a:t>Token extraction (category-code scanner)</a:t>
                      </a:r>
                    </a:p>
                  </a:txBody>
                  <a:tcPr marL="201168" marR="91440" marT="18288" marB="18288" anchor="ctr">
                    <a:solidFill>
                      <a:srgbClr val="152A3E"/>
                    </a:solidFill>
                  </a:tcPr>
                </a:tc>
              </a:tr>
              <a:tr h="640080">
                <a:tc>
                  <a:txBody>
                    <a:bodyPr wrap="square"/>
                    <a:lstStyle/>
                    <a:p>
                      <a:pPr algn="l"/>
                      <a:r>
                        <a:rPr sz="1500" b="1">
                          <a:solidFill>
                            <a:srgbClr val="E6EDF3"/>
                          </a:solidFill>
                          <a:latin typeface="Inter"/>
                        </a:rPr>
                        <a:t>Syntax Analysis</a:t>
                      </a:r>
                    </a:p>
                  </a:txBody>
                  <a:tcPr marL="201168" marR="91440" marT="18288" marB="18288" anchor="ctr">
                    <a:solidFill>
                      <a:srgbClr val="1B3A57"/>
                    </a:solidFill>
                  </a:tcPr>
                </a:tc>
                <a:tc>
                  <a:txBody>
                    <a:bodyPr wrap="square"/>
                    <a:lstStyle/>
                    <a:p>
                      <a:pPr algn="l"/>
                      <a:r>
                        <a:rPr sz="1500" b="0">
                          <a:solidFill>
                            <a:srgbClr val="9BAFC6"/>
                          </a:solidFill>
                          <a:latin typeface="Inter"/>
                        </a:rPr>
                        <a:t>AST generation (recursive-descent parser)</a:t>
                      </a:r>
                    </a:p>
                  </a:txBody>
                  <a:tcPr marL="201168" marR="91440" marT="18288" marB="18288" anchor="ctr">
                    <a:solidFill>
                      <a:srgbClr val="1B3A57"/>
                    </a:solidFill>
                  </a:tcPr>
                </a:tc>
              </a:tr>
              <a:tr h="640080">
                <a:tc>
                  <a:txBody>
                    <a:bodyPr wrap="square"/>
                    <a:lstStyle/>
                    <a:p>
                      <a:pPr algn="l"/>
                      <a:r>
                        <a:rPr sz="1500" b="1">
                          <a:solidFill>
                            <a:srgbClr val="E6EDF3"/>
                          </a:solidFill>
                          <a:latin typeface="Inter"/>
                        </a:rPr>
                        <a:t>Semantic Analysis</a:t>
                      </a:r>
                    </a:p>
                  </a:txBody>
                  <a:tcPr marL="201168" marR="91440" marT="18288" marB="18288" anchor="ctr">
                    <a:solidFill>
                      <a:srgbClr val="152A3E"/>
                    </a:solidFill>
                  </a:tcPr>
                </a:tc>
                <a:tc>
                  <a:txBody>
                    <a:bodyPr wrap="square"/>
                    <a:lstStyle/>
                    <a:p>
                      <a:pPr algn="l"/>
                      <a:r>
                        <a:rPr sz="1500" b="0">
                          <a:solidFill>
                            <a:srgbClr val="9BAFC6"/>
                          </a:solidFill>
                          <a:latin typeface="Inter"/>
                        </a:rPr>
                        <a:t>Dependency extraction (symbol tables)</a:t>
                      </a:r>
                    </a:p>
                  </a:txBody>
                  <a:tcPr marL="201168" marR="91440" marT="18288" marB="18288" anchor="ctr">
                    <a:solidFill>
                      <a:srgbClr val="152A3E"/>
                    </a:solidFill>
                  </a:tcPr>
                </a:tc>
              </a:tr>
              <a:tr h="640080">
                <a:tc>
                  <a:txBody>
                    <a:bodyPr wrap="square"/>
                    <a:lstStyle/>
                    <a:p>
                      <a:pPr algn="l"/>
                      <a:r>
                        <a:rPr sz="1500" b="1">
                          <a:solidFill>
                            <a:srgbClr val="E6EDF3"/>
                          </a:solidFill>
                          <a:latin typeface="Inter"/>
                        </a:rPr>
                        <a:t>Intermediate Representation</a:t>
                      </a:r>
                    </a:p>
                  </a:txBody>
                  <a:tcPr marL="201168" marR="91440" marT="18288" marB="18288" anchor="ctr">
                    <a:solidFill>
                      <a:srgbClr val="1B3A57"/>
                    </a:solidFill>
                  </a:tcPr>
                </a:tc>
                <a:tc>
                  <a:txBody>
                    <a:bodyPr wrap="square"/>
                    <a:lstStyle/>
                    <a:p>
                      <a:pPr algn="l"/>
                      <a:r>
                        <a:rPr sz="1500" b="0">
                          <a:solidFill>
                            <a:srgbClr val="9BAFC6"/>
                          </a:solidFill>
                          <a:latin typeface="Inter"/>
                        </a:rPr>
                        <a:t>Dependency graph (Auxiliary Reference Graph)</a:t>
                      </a:r>
                    </a:p>
                  </a:txBody>
                  <a:tcPr marL="201168" marR="91440" marT="18288" marB="18288" anchor="ctr">
                    <a:solidFill>
                      <a:srgbClr val="1B3A57"/>
                    </a:solidFill>
                  </a:tcPr>
                </a:tc>
              </a:tr>
              <a:tr h="640080">
                <a:tc>
                  <a:txBody>
                    <a:bodyPr wrap="square"/>
                    <a:lstStyle/>
                    <a:p>
                      <a:pPr algn="l"/>
                      <a:r>
                        <a:rPr sz="1500" b="1">
                          <a:solidFill>
                            <a:srgbClr val="E6EDF3"/>
                          </a:solidFill>
                          <a:latin typeface="Inter"/>
                        </a:rPr>
                        <a:t>Static Analysis</a:t>
                      </a:r>
                    </a:p>
                  </a:txBody>
                  <a:tcPr marL="201168" marR="91440" marT="18288" marB="18288" anchor="ctr">
                    <a:solidFill>
                      <a:srgbClr val="152A3E"/>
                    </a:solidFill>
                  </a:tcPr>
                </a:tc>
                <a:tc>
                  <a:txBody>
                    <a:bodyPr wrap="square"/>
                    <a:lstStyle/>
                    <a:p>
                      <a:pPr algn="l"/>
                      <a:r>
                        <a:rPr sz="1500" b="0">
                          <a:solidFill>
                            <a:srgbClr val="9BAFC6"/>
                          </a:solidFill>
                          <a:latin typeface="Inter"/>
                        </a:rPr>
                        <a:t>Graph evaluation (dataflow / fixpoint)</a:t>
                      </a:r>
                    </a:p>
                  </a:txBody>
                  <a:tcPr marL="201168" marR="91440" marT="18288" marB="18288" anchor="ctr">
                    <a:solidFill>
                      <a:srgbClr val="152A3E"/>
                    </a:solidFill>
                  </a:tcPr>
                </a:tc>
              </a:tr>
              <a:tr h="640080">
                <a:tc>
                  <a:txBody>
                    <a:bodyPr wrap="square"/>
                    <a:lstStyle/>
                    <a:p>
                      <a:pPr algn="l"/>
                      <a:r>
                        <a:rPr sz="1500" b="1">
                          <a:solidFill>
                            <a:srgbClr val="E6EDF3"/>
                          </a:solidFill>
                          <a:latin typeface="Inter"/>
                        </a:rPr>
                        <a:t>Graph Algorithms</a:t>
                      </a:r>
                    </a:p>
                  </a:txBody>
                  <a:tcPr marL="201168" marR="91440" marT="18288" marB="18288" anchor="ctr">
                    <a:solidFill>
                      <a:srgbClr val="1B3A57"/>
                    </a:solidFill>
                  </a:tcPr>
                </a:tc>
                <a:tc>
                  <a:txBody>
                    <a:bodyPr wrap="square"/>
                    <a:lstStyle/>
                    <a:p>
                      <a:pPr algn="l"/>
                      <a:r>
                        <a:rPr sz="1500" b="0">
                          <a:solidFill>
                            <a:srgbClr val="9BAFC6"/>
                          </a:solidFill>
                          <a:latin typeface="Inter"/>
                        </a:rPr>
                        <a:t>Cycle detection (Tarjan SCC)</a:t>
                      </a:r>
                    </a:p>
                  </a:txBody>
                  <a:tcPr marL="201168" marR="91440" marT="18288" marB="18288" anchor="ctr">
                    <a:solidFill>
                      <a:srgbClr val="1B3A5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420624"/>
            <a:ext cx="10972800" cy="292608"/>
          </a:xfrm>
          <a:prstGeom prst="rect">
            <a:avLst/>
          </a:prstGeom>
          <a:noFill/>
        </p:spPr>
        <p:txBody>
          <a:bodyPr wrap="square" anchor="t" lIns="76200" rIns="76200" tIns="38100" bIns="38100">
            <a:noAutofit/>
          </a:bodyPr>
          <a:lstStyle/>
          <a:p>
            <a:pPr algn="l"/>
            <a:r>
              <a:rPr sz="1100" b="1" i="0">
                <a:solidFill>
                  <a:srgbClr val="38BDF8"/>
                </a:solidFill>
                <a:latin typeface="Inter"/>
              </a:rPr>
              <a:t>PROPOSED ARCHITECTURE</a:t>
            </a:r>
          </a:p>
        </p:txBody>
      </p:sp>
      <p:sp>
        <p:nvSpPr>
          <p:cNvPr id="3" name="TextBox 2"/>
          <p:cNvSpPr txBox="1"/>
          <p:nvPr/>
        </p:nvSpPr>
        <p:spPr>
          <a:xfrm>
            <a:off x="621792" y="694944"/>
            <a:ext cx="11155680" cy="658368"/>
          </a:xfrm>
          <a:prstGeom prst="rect">
            <a:avLst/>
          </a:prstGeom>
          <a:noFill/>
        </p:spPr>
        <p:txBody>
          <a:bodyPr wrap="square" anchor="t" lIns="76200" rIns="76200" tIns="38100" bIns="38100">
            <a:noAutofit/>
          </a:bodyPr>
          <a:lstStyle/>
          <a:p>
            <a:pPr algn="l"/>
            <a:r>
              <a:rPr sz="3000" b="1" i="0">
                <a:solidFill>
                  <a:srgbClr val="E6EDF3"/>
                </a:solidFill>
                <a:latin typeface="Inter"/>
              </a:rPr>
              <a:t>A single-direction compiler pipeline</a:t>
            </a:r>
          </a:p>
        </p:txBody>
      </p:sp>
      <p:sp>
        <p:nvSpPr>
          <p:cNvPr id="4" name="Rectangle 3"/>
          <p:cNvSpPr/>
          <p:nvPr/>
        </p:nvSpPr>
        <p:spPr>
          <a:xfrm>
            <a:off x="640080" y="1389888"/>
            <a:ext cx="1280160" cy="45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19088"/>
            <a:ext cx="7315200" cy="274320"/>
          </a:xfrm>
          <a:prstGeom prst="rect">
            <a:avLst/>
          </a:prstGeom>
          <a:noFill/>
        </p:spPr>
        <p:txBody>
          <a:bodyPr wrap="square" anchor="t" lIns="76200" rIns="76200" tIns="38100" bIns="38100">
            <a:noAutofit/>
          </a:bodyPr>
          <a:lstStyle/>
          <a:p>
            <a:pPr algn="l"/>
            <a:r>
              <a:rPr sz="900" b="0" i="0">
                <a:solidFill>
                  <a:srgbClr val="9BAFC6"/>
                </a:solidFill>
                <a:latin typeface="Inter"/>
              </a:rPr>
              <a:t>AuxFlow · Static Analysis for Multi-Pass Document Compilation</a:t>
            </a:r>
          </a:p>
        </p:txBody>
      </p:sp>
      <p:sp>
        <p:nvSpPr>
          <p:cNvPr id="6" name="TextBox 5"/>
          <p:cNvSpPr txBox="1"/>
          <p:nvPr/>
        </p:nvSpPr>
        <p:spPr>
          <a:xfrm>
            <a:off x="10058400" y="6419088"/>
            <a:ext cx="1673352" cy="274320"/>
          </a:xfrm>
          <a:prstGeom prst="rect">
            <a:avLst/>
          </a:prstGeom>
          <a:noFill/>
        </p:spPr>
        <p:txBody>
          <a:bodyPr wrap="square" anchor="t" lIns="76200" rIns="76200" tIns="38100" bIns="38100">
            <a:noAutofit/>
          </a:bodyPr>
          <a:lstStyle/>
          <a:p>
            <a:pPr algn="r"/>
            <a:r>
              <a:rPr sz="900" b="0" i="0">
                <a:solidFill>
                  <a:srgbClr val="9BAFC6"/>
                </a:solidFill>
                <a:latin typeface="Inter"/>
              </a:rPr>
              <a:t>05 / 08</a:t>
            </a:r>
          </a:p>
        </p:txBody>
      </p:sp>
      <p:sp>
        <p:nvSpPr>
          <p:cNvPr id="7" name="Rounded Rectangle 6"/>
          <p:cNvSpPr/>
          <p:nvPr/>
        </p:nvSpPr>
        <p:spPr>
          <a:xfrm>
            <a:off x="2804007" y="1645920"/>
            <a:ext cx="6583680" cy="45720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Source Document</a:t>
            </a:r>
            <a:r>
              <a:rPr sz="1500" b="0" i="0">
                <a:solidFill>
                  <a:srgbClr val="9BAFC6"/>
                </a:solidFill>
                <a:latin typeface="Inter"/>
              </a:rPr>
              <a:t>   —   input in the restricted subset</a:t>
            </a:r>
          </a:p>
        </p:txBody>
      </p:sp>
      <p:cxnSp>
        <p:nvCxnSpPr>
          <p:cNvPr id="8" name="Connector 7"/>
          <p:cNvCxnSpPr/>
          <p:nvPr/>
        </p:nvCxnSpPr>
        <p:spPr>
          <a:xfrm>
            <a:off x="6095847" y="2103120"/>
            <a:ext cx="0" cy="137159"/>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04007" y="2240280"/>
            <a:ext cx="6583680" cy="45720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Lexer</a:t>
            </a:r>
            <a:r>
              <a:rPr sz="1500" b="0" i="0">
                <a:solidFill>
                  <a:srgbClr val="9BAFC6"/>
                </a:solidFill>
                <a:latin typeface="Inter"/>
              </a:rPr>
              <a:t>   —   characters to category-code tokens</a:t>
            </a:r>
          </a:p>
        </p:txBody>
      </p:sp>
      <p:cxnSp>
        <p:nvCxnSpPr>
          <p:cNvPr id="10" name="Connector 9"/>
          <p:cNvCxnSpPr/>
          <p:nvPr/>
        </p:nvCxnSpPr>
        <p:spPr>
          <a:xfrm>
            <a:off x="6095847" y="2697480"/>
            <a:ext cx="0" cy="13716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4007" y="2834640"/>
            <a:ext cx="6583680" cy="45720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Parser</a:t>
            </a:r>
            <a:r>
              <a:rPr sz="1500" b="0" i="0">
                <a:solidFill>
                  <a:srgbClr val="9BAFC6"/>
                </a:solidFill>
                <a:latin typeface="Inter"/>
              </a:rPr>
              <a:t>   —   recursive-descent, one-token lookahead</a:t>
            </a:r>
          </a:p>
        </p:txBody>
      </p:sp>
      <p:cxnSp>
        <p:nvCxnSpPr>
          <p:cNvPr id="12" name="Connector 11"/>
          <p:cNvCxnSpPr/>
          <p:nvPr/>
        </p:nvCxnSpPr>
        <p:spPr>
          <a:xfrm>
            <a:off x="6095847" y="3291840"/>
            <a:ext cx="0" cy="13716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04007" y="3429000"/>
            <a:ext cx="6583680" cy="45720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AST</a:t>
            </a:r>
            <a:r>
              <a:rPr sz="1500" b="0" i="0">
                <a:solidFill>
                  <a:srgbClr val="9BAFC6"/>
                </a:solidFill>
                <a:latin typeface="Inter"/>
              </a:rPr>
              <a:t>   —   typed tree with source spans</a:t>
            </a:r>
          </a:p>
        </p:txBody>
      </p:sp>
      <p:cxnSp>
        <p:nvCxnSpPr>
          <p:cNvPr id="14" name="Connector 13"/>
          <p:cNvCxnSpPr/>
          <p:nvPr/>
        </p:nvCxnSpPr>
        <p:spPr>
          <a:xfrm>
            <a:off x="6095847" y="3886200"/>
            <a:ext cx="0" cy="13716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04007" y="4023360"/>
            <a:ext cx="6583680" cy="45720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Semantic Analyzer</a:t>
            </a:r>
            <a:r>
              <a:rPr sz="1500" b="0" i="0">
                <a:solidFill>
                  <a:srgbClr val="9BAFC6"/>
                </a:solidFill>
                <a:latin typeface="Inter"/>
              </a:rPr>
              <a:t>   —   symbol tables and diagnostics</a:t>
            </a:r>
          </a:p>
        </p:txBody>
      </p:sp>
      <p:cxnSp>
        <p:nvCxnSpPr>
          <p:cNvPr id="16" name="Connector 15"/>
          <p:cNvCxnSpPr/>
          <p:nvPr/>
        </p:nvCxnSpPr>
        <p:spPr>
          <a:xfrm>
            <a:off x="6095847" y="4480560"/>
            <a:ext cx="0" cy="13716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04007" y="4617720"/>
            <a:ext cx="6583680" cy="457200"/>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38BDF8"/>
                </a:solidFill>
                <a:latin typeface="Inter"/>
              </a:rPr>
              <a:t>Dependency IR</a:t>
            </a:r>
            <a:r>
              <a:rPr sz="1500" b="0" i="0">
                <a:solidFill>
                  <a:srgbClr val="9BAFC6"/>
                </a:solidFill>
                <a:latin typeface="Inter"/>
              </a:rPr>
              <a:t>   —   instance-level dependency graph</a:t>
            </a:r>
          </a:p>
        </p:txBody>
      </p:sp>
      <p:cxnSp>
        <p:nvCxnSpPr>
          <p:cNvPr id="18" name="Connector 17"/>
          <p:cNvCxnSpPr/>
          <p:nvPr/>
        </p:nvCxnSpPr>
        <p:spPr>
          <a:xfrm>
            <a:off x="6095847" y="5074920"/>
            <a:ext cx="0" cy="13716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804007" y="5212080"/>
            <a:ext cx="6583680" cy="457200"/>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38BDF8"/>
                </a:solidFill>
                <a:latin typeface="Inter"/>
              </a:rPr>
              <a:t>Static Analyzer</a:t>
            </a:r>
            <a:r>
              <a:rPr sz="1500" b="0" i="0">
                <a:solidFill>
                  <a:srgbClr val="9BAFC6"/>
                </a:solidFill>
                <a:latin typeface="Inter"/>
              </a:rPr>
              <a:t>   —   taint, SCC and fixpoint analysis</a:t>
            </a:r>
          </a:p>
        </p:txBody>
      </p:sp>
      <p:cxnSp>
        <p:nvCxnSpPr>
          <p:cNvPr id="20" name="Connector 19"/>
          <p:cNvCxnSpPr/>
          <p:nvPr/>
        </p:nvCxnSpPr>
        <p:spPr>
          <a:xfrm>
            <a:off x="6095847" y="5669280"/>
            <a:ext cx="0" cy="13716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804007" y="5806440"/>
            <a:ext cx="6583680" cy="45720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Diagnostic Report</a:t>
            </a:r>
            <a:r>
              <a:rPr sz="1500" b="0" i="0">
                <a:solidFill>
                  <a:srgbClr val="9BAFC6"/>
                </a:solidFill>
                <a:latin typeface="Inter"/>
              </a:rPr>
              <a:t>   —   classification with explanations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420624"/>
            <a:ext cx="10972800" cy="292608"/>
          </a:xfrm>
          <a:prstGeom prst="rect">
            <a:avLst/>
          </a:prstGeom>
          <a:noFill/>
        </p:spPr>
        <p:txBody>
          <a:bodyPr wrap="square" anchor="t" lIns="76200" rIns="76200" tIns="38100" bIns="38100">
            <a:noAutofit/>
          </a:bodyPr>
          <a:lstStyle/>
          <a:p>
            <a:pPr algn="l"/>
            <a:r>
              <a:rPr sz="1100" b="1" i="0">
                <a:solidFill>
                  <a:srgbClr val="38BDF8"/>
                </a:solidFill>
                <a:latin typeface="Inter"/>
              </a:rPr>
              <a:t>METHODOLOGY</a:t>
            </a:r>
          </a:p>
        </p:txBody>
      </p:sp>
      <p:sp>
        <p:nvSpPr>
          <p:cNvPr id="3" name="TextBox 2"/>
          <p:cNvSpPr txBox="1"/>
          <p:nvPr/>
        </p:nvSpPr>
        <p:spPr>
          <a:xfrm>
            <a:off x="621792" y="694944"/>
            <a:ext cx="11155680" cy="658368"/>
          </a:xfrm>
          <a:prstGeom prst="rect">
            <a:avLst/>
          </a:prstGeom>
          <a:noFill/>
        </p:spPr>
        <p:txBody>
          <a:bodyPr wrap="square" anchor="t" lIns="76200" rIns="76200" tIns="38100" bIns="38100">
            <a:noAutofit/>
          </a:bodyPr>
          <a:lstStyle/>
          <a:p>
            <a:pPr algn="l"/>
            <a:r>
              <a:rPr sz="3000" b="1" i="0">
                <a:solidFill>
                  <a:srgbClr val="E6EDF3"/>
                </a:solidFill>
                <a:latin typeface="Inter"/>
              </a:rPr>
              <a:t>From source facts to an explanation</a:t>
            </a:r>
          </a:p>
        </p:txBody>
      </p:sp>
      <p:sp>
        <p:nvSpPr>
          <p:cNvPr id="4" name="Rectangle 3"/>
          <p:cNvSpPr/>
          <p:nvPr/>
        </p:nvSpPr>
        <p:spPr>
          <a:xfrm>
            <a:off x="640080" y="1389888"/>
            <a:ext cx="1280160" cy="45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19088"/>
            <a:ext cx="7315200" cy="274320"/>
          </a:xfrm>
          <a:prstGeom prst="rect">
            <a:avLst/>
          </a:prstGeom>
          <a:noFill/>
        </p:spPr>
        <p:txBody>
          <a:bodyPr wrap="square" anchor="t" lIns="76200" rIns="76200" tIns="38100" bIns="38100">
            <a:noAutofit/>
          </a:bodyPr>
          <a:lstStyle/>
          <a:p>
            <a:pPr algn="l"/>
            <a:r>
              <a:rPr sz="900" b="0" i="0">
                <a:solidFill>
                  <a:srgbClr val="9BAFC6"/>
                </a:solidFill>
                <a:latin typeface="Inter"/>
              </a:rPr>
              <a:t>AuxFlow · Static Analysis for Multi-Pass Document Compilation</a:t>
            </a:r>
          </a:p>
        </p:txBody>
      </p:sp>
      <p:sp>
        <p:nvSpPr>
          <p:cNvPr id="6" name="TextBox 5"/>
          <p:cNvSpPr txBox="1"/>
          <p:nvPr/>
        </p:nvSpPr>
        <p:spPr>
          <a:xfrm>
            <a:off x="10058400" y="6419088"/>
            <a:ext cx="1673352" cy="274320"/>
          </a:xfrm>
          <a:prstGeom prst="rect">
            <a:avLst/>
          </a:prstGeom>
          <a:noFill/>
        </p:spPr>
        <p:txBody>
          <a:bodyPr wrap="square" anchor="t" lIns="76200" rIns="76200" tIns="38100" bIns="38100">
            <a:noAutofit/>
          </a:bodyPr>
          <a:lstStyle/>
          <a:p>
            <a:pPr algn="r"/>
            <a:r>
              <a:rPr sz="900" b="0" i="0">
                <a:solidFill>
                  <a:srgbClr val="9BAFC6"/>
                </a:solidFill>
                <a:latin typeface="Inter"/>
              </a:rPr>
              <a:t>06 / 08</a:t>
            </a:r>
          </a:p>
        </p:txBody>
      </p:sp>
      <p:sp>
        <p:nvSpPr>
          <p:cNvPr id="7" name="Rounded Rectangle 6"/>
          <p:cNvSpPr/>
          <p:nvPr/>
        </p:nvSpPr>
        <p:spPr>
          <a:xfrm>
            <a:off x="640080" y="2148840"/>
            <a:ext cx="1860438" cy="105156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Facts</a:t>
            </a:r>
          </a:p>
        </p:txBody>
      </p:sp>
      <p:cxnSp>
        <p:nvCxnSpPr>
          <p:cNvPr id="8" name="Connector 7"/>
          <p:cNvCxnSpPr/>
          <p:nvPr/>
        </p:nvCxnSpPr>
        <p:spPr>
          <a:xfrm>
            <a:off x="2500518" y="2674620"/>
            <a:ext cx="402336"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4359" y="3401568"/>
            <a:ext cx="1951878" cy="914400"/>
          </a:xfrm>
          <a:prstGeom prst="rect">
            <a:avLst/>
          </a:prstGeom>
          <a:noFill/>
        </p:spPr>
        <p:txBody>
          <a:bodyPr wrap="square" anchor="t" lIns="76200" rIns="76200" tIns="38100" bIns="38100">
            <a:noAutofit/>
          </a:bodyPr>
          <a:lstStyle/>
          <a:p>
            <a:pPr algn="ctr">
              <a:spcAft>
                <a:spcPts val="200"/>
              </a:spcAft>
            </a:pPr>
            <a:r>
              <a:rPr sz="1100" b="1" i="0">
                <a:solidFill>
                  <a:srgbClr val="38BDF8"/>
                </a:solidFill>
                <a:latin typeface="Inter"/>
              </a:rPr>
              <a:t>1</a:t>
            </a:r>
          </a:p>
          <a:p>
            <a:pPr algn="ctr">
              <a:lnSpc>
                <a:spcPct val="100000"/>
              </a:lnSpc>
            </a:pPr>
            <a:r>
              <a:rPr sz="1100" b="0" i="0">
                <a:solidFill>
                  <a:srgbClr val="9BAFC6"/>
                </a:solidFill>
                <a:latin typeface="Inter"/>
              </a:rPr>
              <a:t>extract labels</a:t>
            </a:r>
          </a:p>
          <a:p>
            <a:pPr algn="ctr">
              <a:lnSpc>
                <a:spcPct val="100000"/>
              </a:lnSpc>
            </a:pPr>
            <a:r>
              <a:rPr sz="1100" b="0" i="0">
                <a:solidFill>
                  <a:srgbClr val="9BAFC6"/>
                </a:solidFill>
                <a:latin typeface="Inter"/>
              </a:rPr>
              <a:t>and references</a:t>
            </a:r>
          </a:p>
        </p:txBody>
      </p:sp>
      <p:sp>
        <p:nvSpPr>
          <p:cNvPr id="10" name="Rounded Rectangle 9"/>
          <p:cNvSpPr/>
          <p:nvPr/>
        </p:nvSpPr>
        <p:spPr>
          <a:xfrm>
            <a:off x="2902854" y="2148840"/>
            <a:ext cx="1860438" cy="105156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Dependencies</a:t>
            </a:r>
          </a:p>
        </p:txBody>
      </p:sp>
      <p:cxnSp>
        <p:nvCxnSpPr>
          <p:cNvPr id="11" name="Connector 10"/>
          <p:cNvCxnSpPr/>
          <p:nvPr/>
        </p:nvCxnSpPr>
        <p:spPr>
          <a:xfrm>
            <a:off x="4763292" y="2674620"/>
            <a:ext cx="402336"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857134" y="3401568"/>
            <a:ext cx="1951878" cy="914400"/>
          </a:xfrm>
          <a:prstGeom prst="rect">
            <a:avLst/>
          </a:prstGeom>
          <a:noFill/>
        </p:spPr>
        <p:txBody>
          <a:bodyPr wrap="square" anchor="t" lIns="76200" rIns="76200" tIns="38100" bIns="38100">
            <a:noAutofit/>
          </a:bodyPr>
          <a:lstStyle/>
          <a:p>
            <a:pPr algn="ctr">
              <a:spcAft>
                <a:spcPts val="200"/>
              </a:spcAft>
            </a:pPr>
            <a:r>
              <a:rPr sz="1100" b="1" i="0">
                <a:solidFill>
                  <a:srgbClr val="38BDF8"/>
                </a:solidFill>
                <a:latin typeface="Inter"/>
              </a:rPr>
              <a:t>2</a:t>
            </a:r>
          </a:p>
          <a:p>
            <a:pPr algn="ctr">
              <a:lnSpc>
                <a:spcPct val="100000"/>
              </a:lnSpc>
            </a:pPr>
            <a:r>
              <a:rPr sz="1100" b="0" i="0">
                <a:solidFill>
                  <a:srgbClr val="9BAFC6"/>
                </a:solidFill>
                <a:latin typeface="Inter"/>
              </a:rPr>
              <a:t>link each write</a:t>
            </a:r>
          </a:p>
          <a:p>
            <a:pPr algn="ctr">
              <a:lnSpc>
                <a:spcPct val="100000"/>
              </a:lnSpc>
            </a:pPr>
            <a:r>
              <a:rPr sz="1100" b="0" i="0">
                <a:solidFill>
                  <a:srgbClr val="9BAFC6"/>
                </a:solidFill>
                <a:latin typeface="Inter"/>
              </a:rPr>
              <a:t>to its later read</a:t>
            </a:r>
          </a:p>
        </p:txBody>
      </p:sp>
      <p:sp>
        <p:nvSpPr>
          <p:cNvPr id="13" name="Rounded Rectangle 12"/>
          <p:cNvSpPr/>
          <p:nvPr/>
        </p:nvSpPr>
        <p:spPr>
          <a:xfrm>
            <a:off x="5165628" y="2148840"/>
            <a:ext cx="1860438" cy="1051560"/>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38BDF8"/>
                </a:solidFill>
                <a:latin typeface="Inter"/>
              </a:rPr>
              <a:t>Graph</a:t>
            </a:r>
          </a:p>
        </p:txBody>
      </p:sp>
      <p:cxnSp>
        <p:nvCxnSpPr>
          <p:cNvPr id="14" name="Connector 13"/>
          <p:cNvCxnSpPr/>
          <p:nvPr/>
        </p:nvCxnSpPr>
        <p:spPr>
          <a:xfrm>
            <a:off x="7026066" y="2674620"/>
            <a:ext cx="402336"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119908" y="3401568"/>
            <a:ext cx="1951878" cy="914400"/>
          </a:xfrm>
          <a:prstGeom prst="rect">
            <a:avLst/>
          </a:prstGeom>
          <a:noFill/>
        </p:spPr>
        <p:txBody>
          <a:bodyPr wrap="square" anchor="t" lIns="76200" rIns="76200" tIns="38100" bIns="38100">
            <a:noAutofit/>
          </a:bodyPr>
          <a:lstStyle/>
          <a:p>
            <a:pPr algn="ctr">
              <a:spcAft>
                <a:spcPts val="200"/>
              </a:spcAft>
            </a:pPr>
            <a:r>
              <a:rPr sz="1100" b="1" i="0">
                <a:solidFill>
                  <a:srgbClr val="38BDF8"/>
                </a:solidFill>
                <a:latin typeface="Inter"/>
              </a:rPr>
              <a:t>3</a:t>
            </a:r>
          </a:p>
          <a:p>
            <a:pPr algn="ctr">
              <a:lnSpc>
                <a:spcPct val="100000"/>
              </a:lnSpc>
            </a:pPr>
            <a:r>
              <a:rPr sz="1100" b="0" i="0">
                <a:solidFill>
                  <a:srgbClr val="9BAFC6"/>
                </a:solidFill>
                <a:latin typeface="Inter"/>
              </a:rPr>
              <a:t>build the dependency</a:t>
            </a:r>
          </a:p>
          <a:p>
            <a:pPr algn="ctr">
              <a:lnSpc>
                <a:spcPct val="100000"/>
              </a:lnSpc>
            </a:pPr>
            <a:r>
              <a:rPr sz="1100" b="0" i="0">
                <a:solidFill>
                  <a:srgbClr val="9BAFC6"/>
                </a:solidFill>
                <a:latin typeface="Inter"/>
              </a:rPr>
              <a:t>graph</a:t>
            </a:r>
          </a:p>
        </p:txBody>
      </p:sp>
      <p:sp>
        <p:nvSpPr>
          <p:cNvPr id="16" name="Rounded Rectangle 15"/>
          <p:cNvSpPr/>
          <p:nvPr/>
        </p:nvSpPr>
        <p:spPr>
          <a:xfrm>
            <a:off x="7428402" y="2148840"/>
            <a:ext cx="1860438" cy="1051560"/>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38BDF8"/>
                </a:solidFill>
                <a:latin typeface="Inter"/>
              </a:rPr>
              <a:t>Analysis</a:t>
            </a:r>
          </a:p>
        </p:txBody>
      </p:sp>
      <p:cxnSp>
        <p:nvCxnSpPr>
          <p:cNvPr id="17" name="Connector 16"/>
          <p:cNvCxnSpPr/>
          <p:nvPr/>
        </p:nvCxnSpPr>
        <p:spPr>
          <a:xfrm>
            <a:off x="9288840" y="2674620"/>
            <a:ext cx="402336"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82682" y="3401568"/>
            <a:ext cx="1951878" cy="914400"/>
          </a:xfrm>
          <a:prstGeom prst="rect">
            <a:avLst/>
          </a:prstGeom>
          <a:noFill/>
        </p:spPr>
        <p:txBody>
          <a:bodyPr wrap="square" anchor="t" lIns="76200" rIns="76200" tIns="38100" bIns="38100">
            <a:noAutofit/>
          </a:bodyPr>
          <a:lstStyle/>
          <a:p>
            <a:pPr algn="ctr">
              <a:spcAft>
                <a:spcPts val="200"/>
              </a:spcAft>
            </a:pPr>
            <a:r>
              <a:rPr sz="1100" b="1" i="0">
                <a:solidFill>
                  <a:srgbClr val="38BDF8"/>
                </a:solidFill>
                <a:latin typeface="Inter"/>
              </a:rPr>
              <a:t>4</a:t>
            </a:r>
          </a:p>
          <a:p>
            <a:pPr algn="ctr">
              <a:lnSpc>
                <a:spcPct val="100000"/>
              </a:lnSpc>
            </a:pPr>
            <a:r>
              <a:rPr sz="1100" b="0" i="0">
                <a:solidFill>
                  <a:srgbClr val="9BAFC6"/>
                </a:solidFill>
                <a:latin typeface="Inter"/>
              </a:rPr>
              <a:t>traverse, find cycles,</a:t>
            </a:r>
          </a:p>
          <a:p>
            <a:pPr algn="ctr">
              <a:lnSpc>
                <a:spcPct val="100000"/>
              </a:lnSpc>
            </a:pPr>
            <a:r>
              <a:rPr sz="1100" b="0" i="0">
                <a:solidFill>
                  <a:srgbClr val="9BAFC6"/>
                </a:solidFill>
                <a:latin typeface="Inter"/>
              </a:rPr>
              <a:t>run the fixpoint</a:t>
            </a:r>
          </a:p>
        </p:txBody>
      </p:sp>
      <p:sp>
        <p:nvSpPr>
          <p:cNvPr id="19" name="Rounded Rectangle 18"/>
          <p:cNvSpPr/>
          <p:nvPr/>
        </p:nvSpPr>
        <p:spPr>
          <a:xfrm>
            <a:off x="9691176" y="2148840"/>
            <a:ext cx="1860438" cy="105156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Report</a:t>
            </a:r>
          </a:p>
        </p:txBody>
      </p:sp>
      <p:sp>
        <p:nvSpPr>
          <p:cNvPr id="20" name="TextBox 19"/>
          <p:cNvSpPr txBox="1"/>
          <p:nvPr/>
        </p:nvSpPr>
        <p:spPr>
          <a:xfrm>
            <a:off x="9645456" y="3401568"/>
            <a:ext cx="1951878" cy="914400"/>
          </a:xfrm>
          <a:prstGeom prst="rect">
            <a:avLst/>
          </a:prstGeom>
          <a:noFill/>
        </p:spPr>
        <p:txBody>
          <a:bodyPr wrap="square" anchor="t" lIns="76200" rIns="76200" tIns="38100" bIns="38100">
            <a:noAutofit/>
          </a:bodyPr>
          <a:lstStyle/>
          <a:p>
            <a:pPr algn="ctr">
              <a:spcAft>
                <a:spcPts val="200"/>
              </a:spcAft>
            </a:pPr>
            <a:r>
              <a:rPr sz="1100" b="1" i="0">
                <a:solidFill>
                  <a:srgbClr val="38BDF8"/>
                </a:solidFill>
                <a:latin typeface="Inter"/>
              </a:rPr>
              <a:t>5</a:t>
            </a:r>
          </a:p>
          <a:p>
            <a:pPr algn="ctr">
              <a:lnSpc>
                <a:spcPct val="100000"/>
              </a:lnSpc>
            </a:pPr>
            <a:r>
              <a:rPr sz="1100" b="0" i="0">
                <a:solidFill>
                  <a:srgbClr val="9BAFC6"/>
                </a:solidFill>
                <a:latin typeface="Inter"/>
              </a:rPr>
              <a:t>explain the result</a:t>
            </a:r>
          </a:p>
          <a:p>
            <a:pPr algn="ctr">
              <a:lnSpc>
                <a:spcPct val="100000"/>
              </a:lnSpc>
            </a:pPr>
            <a:r>
              <a:rPr sz="1100" b="0" i="0">
                <a:solidFill>
                  <a:srgbClr val="9BAFC6"/>
                </a:solidFill>
                <a:latin typeface="Inter"/>
              </a:rPr>
              <a:t>with locations</a:t>
            </a:r>
          </a:p>
        </p:txBody>
      </p:sp>
      <p:sp>
        <p:nvSpPr>
          <p:cNvPr id="21" name="Rounded Rectangle 20"/>
          <p:cNvSpPr/>
          <p:nvPr/>
        </p:nvSpPr>
        <p:spPr>
          <a:xfrm>
            <a:off x="640080" y="5029200"/>
            <a:ext cx="10911535" cy="868680"/>
          </a:xfrm>
          <a:prstGeom prst="roundRect">
            <a:avLst>
              <a:gd name="adj" fmla="val 6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38BDF8"/>
                </a:solidFill>
                <a:latin typeface="Inter"/>
              </a:rPr>
              <a:t>Techniques:   </a:t>
            </a:r>
            <a:r>
              <a:rPr sz="1500" b="0" i="0">
                <a:solidFill>
                  <a:srgbClr val="E6EDF3"/>
                </a:solidFill>
                <a:latin typeface="Inter"/>
              </a:rPr>
              <a:t>graph traversal    ·    cycle detection (strongly connected components)    ·    dataflow / fixpoint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420624"/>
            <a:ext cx="10972800" cy="292608"/>
          </a:xfrm>
          <a:prstGeom prst="rect">
            <a:avLst/>
          </a:prstGeom>
          <a:noFill/>
        </p:spPr>
        <p:txBody>
          <a:bodyPr wrap="square" anchor="t" lIns="76200" rIns="76200" tIns="38100" bIns="38100">
            <a:noAutofit/>
          </a:bodyPr>
          <a:lstStyle/>
          <a:p>
            <a:pPr algn="l"/>
            <a:r>
              <a:rPr sz="1100" b="1" i="0">
                <a:solidFill>
                  <a:srgbClr val="38BDF8"/>
                </a:solidFill>
                <a:latin typeface="Inter"/>
              </a:rPr>
              <a:t>EXAMPLE</a:t>
            </a:r>
          </a:p>
        </p:txBody>
      </p:sp>
      <p:sp>
        <p:nvSpPr>
          <p:cNvPr id="3" name="TextBox 2"/>
          <p:cNvSpPr txBox="1"/>
          <p:nvPr/>
        </p:nvSpPr>
        <p:spPr>
          <a:xfrm>
            <a:off x="621792" y="694944"/>
            <a:ext cx="11155680" cy="658368"/>
          </a:xfrm>
          <a:prstGeom prst="rect">
            <a:avLst/>
          </a:prstGeom>
          <a:noFill/>
        </p:spPr>
        <p:txBody>
          <a:bodyPr wrap="square" anchor="t" lIns="76200" rIns="76200" tIns="38100" bIns="38100">
            <a:noAutofit/>
          </a:bodyPr>
          <a:lstStyle/>
          <a:p>
            <a:pPr algn="l"/>
            <a:r>
              <a:rPr sz="3000" b="1" i="0">
                <a:solidFill>
                  <a:srgbClr val="E6EDF3"/>
                </a:solidFill>
                <a:latin typeface="Inter"/>
              </a:rPr>
              <a:t>A single cross-reference, end to end</a:t>
            </a:r>
          </a:p>
        </p:txBody>
      </p:sp>
      <p:sp>
        <p:nvSpPr>
          <p:cNvPr id="4" name="Rectangle 3"/>
          <p:cNvSpPr/>
          <p:nvPr/>
        </p:nvSpPr>
        <p:spPr>
          <a:xfrm>
            <a:off x="640080" y="1389888"/>
            <a:ext cx="1280160" cy="45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19088"/>
            <a:ext cx="7315200" cy="274320"/>
          </a:xfrm>
          <a:prstGeom prst="rect">
            <a:avLst/>
          </a:prstGeom>
          <a:noFill/>
        </p:spPr>
        <p:txBody>
          <a:bodyPr wrap="square" anchor="t" lIns="76200" rIns="76200" tIns="38100" bIns="38100">
            <a:noAutofit/>
          </a:bodyPr>
          <a:lstStyle/>
          <a:p>
            <a:pPr algn="l"/>
            <a:r>
              <a:rPr sz="900" b="0" i="0">
                <a:solidFill>
                  <a:srgbClr val="9BAFC6"/>
                </a:solidFill>
                <a:latin typeface="Inter"/>
              </a:rPr>
              <a:t>AuxFlow · Static Analysis for Multi-Pass Document Compilation</a:t>
            </a:r>
          </a:p>
        </p:txBody>
      </p:sp>
      <p:sp>
        <p:nvSpPr>
          <p:cNvPr id="6" name="TextBox 5"/>
          <p:cNvSpPr txBox="1"/>
          <p:nvPr/>
        </p:nvSpPr>
        <p:spPr>
          <a:xfrm>
            <a:off x="10058400" y="6419088"/>
            <a:ext cx="1673352" cy="274320"/>
          </a:xfrm>
          <a:prstGeom prst="rect">
            <a:avLst/>
          </a:prstGeom>
          <a:noFill/>
        </p:spPr>
        <p:txBody>
          <a:bodyPr wrap="square" anchor="t" lIns="76200" rIns="76200" tIns="38100" bIns="38100">
            <a:noAutofit/>
          </a:bodyPr>
          <a:lstStyle/>
          <a:p>
            <a:pPr algn="r"/>
            <a:r>
              <a:rPr sz="900" b="0" i="0">
                <a:solidFill>
                  <a:srgbClr val="9BAFC6"/>
                </a:solidFill>
                <a:latin typeface="Inter"/>
              </a:rPr>
              <a:t>07 / 08</a:t>
            </a:r>
          </a:p>
        </p:txBody>
      </p:sp>
      <p:sp>
        <p:nvSpPr>
          <p:cNvPr id="7" name="Rounded Rectangle 6"/>
          <p:cNvSpPr/>
          <p:nvPr/>
        </p:nvSpPr>
        <p:spPr>
          <a:xfrm>
            <a:off x="640080" y="2057400"/>
            <a:ext cx="2384983" cy="3108960"/>
          </a:xfrm>
          <a:prstGeom prst="roundRect">
            <a:avLst>
              <a:gd name="adj" fmla="val 6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2384983"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58568"/>
            <a:ext cx="2055799" cy="310896"/>
          </a:xfrm>
          <a:prstGeom prst="rect">
            <a:avLst/>
          </a:prstGeom>
          <a:noFill/>
        </p:spPr>
        <p:txBody>
          <a:bodyPr wrap="square" anchor="t" lIns="76200" rIns="76200" tIns="38100" bIns="38100">
            <a:noAutofit/>
          </a:bodyPr>
          <a:lstStyle/>
          <a:p>
            <a:pPr algn="l"/>
            <a:r>
              <a:rPr sz="1100" b="1" i="0">
                <a:solidFill>
                  <a:srgbClr val="38BDF8"/>
                </a:solidFill>
                <a:latin typeface="Inter"/>
              </a:rPr>
              <a:t>Source snippet</a:t>
            </a:r>
          </a:p>
        </p:txBody>
      </p:sp>
      <p:cxnSp>
        <p:nvCxnSpPr>
          <p:cNvPr id="10" name="Connector 9"/>
          <p:cNvCxnSpPr/>
          <p:nvPr/>
        </p:nvCxnSpPr>
        <p:spPr>
          <a:xfrm>
            <a:off x="3025063" y="3611880"/>
            <a:ext cx="457200"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82263" y="2057400"/>
            <a:ext cx="2384983" cy="3108960"/>
          </a:xfrm>
          <a:prstGeom prst="roundRect">
            <a:avLst>
              <a:gd name="adj" fmla="val 6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82263" y="2057400"/>
            <a:ext cx="2384983"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6855" y="2258568"/>
            <a:ext cx="2055799" cy="310896"/>
          </a:xfrm>
          <a:prstGeom prst="rect">
            <a:avLst/>
          </a:prstGeom>
          <a:noFill/>
        </p:spPr>
        <p:txBody>
          <a:bodyPr wrap="square" anchor="t" lIns="76200" rIns="76200" tIns="38100" bIns="38100">
            <a:noAutofit/>
          </a:bodyPr>
          <a:lstStyle/>
          <a:p>
            <a:pPr algn="l"/>
            <a:r>
              <a:rPr sz="1100" b="1" i="0">
                <a:solidFill>
                  <a:srgbClr val="38BDF8"/>
                </a:solidFill>
                <a:latin typeface="Inter"/>
              </a:rPr>
              <a:t>Extracted facts</a:t>
            </a:r>
          </a:p>
        </p:txBody>
      </p:sp>
      <p:cxnSp>
        <p:nvCxnSpPr>
          <p:cNvPr id="14" name="Connector 13"/>
          <p:cNvCxnSpPr/>
          <p:nvPr/>
        </p:nvCxnSpPr>
        <p:spPr>
          <a:xfrm>
            <a:off x="5867247" y="3611880"/>
            <a:ext cx="457200"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24447" y="2057400"/>
            <a:ext cx="2384983" cy="3108960"/>
          </a:xfrm>
          <a:prstGeom prst="roundRect">
            <a:avLst>
              <a:gd name="adj" fmla="val 6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24447" y="2057400"/>
            <a:ext cx="2384983"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9039" y="2258568"/>
            <a:ext cx="2055799" cy="310896"/>
          </a:xfrm>
          <a:prstGeom prst="rect">
            <a:avLst/>
          </a:prstGeom>
          <a:noFill/>
        </p:spPr>
        <p:txBody>
          <a:bodyPr wrap="square" anchor="t" lIns="76200" rIns="76200" tIns="38100" bIns="38100">
            <a:noAutofit/>
          </a:bodyPr>
          <a:lstStyle/>
          <a:p>
            <a:pPr algn="l"/>
            <a:r>
              <a:rPr sz="1100" b="1" i="0">
                <a:solidFill>
                  <a:srgbClr val="38BDF8"/>
                </a:solidFill>
                <a:latin typeface="Inter"/>
              </a:rPr>
              <a:t>Dependency graph</a:t>
            </a:r>
          </a:p>
        </p:txBody>
      </p:sp>
      <p:cxnSp>
        <p:nvCxnSpPr>
          <p:cNvPr id="18" name="Connector 17"/>
          <p:cNvCxnSpPr/>
          <p:nvPr/>
        </p:nvCxnSpPr>
        <p:spPr>
          <a:xfrm>
            <a:off x="8709431" y="3611880"/>
            <a:ext cx="457200"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66631" y="2057400"/>
            <a:ext cx="2384983" cy="3108960"/>
          </a:xfrm>
          <a:prstGeom prst="roundRect">
            <a:avLst>
              <a:gd name="adj" fmla="val 6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66631" y="2057400"/>
            <a:ext cx="2384983"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31223" y="2258568"/>
            <a:ext cx="2055799" cy="310896"/>
          </a:xfrm>
          <a:prstGeom prst="rect">
            <a:avLst/>
          </a:prstGeom>
          <a:noFill/>
        </p:spPr>
        <p:txBody>
          <a:bodyPr wrap="square" anchor="t" lIns="76200" rIns="76200" tIns="38100" bIns="38100">
            <a:noAutofit/>
          </a:bodyPr>
          <a:lstStyle/>
          <a:p>
            <a:pPr algn="l"/>
            <a:r>
              <a:rPr sz="1100" b="1" i="0">
                <a:solidFill>
                  <a:srgbClr val="38BDF8"/>
                </a:solidFill>
                <a:latin typeface="Inter"/>
              </a:rPr>
              <a:t>Analysis result</a:t>
            </a:r>
          </a:p>
        </p:txBody>
      </p:sp>
      <p:sp>
        <p:nvSpPr>
          <p:cNvPr id="22" name="TextBox 21"/>
          <p:cNvSpPr txBox="1"/>
          <p:nvPr/>
        </p:nvSpPr>
        <p:spPr>
          <a:xfrm>
            <a:off x="804671" y="2743200"/>
            <a:ext cx="2055799" cy="2194560"/>
          </a:xfrm>
          <a:prstGeom prst="rect">
            <a:avLst/>
          </a:prstGeom>
          <a:noFill/>
        </p:spPr>
        <p:txBody>
          <a:bodyPr wrap="square" anchor="t" lIns="76200" rIns="76200" tIns="38100" bIns="38100">
            <a:noAutofit/>
          </a:bodyPr>
          <a:lstStyle/>
          <a:p>
            <a:pPr algn="l">
              <a:lnSpc>
                <a:spcPct val="110000"/>
              </a:lnSpc>
              <a:spcAft>
                <a:spcPts val="600"/>
              </a:spcAft>
            </a:pPr>
            <a:r>
              <a:rPr sz="1500" b="0" i="0">
                <a:solidFill>
                  <a:srgbClr val="E6EDF3"/>
                </a:solidFill>
                <a:latin typeface="Inter"/>
              </a:rPr>
              <a:t>\section{Intro}</a:t>
            </a:r>
          </a:p>
          <a:p>
            <a:pPr algn="l">
              <a:lnSpc>
                <a:spcPct val="110000"/>
              </a:lnSpc>
              <a:spcAft>
                <a:spcPts val="1400"/>
              </a:spcAft>
            </a:pPr>
            <a:r>
              <a:rPr sz="1500" b="0" i="0">
                <a:solidFill>
                  <a:srgbClr val="E6EDF3"/>
                </a:solidFill>
                <a:latin typeface="Inter"/>
              </a:rPr>
              <a:t>\label{sec:intro}</a:t>
            </a:r>
          </a:p>
          <a:p>
            <a:pPr algn="l">
              <a:lnSpc>
                <a:spcPct val="110000"/>
              </a:lnSpc>
            </a:pPr>
            <a:r>
              <a:rPr sz="1500" b="0" i="0">
                <a:solidFill>
                  <a:srgbClr val="E6EDF3"/>
                </a:solidFill>
                <a:latin typeface="Inter"/>
              </a:rPr>
              <a:t>see Section~</a:t>
            </a:r>
          </a:p>
          <a:p>
            <a:pPr algn="l">
              <a:lnSpc>
                <a:spcPct val="110000"/>
              </a:lnSpc>
            </a:pPr>
            <a:r>
              <a:rPr sz="1500" b="0" i="0">
                <a:solidFill>
                  <a:srgbClr val="E6EDF3"/>
                </a:solidFill>
                <a:latin typeface="Inter"/>
              </a:rPr>
              <a:t>\ref{sec:intro}</a:t>
            </a:r>
          </a:p>
        </p:txBody>
      </p:sp>
      <p:sp>
        <p:nvSpPr>
          <p:cNvPr id="23" name="TextBox 22"/>
          <p:cNvSpPr txBox="1"/>
          <p:nvPr/>
        </p:nvSpPr>
        <p:spPr>
          <a:xfrm>
            <a:off x="3646855" y="2834640"/>
            <a:ext cx="2055799" cy="2103120"/>
          </a:xfrm>
          <a:prstGeom prst="rect">
            <a:avLst/>
          </a:prstGeom>
          <a:noFill/>
        </p:spPr>
        <p:txBody>
          <a:bodyPr wrap="square" anchor="t" lIns="76200" rIns="76200" tIns="38100" bIns="38100">
            <a:noAutofit/>
          </a:bodyPr>
          <a:lstStyle/>
          <a:p>
            <a:pPr algn="l">
              <a:lnSpc>
                <a:spcPct val="105000"/>
              </a:lnSpc>
              <a:spcAft>
                <a:spcPts val="1200"/>
              </a:spcAft>
            </a:pPr>
            <a:r>
              <a:rPr sz="1500" b="1" i="0">
                <a:solidFill>
                  <a:srgbClr val="E6EDF3"/>
                </a:solidFill>
                <a:latin typeface="Inter"/>
              </a:rPr>
              <a:t>LABEL</a:t>
            </a:r>
            <a:r>
              <a:rPr sz="1200" b="0" i="0">
                <a:solidFill>
                  <a:srgbClr val="9BAFC6"/>
                </a:solidFill>
                <a:latin typeface="Inter"/>
              </a:rPr>
              <a:t>  (sec:intro)</a:t>
            </a:r>
          </a:p>
          <a:p>
            <a:pPr algn="l">
              <a:lnSpc>
                <a:spcPct val="105000"/>
              </a:lnSpc>
            </a:pPr>
            <a:r>
              <a:rPr sz="1500" b="1" i="0">
                <a:solidFill>
                  <a:srgbClr val="E6EDF3"/>
                </a:solidFill>
                <a:latin typeface="Inter"/>
              </a:rPr>
              <a:t>REF_USE</a:t>
            </a:r>
            <a:r>
              <a:rPr sz="1200" b="0" i="0">
                <a:solidFill>
                  <a:srgbClr val="9BAFC6"/>
                </a:solidFill>
                <a:latin typeface="Inter"/>
              </a:rPr>
              <a:t>  (sec:intro)</a:t>
            </a:r>
          </a:p>
        </p:txBody>
      </p:sp>
      <p:sp>
        <p:nvSpPr>
          <p:cNvPr id="24" name="Rounded Rectangle 23"/>
          <p:cNvSpPr/>
          <p:nvPr/>
        </p:nvSpPr>
        <p:spPr>
          <a:xfrm>
            <a:off x="6553047" y="2926080"/>
            <a:ext cx="1927783" cy="566928"/>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200" b="1" i="0">
                <a:solidFill>
                  <a:srgbClr val="38BDF8"/>
                </a:solidFill>
                <a:latin typeface="Inter"/>
              </a:rPr>
              <a:t>LABEL</a:t>
            </a:r>
          </a:p>
        </p:txBody>
      </p:sp>
      <p:sp>
        <p:nvSpPr>
          <p:cNvPr id="25" name="Rounded Rectangle 24"/>
          <p:cNvSpPr/>
          <p:nvPr/>
        </p:nvSpPr>
        <p:spPr>
          <a:xfrm>
            <a:off x="6553047" y="4114800"/>
            <a:ext cx="1927783" cy="566928"/>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200" b="1" i="0">
                <a:solidFill>
                  <a:srgbClr val="38BDF8"/>
                </a:solidFill>
                <a:latin typeface="Inter"/>
              </a:rPr>
              <a:t>REF_USE</a:t>
            </a:r>
          </a:p>
        </p:txBody>
      </p:sp>
      <p:cxnSp>
        <p:nvCxnSpPr>
          <p:cNvPr id="26" name="Connector 25"/>
          <p:cNvCxnSpPr/>
          <p:nvPr/>
        </p:nvCxnSpPr>
        <p:spPr>
          <a:xfrm>
            <a:off x="7516939" y="3493008"/>
            <a:ext cx="0" cy="621792"/>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803707" y="3666744"/>
            <a:ext cx="1426464" cy="292608"/>
          </a:xfrm>
          <a:prstGeom prst="roundRect">
            <a:avLst>
              <a:gd name="adj" fmla="val 30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100" b="0" i="1">
                <a:solidFill>
                  <a:srgbClr val="9BAFC6"/>
                </a:solidFill>
                <a:latin typeface="Inter"/>
              </a:rPr>
              <a:t>one pass later</a:t>
            </a:r>
          </a:p>
        </p:txBody>
      </p:sp>
      <p:sp>
        <p:nvSpPr>
          <p:cNvPr id="28" name="TextBox 27"/>
          <p:cNvSpPr txBox="1"/>
          <p:nvPr/>
        </p:nvSpPr>
        <p:spPr>
          <a:xfrm>
            <a:off x="9331223" y="2788920"/>
            <a:ext cx="2055799" cy="2194560"/>
          </a:xfrm>
          <a:prstGeom prst="rect">
            <a:avLst/>
          </a:prstGeom>
          <a:noFill/>
        </p:spPr>
        <p:txBody>
          <a:bodyPr wrap="square" anchor="t" lIns="76200" rIns="76200" tIns="38100" bIns="38100">
            <a:noAutofit/>
          </a:bodyPr>
          <a:lstStyle/>
          <a:p>
            <a:pPr algn="l">
              <a:lnSpc>
                <a:spcPct val="118000"/>
              </a:lnSpc>
            </a:pPr>
            <a:r>
              <a:rPr sz="1500" b="0" i="1">
                <a:solidFill>
                  <a:srgbClr val="E6EDF3"/>
                </a:solidFill>
                <a:latin typeface="Inter"/>
              </a:rPr>
              <a:t>Reference dependency between Section “Intro” and its generated metadata — resolved across one pass.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420624"/>
            <a:ext cx="10972800" cy="292608"/>
          </a:xfrm>
          <a:prstGeom prst="rect">
            <a:avLst/>
          </a:prstGeom>
          <a:noFill/>
        </p:spPr>
        <p:txBody>
          <a:bodyPr wrap="square" anchor="t" lIns="76200" rIns="76200" tIns="38100" bIns="38100">
            <a:noAutofit/>
          </a:bodyPr>
          <a:lstStyle/>
          <a:p>
            <a:pPr algn="l"/>
            <a:r>
              <a:rPr sz="1100" b="1" i="0">
                <a:solidFill>
                  <a:srgbClr val="38BDF8"/>
                </a:solidFill>
                <a:latin typeface="Inter"/>
              </a:rPr>
              <a:t>CONCLUSION</a:t>
            </a:r>
          </a:p>
        </p:txBody>
      </p:sp>
      <p:sp>
        <p:nvSpPr>
          <p:cNvPr id="3" name="TextBox 2"/>
          <p:cNvSpPr txBox="1"/>
          <p:nvPr/>
        </p:nvSpPr>
        <p:spPr>
          <a:xfrm>
            <a:off x="621792" y="694944"/>
            <a:ext cx="11155680" cy="658368"/>
          </a:xfrm>
          <a:prstGeom prst="rect">
            <a:avLst/>
          </a:prstGeom>
          <a:noFill/>
        </p:spPr>
        <p:txBody>
          <a:bodyPr wrap="square" anchor="t" lIns="76200" rIns="76200" tIns="38100" bIns="38100">
            <a:noAutofit/>
          </a:bodyPr>
          <a:lstStyle/>
          <a:p>
            <a:pPr algn="l"/>
            <a:r>
              <a:rPr sz="3000" b="1" i="0">
                <a:solidFill>
                  <a:srgbClr val="E6EDF3"/>
                </a:solidFill>
                <a:latin typeface="Inter"/>
              </a:rPr>
              <a:t>A compiler project with an analysis target</a:t>
            </a:r>
          </a:p>
        </p:txBody>
      </p:sp>
      <p:sp>
        <p:nvSpPr>
          <p:cNvPr id="4" name="Rectangle 3"/>
          <p:cNvSpPr/>
          <p:nvPr/>
        </p:nvSpPr>
        <p:spPr>
          <a:xfrm>
            <a:off x="640080" y="1389888"/>
            <a:ext cx="1280160" cy="45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19088"/>
            <a:ext cx="7315200" cy="274320"/>
          </a:xfrm>
          <a:prstGeom prst="rect">
            <a:avLst/>
          </a:prstGeom>
          <a:noFill/>
        </p:spPr>
        <p:txBody>
          <a:bodyPr wrap="square" anchor="t" lIns="76200" rIns="76200" tIns="38100" bIns="38100">
            <a:noAutofit/>
          </a:bodyPr>
          <a:lstStyle/>
          <a:p>
            <a:pPr algn="l"/>
            <a:r>
              <a:rPr sz="900" b="0" i="0">
                <a:solidFill>
                  <a:srgbClr val="9BAFC6"/>
                </a:solidFill>
                <a:latin typeface="Inter"/>
              </a:rPr>
              <a:t>AuxFlow · Static Analysis for Multi-Pass Document Compilation</a:t>
            </a:r>
          </a:p>
        </p:txBody>
      </p:sp>
      <p:sp>
        <p:nvSpPr>
          <p:cNvPr id="6" name="TextBox 5"/>
          <p:cNvSpPr txBox="1"/>
          <p:nvPr/>
        </p:nvSpPr>
        <p:spPr>
          <a:xfrm>
            <a:off x="10058400" y="6419088"/>
            <a:ext cx="1673352" cy="274320"/>
          </a:xfrm>
          <a:prstGeom prst="rect">
            <a:avLst/>
          </a:prstGeom>
          <a:noFill/>
        </p:spPr>
        <p:txBody>
          <a:bodyPr wrap="square" anchor="t" lIns="76200" rIns="76200" tIns="38100" bIns="38100">
            <a:noAutofit/>
          </a:bodyPr>
          <a:lstStyle/>
          <a:p>
            <a:pPr algn="r"/>
            <a:r>
              <a:rPr sz="900" b="0" i="0">
                <a:solidFill>
                  <a:srgbClr val="9BAFC6"/>
                </a:solidFill>
                <a:latin typeface="Inter"/>
              </a:rPr>
              <a:t>08 / 08</a:t>
            </a:r>
          </a:p>
        </p:txBody>
      </p:sp>
      <p:sp>
        <p:nvSpPr>
          <p:cNvPr id="7" name="Rounded Rectangle 6"/>
          <p:cNvSpPr/>
          <p:nvPr/>
        </p:nvSpPr>
        <p:spPr>
          <a:xfrm>
            <a:off x="640080" y="1783080"/>
            <a:ext cx="3393338" cy="2697480"/>
          </a:xfrm>
          <a:prstGeom prst="roundRect">
            <a:avLst>
              <a:gd name="adj" fmla="val 5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83080"/>
            <a:ext cx="3393338"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57400"/>
            <a:ext cx="2881274" cy="548640"/>
          </a:xfrm>
          <a:prstGeom prst="rect">
            <a:avLst/>
          </a:prstGeom>
          <a:noFill/>
        </p:spPr>
        <p:txBody>
          <a:bodyPr wrap="square" anchor="t" lIns="76200" rIns="76200" tIns="38100" bIns="38100">
            <a:noAutofit/>
          </a:bodyPr>
          <a:lstStyle/>
          <a:p>
            <a:pPr algn="l"/>
            <a:r>
              <a:rPr sz="2400" b="1" i="0">
                <a:solidFill>
                  <a:srgbClr val="38BDF8"/>
                </a:solidFill>
                <a:latin typeface="Inter"/>
              </a:rPr>
              <a:t>01</a:t>
            </a:r>
          </a:p>
        </p:txBody>
      </p:sp>
      <p:sp>
        <p:nvSpPr>
          <p:cNvPr id="10" name="TextBox 9"/>
          <p:cNvSpPr txBox="1"/>
          <p:nvPr/>
        </p:nvSpPr>
        <p:spPr>
          <a:xfrm>
            <a:off x="896112" y="2697480"/>
            <a:ext cx="2881274" cy="685800"/>
          </a:xfrm>
          <a:prstGeom prst="rect">
            <a:avLst/>
          </a:prstGeom>
          <a:noFill/>
        </p:spPr>
        <p:txBody>
          <a:bodyPr wrap="square" anchor="t" lIns="76200" rIns="76200" tIns="38100" bIns="38100">
            <a:noAutofit/>
          </a:bodyPr>
          <a:lstStyle/>
          <a:p>
            <a:pPr algn="l">
              <a:lnSpc>
                <a:spcPct val="105000"/>
              </a:lnSpc>
            </a:pPr>
            <a:r>
              <a:rPr sz="1600" b="1" i="0">
                <a:solidFill>
                  <a:srgbClr val="E6EDF3"/>
                </a:solidFill>
                <a:latin typeface="Inter"/>
              </a:rPr>
              <a:t>Compiler concepts applied</a:t>
            </a:r>
          </a:p>
        </p:txBody>
      </p:sp>
      <p:sp>
        <p:nvSpPr>
          <p:cNvPr id="11" name="TextBox 10"/>
          <p:cNvSpPr txBox="1"/>
          <p:nvPr/>
        </p:nvSpPr>
        <p:spPr>
          <a:xfrm>
            <a:off x="896112" y="3383280"/>
            <a:ext cx="2881274" cy="914400"/>
          </a:xfrm>
          <a:prstGeom prst="rect">
            <a:avLst/>
          </a:prstGeom>
          <a:noFill/>
        </p:spPr>
        <p:txBody>
          <a:bodyPr wrap="square" anchor="t" lIns="76200" rIns="76200" tIns="38100" bIns="38100">
            <a:noAutofit/>
          </a:bodyPr>
          <a:lstStyle/>
          <a:p>
            <a:pPr algn="l">
              <a:lnSpc>
                <a:spcPct val="112000"/>
              </a:lnSpc>
            </a:pPr>
            <a:r>
              <a:rPr sz="1200" b="0" i="0">
                <a:solidFill>
                  <a:srgbClr val="9BAFC6"/>
                </a:solidFill>
                <a:latin typeface="Inter"/>
              </a:rPr>
              <a:t>Lexer, parser, AST, symbol tables, an IR, and dataflow and graph analysis — a complete front-end.</a:t>
            </a:r>
          </a:p>
        </p:txBody>
      </p:sp>
      <p:sp>
        <p:nvSpPr>
          <p:cNvPr id="12" name="Rounded Rectangle 11"/>
          <p:cNvSpPr/>
          <p:nvPr/>
        </p:nvSpPr>
        <p:spPr>
          <a:xfrm>
            <a:off x="4399178" y="1783080"/>
            <a:ext cx="3393338" cy="2697480"/>
          </a:xfrm>
          <a:prstGeom prst="roundRect">
            <a:avLst>
              <a:gd name="adj" fmla="val 5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9178" y="1783080"/>
            <a:ext cx="3393338"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5210" y="2057400"/>
            <a:ext cx="2881274" cy="548640"/>
          </a:xfrm>
          <a:prstGeom prst="rect">
            <a:avLst/>
          </a:prstGeom>
          <a:noFill/>
        </p:spPr>
        <p:txBody>
          <a:bodyPr wrap="square" anchor="t" lIns="76200" rIns="76200" tIns="38100" bIns="38100">
            <a:noAutofit/>
          </a:bodyPr>
          <a:lstStyle/>
          <a:p>
            <a:pPr algn="l"/>
            <a:r>
              <a:rPr sz="2400" b="1" i="0">
                <a:solidFill>
                  <a:srgbClr val="38BDF8"/>
                </a:solidFill>
                <a:latin typeface="Inter"/>
              </a:rPr>
              <a:t>02</a:t>
            </a:r>
          </a:p>
        </p:txBody>
      </p:sp>
      <p:sp>
        <p:nvSpPr>
          <p:cNvPr id="15" name="TextBox 14"/>
          <p:cNvSpPr txBox="1"/>
          <p:nvPr/>
        </p:nvSpPr>
        <p:spPr>
          <a:xfrm>
            <a:off x="4655210" y="2697480"/>
            <a:ext cx="2881274" cy="685800"/>
          </a:xfrm>
          <a:prstGeom prst="rect">
            <a:avLst/>
          </a:prstGeom>
          <a:noFill/>
        </p:spPr>
        <p:txBody>
          <a:bodyPr wrap="square" anchor="t" lIns="76200" rIns="76200" tIns="38100" bIns="38100">
            <a:noAutofit/>
          </a:bodyPr>
          <a:lstStyle/>
          <a:p>
            <a:pPr algn="l">
              <a:lnSpc>
                <a:spcPct val="105000"/>
              </a:lnSpc>
            </a:pPr>
            <a:r>
              <a:rPr sz="1600" b="1" i="0">
                <a:solidFill>
                  <a:srgbClr val="E6EDF3"/>
                </a:solidFill>
                <a:latin typeface="Inter"/>
              </a:rPr>
              <a:t>Dependency-based static analysis</a:t>
            </a:r>
          </a:p>
        </p:txBody>
      </p:sp>
      <p:sp>
        <p:nvSpPr>
          <p:cNvPr id="16" name="TextBox 15"/>
          <p:cNvSpPr txBox="1"/>
          <p:nvPr/>
        </p:nvSpPr>
        <p:spPr>
          <a:xfrm>
            <a:off x="4655210" y="3383280"/>
            <a:ext cx="2881274" cy="914400"/>
          </a:xfrm>
          <a:prstGeom prst="rect">
            <a:avLst/>
          </a:prstGeom>
          <a:noFill/>
        </p:spPr>
        <p:txBody>
          <a:bodyPr wrap="square" anchor="t" lIns="76200" rIns="76200" tIns="38100" bIns="38100">
            <a:noAutofit/>
          </a:bodyPr>
          <a:lstStyle/>
          <a:p>
            <a:pPr algn="l">
              <a:lnSpc>
                <a:spcPct val="112000"/>
              </a:lnSpc>
            </a:pPr>
            <a:r>
              <a:rPr sz="1200" b="0" i="0">
                <a:solidFill>
                  <a:srgbClr val="9BAFC6"/>
                </a:solidFill>
                <a:latin typeface="Inter"/>
              </a:rPr>
              <a:t>Cross-reference dependencies modelled as a graph and analysed statically, without running any engine.</a:t>
            </a:r>
          </a:p>
        </p:txBody>
      </p:sp>
      <p:sp>
        <p:nvSpPr>
          <p:cNvPr id="17" name="Rounded Rectangle 16"/>
          <p:cNvSpPr/>
          <p:nvPr/>
        </p:nvSpPr>
        <p:spPr>
          <a:xfrm>
            <a:off x="8158276" y="1783080"/>
            <a:ext cx="3393338" cy="2697480"/>
          </a:xfrm>
          <a:prstGeom prst="roundRect">
            <a:avLst>
              <a:gd name="adj" fmla="val 5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58276" y="1783080"/>
            <a:ext cx="3393338"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4308" y="2057400"/>
            <a:ext cx="2881274" cy="548640"/>
          </a:xfrm>
          <a:prstGeom prst="rect">
            <a:avLst/>
          </a:prstGeom>
          <a:noFill/>
        </p:spPr>
        <p:txBody>
          <a:bodyPr wrap="square" anchor="t" lIns="76200" rIns="76200" tIns="38100" bIns="38100">
            <a:noAutofit/>
          </a:bodyPr>
          <a:lstStyle/>
          <a:p>
            <a:pPr algn="l"/>
            <a:r>
              <a:rPr sz="2400" b="1" i="0">
                <a:solidFill>
                  <a:srgbClr val="38BDF8"/>
                </a:solidFill>
                <a:latin typeface="Inter"/>
              </a:rPr>
              <a:t>03</a:t>
            </a:r>
          </a:p>
        </p:txBody>
      </p:sp>
      <p:sp>
        <p:nvSpPr>
          <p:cNvPr id="20" name="TextBox 19"/>
          <p:cNvSpPr txBox="1"/>
          <p:nvPr/>
        </p:nvSpPr>
        <p:spPr>
          <a:xfrm>
            <a:off x="8414308" y="2697480"/>
            <a:ext cx="2881274" cy="685800"/>
          </a:xfrm>
          <a:prstGeom prst="rect">
            <a:avLst/>
          </a:prstGeom>
          <a:noFill/>
        </p:spPr>
        <p:txBody>
          <a:bodyPr wrap="square" anchor="t" lIns="76200" rIns="76200" tIns="38100" bIns="38100">
            <a:noAutofit/>
          </a:bodyPr>
          <a:lstStyle/>
          <a:p>
            <a:pPr algn="l">
              <a:lnSpc>
                <a:spcPct val="105000"/>
              </a:lnSpc>
            </a:pPr>
            <a:r>
              <a:rPr sz="1600" b="1" i="0">
                <a:solidFill>
                  <a:srgbClr val="E6EDF3"/>
                </a:solidFill>
                <a:latin typeface="Inter"/>
              </a:rPr>
              <a:t>Explainable, conservative results</a:t>
            </a:r>
          </a:p>
        </p:txBody>
      </p:sp>
      <p:sp>
        <p:nvSpPr>
          <p:cNvPr id="21" name="TextBox 20"/>
          <p:cNvSpPr txBox="1"/>
          <p:nvPr/>
        </p:nvSpPr>
        <p:spPr>
          <a:xfrm>
            <a:off x="8414308" y="3383280"/>
            <a:ext cx="2881274" cy="914400"/>
          </a:xfrm>
          <a:prstGeom prst="rect">
            <a:avLst/>
          </a:prstGeom>
          <a:noFill/>
        </p:spPr>
        <p:txBody>
          <a:bodyPr wrap="square" anchor="t" lIns="76200" rIns="76200" tIns="38100" bIns="38100">
            <a:noAutofit/>
          </a:bodyPr>
          <a:lstStyle/>
          <a:p>
            <a:pPr algn="l">
              <a:lnSpc>
                <a:spcPct val="112000"/>
              </a:lnSpc>
            </a:pPr>
            <a:r>
              <a:rPr sz="1200" b="0" i="0">
                <a:solidFill>
                  <a:srgbClr val="9BAFC6"/>
                </a:solidFill>
                <a:latin typeface="Inter"/>
              </a:rPr>
              <a:t>A readable, source-located report that flags risky feedback and defers safely when unsure.</a:t>
            </a:r>
          </a:p>
        </p:txBody>
      </p:sp>
      <p:sp>
        <p:nvSpPr>
          <p:cNvPr id="22" name="Rounded Rectangle 21"/>
          <p:cNvSpPr/>
          <p:nvPr/>
        </p:nvSpPr>
        <p:spPr>
          <a:xfrm>
            <a:off x="640080" y="4983480"/>
            <a:ext cx="1779971" cy="77724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Source</a:t>
            </a:r>
          </a:p>
        </p:txBody>
      </p:sp>
      <p:cxnSp>
        <p:nvCxnSpPr>
          <p:cNvPr id="23" name="Connector 22"/>
          <p:cNvCxnSpPr/>
          <p:nvPr/>
        </p:nvCxnSpPr>
        <p:spPr>
          <a:xfrm>
            <a:off x="2420051" y="5372100"/>
            <a:ext cx="502920"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922971" y="4983480"/>
            <a:ext cx="1779971" cy="77724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Front-End</a:t>
            </a:r>
          </a:p>
        </p:txBody>
      </p:sp>
      <p:cxnSp>
        <p:nvCxnSpPr>
          <p:cNvPr id="25" name="Connector 24"/>
          <p:cNvCxnSpPr/>
          <p:nvPr/>
        </p:nvCxnSpPr>
        <p:spPr>
          <a:xfrm>
            <a:off x="4702942" y="5372100"/>
            <a:ext cx="502920"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205862" y="4983480"/>
            <a:ext cx="1779971" cy="777240"/>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38BDF8"/>
                </a:solidFill>
                <a:latin typeface="Inter"/>
              </a:rPr>
              <a:t>IR</a:t>
            </a:r>
          </a:p>
        </p:txBody>
      </p:sp>
      <p:cxnSp>
        <p:nvCxnSpPr>
          <p:cNvPr id="27" name="Connector 26"/>
          <p:cNvCxnSpPr/>
          <p:nvPr/>
        </p:nvCxnSpPr>
        <p:spPr>
          <a:xfrm>
            <a:off x="6985833" y="5372100"/>
            <a:ext cx="502920"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488753" y="4983480"/>
            <a:ext cx="1779971" cy="777240"/>
          </a:xfrm>
          <a:prstGeom prst="roundRect">
            <a:avLst>
              <a:gd name="adj" fmla="val 14000"/>
            </a:avLst>
          </a:prstGeom>
          <a:solidFill>
            <a:srgbClr val="1B3A57"/>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38BDF8"/>
                </a:solidFill>
                <a:latin typeface="Inter"/>
              </a:rPr>
              <a:t>Analysis</a:t>
            </a:r>
          </a:p>
        </p:txBody>
      </p:sp>
      <p:cxnSp>
        <p:nvCxnSpPr>
          <p:cNvPr id="29" name="Connector 28"/>
          <p:cNvCxnSpPr/>
          <p:nvPr/>
        </p:nvCxnSpPr>
        <p:spPr>
          <a:xfrm>
            <a:off x="9268724" y="5372100"/>
            <a:ext cx="502920" cy="0"/>
          </a:xfrm>
          <a:prstGeom prst="line">
            <a:avLst/>
          </a:prstGeom>
          <a:ln w="2857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771644" y="4983480"/>
            <a:ext cx="1779971" cy="777240"/>
          </a:xfrm>
          <a:prstGeom prst="roundRect">
            <a:avLst>
              <a:gd name="adj" fmla="val 14000"/>
            </a:avLst>
          </a:prstGeom>
          <a:solidFill>
            <a:srgbClr val="152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noAutofit/>
          </a:bodyPr>
          <a:lstStyle/>
          <a:p>
            <a:pPr algn="ctr"/>
            <a:r>
              <a:rPr sz="1500" b="1" i="0">
                <a:solidFill>
                  <a:srgbClr val="E6EDF3"/>
                </a:solidFill>
                <a:latin typeface="Inter"/>
              </a:rPr>
              <a:t>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