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52A3E"/>
          </a:solidFill>
          <a:ln w="19050">
            <a:solidFill>
              <a:srgbClr val="1B3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rIns="731520" tIns="640080"/>
          <a:lstStyle/>
          <a:p>
            <a:pPr algn="ctr">
              <a:defRPr sz="1300" b="1">
                <a:solidFill>
                  <a:srgbClr val="38BDF8"/>
                </a:solidFill>
                <a:latin typeface="Trebuchet MS"/>
              </a:defRPr>
            </a:pPr>
            <a:r>
              <a:t>COMPILER DESIGN LAB   ·   REVIEW 3 (FINAL VIVA)</a:t>
            </a:r>
          </a:p>
          <a:p>
            <a:pPr>
              <a:spcBef>
                <a:spcPts val="1200"/>
              </a:spcBef>
              <a:defRPr sz="3000" b="1">
                <a:solidFill>
                  <a:srgbClr val="E6EDF3"/>
                </a:solidFill>
                <a:latin typeface="Trebuchet MS"/>
              </a:defRPr>
            </a:pPr>
            <a:r>
              <a:t>AuxFlow: Analysis, Optimization, &amp; Empirical Evaluation</a:t>
            </a:r>
          </a:p>
          <a:p>
            <a:pPr>
              <a:spcBef>
                <a:spcPts val="1000"/>
              </a:spcBef>
              <a:defRPr sz="1500">
                <a:solidFill>
                  <a:srgbClr val="9BAFC6"/>
                </a:solidFill>
                <a:latin typeface="Calibri"/>
              </a:defRPr>
            </a:pPr>
            <a:r>
              <a:t>Cycle Classification, Build Planning, Runtime Verification, and 15-Member Benchmark Corpus Results</a:t>
            </a:r>
          </a:p>
          <a:p>
            <a:pPr>
              <a:spcBef>
                <a:spcPts val="4000"/>
              </a:spcBef>
              <a:defRPr sz="1400">
                <a:solidFill>
                  <a:srgbClr val="E6EDF3"/>
                </a:solidFill>
                <a:latin typeface="Calibri"/>
              </a:defRPr>
            </a:pPr>
            <a:r>
              <a:t>Student: Upayan Mazumder (24BDS0367)</a:t>
            </a:r>
            <a:br/>
            <a:r>
              <a:t>Course: Compiler Design Lab</a:t>
            </a:r>
            <a:br/>
            <a:r>
              <a:t>Milestone: Review 3 — Full 16-Phase Implementation &amp; Evaluation Complete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Trebuchet MS"/>
              </a:defRPr>
            </a:pPr>
            <a:r>
              <a:t>PROJECT ARCHITECTURE</a:t>
            </a:r>
          </a:p>
          <a:p>
            <a:pPr>
              <a:defRPr sz="2200" b="1">
                <a:solidFill>
                  <a:srgbClr val="E6EDF3"/>
                </a:solidFill>
                <a:latin typeface="Trebuchet MS"/>
              </a:defRPr>
            </a:pPr>
            <a:r>
              <a:t>End-to-End Compiler Pipeline for Multi-Pass Documents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365760"/>
            <a:ext cx="13716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 b="1">
                <a:solidFill>
                  <a:srgbClr val="9BAFC6"/>
                </a:solidFill>
                <a:latin typeface="Trebuchet MS"/>
              </a:defRPr>
            </a:pPr>
            <a:r>
              <a:t>02 / 08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28416" cy="4754880"/>
          </a:xfrm>
          <a:prstGeom prst="roundRect">
            <a:avLst/>
          </a:prstGeom>
          <a:solidFill>
            <a:srgbClr val="152A3E"/>
          </a:solidFill>
          <a:ln w="19050">
            <a:solidFill>
              <a:srgbClr val="1B3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Trebuchet MS"/>
              </a:defRPr>
            </a:pPr>
            <a:r>
              <a:t>PHASES 1–7: FRONT-END</a:t>
            </a:r>
          </a:p>
          <a:p>
            <a:pPr>
              <a:spcBef>
                <a:spcPts val="1000"/>
              </a:spcBef>
              <a:defRPr b="1" sz="1200">
                <a:solidFill>
                  <a:srgbClr val="E6EDF3"/>
                </a:solidFill>
              </a:defRPr>
            </a:pPr>
            <a:r>
              <a:t>• Lexer &amp; Catcodes</a:t>
            </a:r>
          </a:p>
          <a:p>
            <a:pPr>
              <a:defRPr sz="1100">
                <a:solidFill>
                  <a:srgbClr val="9BAFC6"/>
                </a:solidFill>
              </a:defRPr>
            </a:pPr>
            <a:r>
              <a:t>  16 TeX category codes, single-pass scanner, precise source spans.</a:t>
            </a:r>
          </a:p>
          <a:p>
            <a:pPr>
              <a:spcBef>
                <a:spcPts val="1000"/>
              </a:spcBef>
              <a:defRPr b="1" sz="1200">
                <a:solidFill>
                  <a:srgbClr val="E6EDF3"/>
                </a:solidFill>
              </a:defRPr>
            </a:pPr>
            <a:r>
              <a:t>• Recursive Descent Parser</a:t>
            </a:r>
          </a:p>
          <a:p>
            <a:pPr>
              <a:defRPr sz="1100">
                <a:solidFill>
                  <a:srgbClr val="9BAFC6"/>
                </a:solidFill>
              </a:defRPr>
            </a:pPr>
            <a:r>
              <a:t>  Argument signatures, error recovery, multi-file AST forest.</a:t>
            </a:r>
          </a:p>
          <a:p>
            <a:pPr>
              <a:spcBef>
                <a:spcPts val="1000"/>
              </a:spcBef>
              <a:defRPr b="1" sz="1200">
                <a:solidFill>
                  <a:srgbClr val="E6EDF3"/>
                </a:solidFill>
              </a:defRPr>
            </a:pPr>
            <a:r>
              <a:t>• Symbol Tables &amp; Checks</a:t>
            </a:r>
          </a:p>
          <a:p>
            <a:pPr>
              <a:defRPr sz="1100">
                <a:solidFill>
                  <a:srgbClr val="9BAFC6"/>
                </a:solidFill>
              </a:defRPr>
            </a:pPr>
            <a:r>
              <a:t>  2-pass declaration/resolution, zero-engine diagnostics.</a:t>
            </a:r>
          </a:p>
          <a:p>
            <a:pPr>
              <a:spcBef>
                <a:spcPts val="1000"/>
              </a:spcBef>
              <a:defRPr b="1" sz="1200">
                <a:solidFill>
                  <a:srgbClr val="E6EDF3"/>
                </a:solidFill>
              </a:defRPr>
            </a:pPr>
            <a:r>
              <a:t>• Auxiliary Reference Graph</a:t>
            </a:r>
          </a:p>
          <a:p>
            <a:pPr>
              <a:defRPr sz="1100">
                <a:solidFill>
                  <a:srgbClr val="9BAFC6"/>
                </a:solidFill>
              </a:defRPr>
            </a:pPr>
            <a:r>
              <a:t>  Fact instances with exists/value split and lagged typed edges.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463040"/>
            <a:ext cx="3328416" cy="4754880"/>
          </a:xfrm>
          <a:prstGeom prst="roundRect">
            <a:avLst/>
          </a:prstGeom>
          <a:solidFill>
            <a:srgbClr val="152A3E"/>
          </a:solidFill>
          <a:ln w="19050">
            <a:solidFill>
              <a:srgbClr val="1B3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08576" y="164592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Trebuchet MS"/>
              </a:defRPr>
            </a:pPr>
            <a:r>
              <a:t>PHASES 8–11: ANALYSIS</a:t>
            </a:r>
          </a:p>
          <a:p>
            <a:pPr>
              <a:spcBef>
                <a:spcPts val="1000"/>
              </a:spcBef>
              <a:defRPr b="1" sz="1200">
                <a:solidFill>
                  <a:srgbClr val="E6EDF3"/>
                </a:solidFill>
              </a:defRPr>
            </a:pPr>
            <a:r>
              <a:t>• Iterative Tarjan SCC</a:t>
            </a:r>
          </a:p>
          <a:p>
            <a:pPr>
              <a:defRPr sz="1100">
                <a:solidFill>
                  <a:srgbClr val="9BAFC6"/>
                </a:solidFill>
              </a:defRPr>
            </a:pPr>
            <a:r>
              <a:t>  Condensation DAG computation without interpreter stack limits.</a:t>
            </a:r>
          </a:p>
          <a:p>
            <a:pPr>
              <a:spcBef>
                <a:spcPts val="1000"/>
              </a:spcBef>
              <a:defRPr b="1" sz="1200">
                <a:solidFill>
                  <a:srgbClr val="E6EDF3"/>
                </a:solidFill>
              </a:defRPr>
            </a:pPr>
            <a:r>
              <a:t>• Taint Analysis</a:t>
            </a:r>
          </a:p>
          <a:p>
            <a:pPr>
              <a:defRPr sz="1100">
                <a:solidFill>
                  <a:srgbClr val="9BAFC6"/>
                </a:solidFill>
              </a:defRPr>
            </a:pPr>
            <a:r>
              <a:t>  Worklist reachability from condition reads to CONTENT_VOLUME.</a:t>
            </a:r>
          </a:p>
          <a:p>
            <a:pPr>
              <a:spcBef>
                <a:spcPts val="1000"/>
              </a:spcBef>
              <a:defRPr b="1" sz="1200">
                <a:solidFill>
                  <a:srgbClr val="E6EDF3"/>
                </a:solidFill>
              </a:defRPr>
            </a:pPr>
            <a:r>
              <a:t>• Stable-Pass Recurrence</a:t>
            </a:r>
          </a:p>
          <a:p>
            <a:pPr>
              <a:defRPr sz="1100">
                <a:solidFill>
                  <a:srgbClr val="9BAFC6"/>
                </a:solidFill>
              </a:defRPr>
            </a:pPr>
            <a:r>
              <a:t>  Derives exact pass numbers P for fact stabilization.</a:t>
            </a:r>
          </a:p>
          <a:p>
            <a:pPr>
              <a:spcBef>
                <a:spcPts val="1000"/>
              </a:spcBef>
              <a:defRPr b="1" sz="1200">
                <a:solidFill>
                  <a:srgbClr val="E6EDF3"/>
                </a:solidFill>
              </a:defRPr>
            </a:pPr>
            <a:r>
              <a:t>• 4-State Classification</a:t>
            </a:r>
          </a:p>
          <a:p>
            <a:pPr>
              <a:defRPr sz="1100">
                <a:solidFill>
                  <a:srgbClr val="9BAFC6"/>
                </a:solidFill>
              </a:defRPr>
            </a:pPr>
            <a:r>
              <a:t>  CERTIFIED, BENIGN_CYCLIC, AMPLIFYING, UNKNOWN.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463040"/>
            <a:ext cx="3328416" cy="4754880"/>
          </a:xfrm>
          <a:prstGeom prst="roundRect">
            <a:avLst/>
          </a:prstGeom>
          <a:solidFill>
            <a:srgbClr val="152A3E"/>
          </a:solidFill>
          <a:ln w="19050">
            <a:solidFill>
              <a:srgbClr val="1B3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02752" y="164592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Trebuchet MS"/>
              </a:defRPr>
            </a:pPr>
            <a:r>
              <a:t>PHASES 12–16: EVALUATION</a:t>
            </a:r>
          </a:p>
          <a:p>
            <a:pPr>
              <a:spcBef>
                <a:spcPts val="1000"/>
              </a:spcBef>
              <a:defRPr b="1" sz="1200">
                <a:solidFill>
                  <a:srgbClr val="E6EDF3"/>
                </a:solidFill>
              </a:defRPr>
            </a:pPr>
            <a:r>
              <a:t>• Build Planner Optimizer</a:t>
            </a:r>
          </a:p>
          <a:p>
            <a:pPr>
              <a:defRPr sz="1100">
                <a:solidFill>
                  <a:srgbClr val="9BAFC6"/>
                </a:solidFill>
              </a:defRPr>
            </a:pPr>
            <a:r>
              <a:t>  Dead-file/tool elimination, run-count derivation, safety invariant.</a:t>
            </a:r>
          </a:p>
          <a:p>
            <a:pPr>
              <a:spcBef>
                <a:spcPts val="1000"/>
              </a:spcBef>
              <a:defRPr b="1" sz="1200">
                <a:solidFill>
                  <a:srgbClr val="E6EDF3"/>
                </a:solidFill>
              </a:defRPr>
            </a:pPr>
            <a:r>
              <a:t>• Runtime Verification</a:t>
            </a:r>
          </a:p>
          <a:p>
            <a:pPr>
              <a:defRPr sz="1100">
                <a:solidFill>
                  <a:srgbClr val="9BAFC6"/>
                </a:solidFill>
              </a:defRPr>
            </a:pPr>
            <a:r>
              <a:t>  Canonical normalization of auxiliary records into fixpoint sets.</a:t>
            </a:r>
          </a:p>
          <a:p>
            <a:pPr>
              <a:spcBef>
                <a:spcPts val="1000"/>
              </a:spcBef>
              <a:defRPr b="1" sz="1200">
                <a:solidFill>
                  <a:srgbClr val="E6EDF3"/>
                </a:solidFill>
              </a:defRPr>
            </a:pPr>
            <a:r>
              <a:t>• 15-Member Corpus</a:t>
            </a:r>
          </a:p>
          <a:p>
            <a:pPr>
              <a:defRPr sz="1100">
                <a:solidFill>
                  <a:srgbClr val="9BAFC6"/>
                </a:solidFill>
              </a:defRPr>
            </a:pPr>
            <a:r>
              <a:t>  M1–M8 non-convergence mechanisms covering all declared gates.</a:t>
            </a:r>
          </a:p>
          <a:p>
            <a:pPr>
              <a:spcBef>
                <a:spcPts val="1000"/>
              </a:spcBef>
              <a:defRPr b="1" sz="1200">
                <a:solidFill>
                  <a:srgbClr val="E6EDF3"/>
                </a:solidFill>
              </a:defRPr>
            </a:pPr>
            <a:r>
              <a:t>• 7 Baselines Measured</a:t>
            </a:r>
          </a:p>
          <a:p>
            <a:pPr>
              <a:defRPr sz="1100">
                <a:solidFill>
                  <a:srgbClr val="9BAFC6"/>
                </a:solidFill>
              </a:defRPr>
            </a:pPr>
            <a:r>
              <a:t>  1050 containerized runs prove Gate 1 and Gate 2 (EC1) empirically.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Trebuchet MS"/>
              </a:defRPr>
            </a:pPr>
            <a:r>
              <a:t>CYCLE &amp; TAINT ANALYSIS</a:t>
            </a:r>
          </a:p>
          <a:p>
            <a:pPr>
              <a:defRPr sz="2200" b="1">
                <a:solidFill>
                  <a:srgbClr val="E6EDF3"/>
                </a:solidFill>
                <a:latin typeface="Trebuchet MS"/>
              </a:defRPr>
            </a:pPr>
            <a:r>
              <a:t>Detecting Amplifying Feedback Without Full Simulation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365760"/>
            <a:ext cx="13716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 b="1">
                <a:solidFill>
                  <a:srgbClr val="9BAFC6"/>
                </a:solidFill>
                <a:latin typeface="Trebuchet MS"/>
              </a:defRPr>
            </a:pPr>
            <a:r>
              <a:t>03 / 08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52A3E"/>
          </a:solidFill>
          <a:ln w="19050">
            <a:solidFill>
              <a:srgbClr val="1B3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Trebuchet MS"/>
              </a:defRPr>
            </a:pPr>
            <a:r>
              <a:t>THE TAINT-SEED MECHANISM</a:t>
            </a:r>
          </a:p>
          <a:p>
            <a:pPr>
              <a:spcBef>
                <a:spcPts val="1000"/>
              </a:spcBef>
              <a:defRPr sz="1200">
                <a:solidFill>
                  <a:srgbClr val="E6EDF3"/>
                </a:solidFill>
              </a:defRPr>
            </a:pPr>
            <a:r>
              <a:t>• Core Question: Can a cross-reference value influence how much content the document generates?</a:t>
            </a:r>
          </a:p>
          <a:p>
            <a:pPr>
              <a:spcBef>
                <a:spcPts val="1000"/>
              </a:spcBef>
              <a:defRPr sz="1200">
                <a:solidFill>
                  <a:srgbClr val="E6EDF3"/>
                </a:solidFill>
              </a:defRPr>
            </a:pPr>
            <a:r>
              <a:t>• Taint Seeds: Facts whose values are read inside loop conditions or bounds (\forloop, \whiledo, \ifthenelse).</a:t>
            </a:r>
          </a:p>
          <a:p>
            <a:pPr>
              <a:spcBef>
                <a:spcPts val="1000"/>
              </a:spcBef>
              <a:defRPr sz="1200">
                <a:solidFill>
                  <a:srgbClr val="E6EDF3"/>
                </a:solidFill>
              </a:defRPr>
            </a:pPr>
            <a:r>
              <a:t>• Forward Worklist: Taint propagates monotonically along value-carrying edges (push-at-most-once invariant).</a:t>
            </a:r>
          </a:p>
          <a:p>
            <a:pPr>
              <a:spcBef>
                <a:spcPts val="1000"/>
              </a:spcBef>
              <a:defRPr sz="1200">
                <a:solidFill>
                  <a:srgbClr val="E6EDF3"/>
                </a:solidFill>
              </a:defRPr>
            </a:pPr>
            <a:r>
              <a:t>• STRUCTURAL Edge Insertion: Each tainted fact gets a STRUCTURAL edge f -&gt; CONTENT_VOLUME with its verbatim source span.</a:t>
            </a:r>
          </a:p>
          <a:p>
            <a:pPr>
              <a:spcBef>
                <a:spcPts val="1000"/>
              </a:spcBef>
              <a:defRPr sz="1200">
                <a:solidFill>
                  <a:srgbClr val="E6EDF3"/>
                </a:solidFill>
              </a:defRPr>
            </a:pPr>
            <a:r>
              <a:t>• Cycle Decision: If any SCC contains a STRUCTURAL edge, the document is classified AMPLIFYING.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42255" cy="4754880"/>
          </a:xfrm>
          <a:prstGeom prst="roundRect">
            <a:avLst/>
          </a:prstGeom>
          <a:solidFill>
            <a:srgbClr val="152A3E"/>
          </a:solidFill>
          <a:ln w="19050">
            <a:solidFill>
              <a:srgbClr val="1B3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764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4D399"/>
                </a:solidFill>
                <a:latin typeface="Trebuchet MS"/>
              </a:defRPr>
            </a:pPr>
            <a:r>
              <a:t>FOUR-STATE CLASSIFICATION DECISION</a:t>
            </a:r>
          </a:p>
          <a:p>
            <a:pPr>
              <a:spcBef>
                <a:spcPts val="1200"/>
              </a:spcBef>
              <a:defRPr b="1" sz="1200">
                <a:solidFill>
                  <a:srgbClr val="E6EDF3"/>
                </a:solidFill>
              </a:defRPr>
            </a:pPr>
            <a:r>
              <a:t>[CERTIFIED (Bound = P + 1 passes)]</a:t>
            </a:r>
          </a:p>
          <a:p>
            <a:pPr>
              <a:defRPr sz="1100">
                <a:solidFill>
                  <a:srgbClr val="9BAFC6"/>
                </a:solidFill>
              </a:defRPr>
            </a:pPr>
            <a:r>
              <a:t>  Provably acyclic dependency structure. Standard documents settle within derived bound.</a:t>
            </a:r>
          </a:p>
          <a:p>
            <a:pPr>
              <a:spcBef>
                <a:spcPts val="1200"/>
              </a:spcBef>
              <a:defRPr b="1" sz="1200">
                <a:solidFill>
                  <a:srgbClr val="E6EDF3"/>
                </a:solidFill>
              </a:defRPr>
            </a:pPr>
            <a:r>
              <a:t>[BENIGN_CYCLIC (Value-only cycle)]</a:t>
            </a:r>
          </a:p>
          <a:p>
            <a:pPr>
              <a:defRPr sz="1100">
                <a:solidFill>
                  <a:srgbClr val="9BAFC6"/>
                </a:solidFill>
              </a:defRPr>
            </a:pPr>
            <a:r>
              <a:t>  Cycles exist in value edges (e.g. section lists) but no content quantity changes.</a:t>
            </a:r>
          </a:p>
          <a:p>
            <a:pPr>
              <a:spcBef>
                <a:spcPts val="1200"/>
              </a:spcBef>
              <a:defRPr b="1" sz="1200">
                <a:solidFill>
                  <a:srgbClr val="E6EDF3"/>
                </a:solidFill>
              </a:defRPr>
            </a:pPr>
            <a:r>
              <a:t>[AMPLIFYING (Refused by default)]</a:t>
            </a:r>
          </a:p>
          <a:p>
            <a:pPr>
              <a:defRPr sz="1100">
                <a:solidFill>
                  <a:srgbClr val="9BAFC6"/>
                </a:solidFill>
              </a:defRPr>
            </a:pPr>
            <a:r>
              <a:t>  A cross-reference controls content growth. High divergence risk. Requires --force.</a:t>
            </a:r>
          </a:p>
          <a:p>
            <a:pPr>
              <a:spcBef>
                <a:spcPts val="1200"/>
              </a:spcBef>
              <a:defRPr b="1" sz="1200">
                <a:solidFill>
                  <a:srgbClr val="E6EDF3"/>
                </a:solidFill>
              </a:defRPr>
            </a:pPr>
            <a:r>
              <a:t>[UNKNOWN (Conservative fallback)]</a:t>
            </a:r>
          </a:p>
          <a:p>
            <a:pPr>
              <a:defRPr sz="1100">
                <a:solidFill>
                  <a:srgbClr val="9BAFC6"/>
                </a:solidFill>
              </a:defRPr>
            </a:pPr>
            <a:r>
              <a:t>  Contains unmodelled packages/macros. Falls back to default 3-run schedule.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Trebuchet MS"/>
              </a:defRPr>
            </a:pPr>
            <a:r>
              <a:t>PLANNER &amp; VERIFICATION</a:t>
            </a:r>
          </a:p>
          <a:p>
            <a:pPr>
              <a:defRPr sz="2200" b="1">
                <a:solidFill>
                  <a:srgbClr val="E6EDF3"/>
                </a:solidFill>
                <a:latin typeface="Trebuchet MS"/>
              </a:defRPr>
            </a:pPr>
            <a:r>
              <a:t>Safe Build Optimization &amp; Sound Fixpoint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365760"/>
            <a:ext cx="13716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 b="1">
                <a:solidFill>
                  <a:srgbClr val="9BAFC6"/>
                </a:solidFill>
                <a:latin typeface="Trebuchet MS"/>
              </a:defRPr>
            </a:pPr>
            <a:r>
              <a:t>04 / 08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52A3E"/>
          </a:solidFill>
          <a:ln w="19050">
            <a:solidFill>
              <a:srgbClr val="1B3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Trebuchet MS"/>
              </a:defRPr>
            </a:pPr>
            <a:r>
              <a:t>BUILD PLANNER PASSES (PHASE 12)</a:t>
            </a:r>
          </a:p>
          <a:p>
            <a:pPr>
              <a:spcBef>
                <a:spcPts val="1000"/>
              </a:spcBef>
              <a:defRPr b="1" sz="1200">
                <a:solidFill>
                  <a:srgbClr val="E6EDF3"/>
                </a:solidFill>
              </a:defRPr>
            </a:pPr>
            <a:r>
              <a:t>• 1. Dead-File Elimination</a:t>
            </a:r>
          </a:p>
          <a:p>
            <a:pPr>
              <a:defRPr sz="1100">
                <a:solidFill>
                  <a:srgbClr val="9BAFC6"/>
                </a:solidFill>
              </a:defRPr>
            </a:pPr>
            <a:r>
              <a:t>  Scans and spell-checks only files reachable in the inclusion graph. Unused chapters skipped.</a:t>
            </a:r>
          </a:p>
          <a:p>
            <a:pPr>
              <a:spcBef>
                <a:spcPts val="1000"/>
              </a:spcBef>
              <a:defRPr b="1" sz="1200">
                <a:solidFill>
                  <a:srgbClr val="E6EDF3"/>
                </a:solidFill>
              </a:defRPr>
            </a:pPr>
            <a:r>
              <a:t>• 2. Dead-Tool Elimination</a:t>
            </a:r>
          </a:p>
          <a:p>
            <a:pPr>
              <a:defRPr sz="1100">
                <a:solidFill>
                  <a:srgbClr val="9BAFC6"/>
                </a:solidFill>
              </a:defRPr>
            </a:pPr>
            <a:r>
              <a:t>  Omits BibTeX unless both citation facts and bibliography commands exist.</a:t>
            </a:r>
          </a:p>
          <a:p>
            <a:pPr>
              <a:spcBef>
                <a:spcPts val="1000"/>
              </a:spcBef>
              <a:defRPr b="1" sz="1200">
                <a:solidFill>
                  <a:srgbClr val="E6EDF3"/>
                </a:solidFill>
              </a:defRPr>
            </a:pPr>
            <a:r>
              <a:t>• 3. Run-Count Derivation</a:t>
            </a:r>
          </a:p>
          <a:p>
            <a:pPr>
              <a:defRPr sz="1100">
                <a:solidFill>
                  <a:srgbClr val="9BAFC6"/>
                </a:solidFill>
              </a:defRPr>
            </a:pPr>
            <a:r>
              <a:t>  CERTIFIED plans emit exactly P+1 engine passes; non-certified emit conservative floor (3 runs).</a:t>
            </a:r>
          </a:p>
          <a:p>
            <a:pPr>
              <a:spcBef>
                <a:spcPts val="1000"/>
              </a:spcBef>
              <a:defRPr b="1" sz="1200">
                <a:solidFill>
                  <a:srgbClr val="E6EDF3"/>
                </a:solidFill>
              </a:defRPr>
            </a:pPr>
            <a:r>
              <a:t>• 4. Safety Invariant</a:t>
            </a:r>
          </a:p>
          <a:p>
            <a:pPr>
              <a:defRPr sz="1100">
                <a:solidFill>
                  <a:srgbClr val="9BAFC6"/>
                </a:solidFill>
              </a:defRPr>
            </a:pPr>
            <a:r>
              <a:t>  Asserts non-certified executable plans have at least 3 engine runs before emission.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42255" cy="4754880"/>
          </a:xfrm>
          <a:prstGeom prst="roundRect">
            <a:avLst/>
          </a:prstGeom>
          <a:solidFill>
            <a:srgbClr val="152A3E"/>
          </a:solidFill>
          <a:ln w="19050">
            <a:solidFill>
              <a:srgbClr val="1B3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764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BBF24"/>
                </a:solidFill>
                <a:latin typeface="Trebuchet MS"/>
              </a:defRPr>
            </a:pPr>
            <a:r>
              <a:t>RUNTIME VERIFIER (PHASE 13)</a:t>
            </a:r>
          </a:p>
          <a:p>
            <a:pPr>
              <a:spcBef>
                <a:spcPts val="1000"/>
              </a:spcBef>
              <a:defRPr b="1" sz="1200">
                <a:solidFill>
                  <a:srgbClr val="E6EDF3"/>
                </a:solidFill>
              </a:defRPr>
            </a:pPr>
            <a:r>
              <a:t>• Canonical Normalization</a:t>
            </a:r>
          </a:p>
          <a:p>
            <a:pPr>
              <a:defRPr sz="1100">
                <a:solidFill>
                  <a:srgbClr val="9BAFC6"/>
                </a:solidFill>
              </a:defRPr>
            </a:pPr>
            <a:r>
              <a:t>  Parses .aux, .toc, .lof, .lot, .bbl into order-independent record tuples.</a:t>
            </a:r>
          </a:p>
          <a:p>
            <a:pPr>
              <a:spcBef>
                <a:spcPts val="1000"/>
              </a:spcBef>
              <a:defRPr b="1" sz="1200">
                <a:solidFill>
                  <a:srgbClr val="E6EDF3"/>
                </a:solidFill>
              </a:defRPr>
            </a:pPr>
            <a:r>
              <a:t>• Documented Exclusion List</a:t>
            </a:r>
          </a:p>
          <a:p>
            <a:pPr>
              <a:defRPr sz="1100">
                <a:solidFill>
                  <a:srgbClr val="9BAFC6"/>
                </a:solidFill>
              </a:defRPr>
            </a:pPr>
            <a:r>
              <a:t>  Only \relax is excluded (boiler-plate). Unmodelled commands stay observable.</a:t>
            </a:r>
          </a:p>
          <a:p>
            <a:pPr>
              <a:spcBef>
                <a:spcPts val="1000"/>
              </a:spcBef>
              <a:defRPr b="1" sz="1200">
                <a:solidFill>
                  <a:srgbClr val="E6EDF3"/>
                </a:solidFill>
              </a:defRPr>
            </a:pPr>
            <a:r>
              <a:t>• Sound Fixpoint vs Warnings</a:t>
            </a:r>
          </a:p>
          <a:p>
            <a:pPr>
              <a:defRPr sz="1100">
                <a:solidFill>
                  <a:srgbClr val="9BAFC6"/>
                </a:solidFill>
              </a:defRPr>
            </a:pPr>
            <a:r>
              <a:t>  Compares normalized state Ak == Ak-1 directly, avoiding unsound engine warnings.</a:t>
            </a:r>
          </a:p>
          <a:p>
            <a:pPr>
              <a:spcBef>
                <a:spcPts val="1000"/>
              </a:spcBef>
              <a:defRPr b="1" sz="1200">
                <a:solidFill>
                  <a:srgbClr val="E6EDF3"/>
                </a:solidFill>
              </a:defRPr>
            </a:pPr>
            <a:r>
              <a:t>• Bounded Extension &amp; Misses</a:t>
            </a:r>
          </a:p>
          <a:p>
            <a:pPr>
              <a:defRPr sz="1100">
                <a:solidFill>
                  <a:srgbClr val="9BAFC6"/>
                </a:solidFill>
              </a:defRPr>
            </a:pPr>
            <a:r>
              <a:t>  Extends execution while state changes up to cap; logs PredictionMiss when exceeding certified bound.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Trebuchet MS"/>
              </a:defRPr>
            </a:pPr>
            <a:r>
              <a:t>15-MEMBER BENCHMARK CORPUS</a:t>
            </a:r>
          </a:p>
          <a:p>
            <a:pPr>
              <a:defRPr sz="2200" b="1">
                <a:solidFill>
                  <a:srgbClr val="E6EDF3"/>
                </a:solidFill>
                <a:latin typeface="Trebuchet MS"/>
              </a:defRPr>
            </a:pPr>
            <a:r>
              <a:t>Systematic Coverage of Multi-Pass Convergence Mechanisms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365760"/>
            <a:ext cx="13716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 b="1">
                <a:solidFill>
                  <a:srgbClr val="9BAFC6"/>
                </a:solidFill>
                <a:latin typeface="Trebuchet MS"/>
              </a:defRPr>
            </a:pPr>
            <a:r>
              <a:t>05 / 08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728655" cy="4754880"/>
          </a:xfrm>
          <a:prstGeom prst="roundRect">
            <a:avLst/>
          </a:prstGeom>
          <a:solidFill>
            <a:srgbClr val="152A3E"/>
          </a:solidFill>
          <a:ln w="19050">
            <a:solidFill>
              <a:srgbClr val="1B3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28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Trebuchet MS"/>
              </a:defRPr>
            </a:pPr>
            <a:r>
              <a:t>THE 15-MEMBER CORPUS (bench/corpus/b01_plain .. b15_ibid)</a:t>
            </a:r>
          </a:p>
          <a:p>
            <a:pPr>
              <a:spcBef>
                <a:spcPts val="800"/>
              </a:spcBef>
              <a:defRPr sz="950">
                <a:solidFill>
                  <a:srgbClr val="E6EDF3"/>
                </a:solidFill>
                <a:latin typeface="Consolas"/>
              </a:defRPr>
            </a:pPr>
            <a:r>
              <a:t>ID           MECHANISM / PURPOSE                                       EXPECTED    OBSERVED (D)  STATUS</a:t>
            </a:r>
            <a:br/>
            <a:r>
              <a:t>------------------------------------------------------------------------------------------------------</a:t>
            </a:r>
            <a:br/>
            <a:r>
              <a:t>b01_plain    Plain prose with no auxiliary state producers/consumers   CERTIFIED   CERTIFIED     PASS</a:t>
            </a:r>
            <a:br/>
            <a:r>
              <a:t>b02_backref  Backward cross-reference (label then ref)                 CERTIFIED   CERTIFIED     PASS</a:t>
            </a:r>
            <a:br/>
            <a:r>
              <a:t>b03_fwdref   Forward cross-reference (ref then label)                  CERTIFIED   CERTIFIED     PASS</a:t>
            </a:r>
            <a:br/>
            <a:r>
              <a:t>b04_chain    Contents extent shifts page before reference              CERTIFIED   CERTIFIED     PASS</a:t>
            </a:r>
            <a:br/>
            <a:r>
              <a:t>b05_toc      Contents list without cross-reference uses                CERTIFIED   CERTIFIED     PASS</a:t>
            </a:r>
            <a:br/>
            <a:r>
              <a:t>b06_bib      BibTeX tool edge with generated-list cascade              CERTIFIED   CERTIFIED     PASS</a:t>
            </a:r>
            <a:br/>
            <a:r>
              <a:t>b07_footnote Footnote placement feedback via resolved ref width        UNKNOWN     UNKNOWN       PASS</a:t>
            </a:r>
            <a:br/>
            <a:r>
              <a:t>b08_cycle    M1: Loop bounded by forward page ref (Gaspar 2014)        AMPLIFYING  AMPLIFYING    PASS</a:t>
            </a:r>
            <a:br/>
            <a:r>
              <a:t>b09_thesis   Realistic multi-chapter thesis (TOC/LOF/LOT, bib, unreach) CERTIFIED  CERTIFIED     PASS</a:t>
            </a:r>
            <a:br/>
            <a:r>
              <a:t>b10_random   M8: Nondeterministic pdfTeX random auxiliary state        UNKNOWN     UNKNOWN       PASS</a:t>
            </a:r>
            <a:br/>
            <a:r>
              <a:t>b11_width    M3: Reference width changes line-break (SE 30674)         CERTIFIED*  CERTIFIED     PASS (decl.)</a:t>
            </a:r>
            <a:br/>
            <a:r>
              <a:t>b12_float    M4: Top float placement and Roman page number width       CERTIFIED*  CERTIFIED     PASS (decl.)</a:t>
            </a:r>
            <a:br/>
            <a:r>
              <a:t>b13_varioref M6: varioref dynamic text moves across page break         CERTIFIED*  CERTIFIED     PASS (decl.)</a:t>
            </a:r>
            <a:br/>
            <a:r>
              <a:t>b14_ifthen   M2: ifthenelse conditional font sizing on pageref         AMPLIFYING  AMPLIFYING    PASS</a:t>
            </a:r>
            <a:br/>
            <a:r>
              <a:t>b15_ibid     M5: biblatex authoryear-icomp same-page ibid feedback     UNKNOWN     UNKNOWN       PASS</a:t>
            </a:r>
            <a:br/>
            <a:r>
              <a:t>------------------------------------------------------------------------------------------------------</a:t>
            </a:r>
            <a:br/>
            <a:r>
              <a:t>* Declared false negatives: predicted in advance as limitations of the line-breaking abstraction.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Trebuchet MS"/>
              </a:defRPr>
            </a:pPr>
            <a:r>
              <a:t>EMPIRICAL EVALUATION</a:t>
            </a:r>
          </a:p>
          <a:p>
            <a:pPr>
              <a:defRPr sz="2200" b="1">
                <a:solidFill>
                  <a:srgbClr val="E6EDF3"/>
                </a:solidFill>
                <a:latin typeface="Trebuchet MS"/>
              </a:defRPr>
            </a:pPr>
            <a:r>
              <a:t>1050 Containerized Runs Across 7 Compilation Baselines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365760"/>
            <a:ext cx="13716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 b="1">
                <a:solidFill>
                  <a:srgbClr val="9BAFC6"/>
                </a:solidFill>
                <a:latin typeface="Trebuchet MS"/>
              </a:defRPr>
            </a:pPr>
            <a:r>
              <a:t>06 / 08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52A3E"/>
          </a:solidFill>
          <a:ln w="19050">
            <a:solidFill>
              <a:srgbClr val="1B3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Trebuchet MS"/>
              </a:defRPr>
            </a:pPr>
            <a:r>
              <a:t>ORACLE COMPARISON (EXECUTIONS TO CERTIFY)</a:t>
            </a:r>
          </a:p>
          <a:p>
            <a:pPr>
              <a:spcBef>
                <a:spcPts val="1000"/>
              </a:spcBef>
              <a:defRPr sz="1100">
                <a:solidFill>
                  <a:srgbClr val="E6EDF3"/>
                </a:solidFill>
                <a:latin typeface="Calibri"/>
              </a:defRPr>
            </a:pPr>
            <a:r>
              <a:t>BASELINE PERFORMANCE SUMMARY:</a:t>
            </a:r>
            <a:br/>
            <a:br/>
            <a:r>
              <a:t>• Baseline A (Fixed Schedule = 3 runs):</a:t>
            </a:r>
            <a:br/>
            <a:r>
              <a:t>  Silently wrong on all 6 non-converging docs.</a:t>
            </a:r>
            <a:br/>
            <a:br/>
            <a:r>
              <a:t>• Baseline B (Engine Warnings):</a:t>
            </a:r>
            <a:br/>
            <a:r>
              <a:t>  Unsound! Declares CONVERGED after 1 run on</a:t>
            </a:r>
            <a:br/>
            <a:r>
              <a:t>  b10_random (never warns on random changes),</a:t>
            </a:r>
            <a:br/>
            <a:r>
              <a:t>  misses TOC shifts with no ref on b05_toc.</a:t>
            </a:r>
            <a:br/>
            <a:br/>
            <a:r>
              <a:t>• Baselines C / C' / C'' (State Checksums):</a:t>
            </a:r>
            <a:br/>
            <a:r>
              <a:t>  Sound dynamic fixpoint detection.</a:t>
            </a:r>
            <a:br/>
            <a:r>
              <a:t>  C costs N+1 runs; C' and C'' cost N runs.</a:t>
            </a:r>
            <a:br/>
            <a:br/>
            <a:r>
              <a:t>• Baseline D (AuxFlow Static Alone):</a:t>
            </a:r>
            <a:br/>
            <a:r>
              <a:t>  Zero engine runs! Classifies in &lt;10ms.</a:t>
            </a:r>
            <a:br/>
            <a:br/>
            <a:r>
              <a:t>• Baseline E (Static Plan + Verification):</a:t>
            </a:r>
            <a:br/>
            <a:r>
              <a:t>  Combines static speed with dynamic safety.</a:t>
            </a:r>
            <a:br/>
            <a:r>
              <a:t>  Correctly catches b11-b13 false negatives</a:t>
            </a:r>
            <a:br/>
            <a:r>
              <a:t>  at cap=6 instead of failing silently.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42255" cy="4754880"/>
          </a:xfrm>
          <a:prstGeom prst="roundRect">
            <a:avLst/>
          </a:prstGeom>
          <a:solidFill>
            <a:srgbClr val="152A3E"/>
          </a:solidFill>
          <a:ln w="19050">
            <a:solidFill>
              <a:srgbClr val="1B3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764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4D399"/>
                </a:solidFill>
                <a:latin typeface="Trebuchet MS"/>
              </a:defRPr>
            </a:pPr>
            <a:r>
              <a:t>GATES &amp; EXTERNAL TOOL CROSS-CHECKS</a:t>
            </a:r>
          </a:p>
          <a:p>
            <a:pPr>
              <a:spcBef>
                <a:spcPts val="1000"/>
              </a:spcBef>
              <a:defRPr sz="1100">
                <a:solidFill>
                  <a:srgbClr val="E6EDF3"/>
                </a:solidFill>
                <a:latin typeface="Calibri"/>
              </a:defRPr>
            </a:pPr>
            <a:r>
              <a:t>GATE 1 (Classification Separation): PASS</a:t>
            </a:r>
            <a:br/>
            <a:r>
              <a:t>• b08 correctly AMPLIFYING with 3 named facts.</a:t>
            </a:r>
            <a:br/>
            <a:r>
              <a:t>• b05 correctly CERTIFIED (no false alarm).</a:t>
            </a:r>
            <a:br/>
            <a:r>
              <a:t>• b11-b13 matched declared false negatives.</a:t>
            </a:r>
            <a:br/>
            <a:br/>
            <a:r>
              <a:t>GATE 2 (Empirical Claim EC1): PASS</a:t>
            </a:r>
            <a:br/>
            <a:r>
              <a:t>• Predicted N &gt;= Ground Truth N* for all certified docs.</a:t>
            </a:r>
            <a:br/>
            <a:r>
              <a:t>• 0 undeclared bound failures across all 15 members.</a:t>
            </a:r>
            <a:br/>
            <a:br/>
            <a:r>
              <a:t>SHIPPING TOOL CROSS-CHECKS (RQ6):</a:t>
            </a:r>
            <a:br/>
            <a:r>
              <a:t>• latexmk 4.79: Fails to converge on b08, b10, b11-b14.</a:t>
            </a:r>
            <a:br/>
            <a:r>
              <a:t>• latexrun: Fails to converge on b08, b10, b11-b15.</a:t>
            </a:r>
            <a:br/>
            <a:r>
              <a:t>  --&gt; Independently confirms b11-b13 non-convergence</a:t>
            </a:r>
            <a:br/>
            <a:r>
              <a:t>      is real, not an AuxFlow artifact!</a:t>
            </a:r>
            <a:br/>
            <a:r>
              <a:t>• Typst Compiler: Refuses b08_cycle with</a:t>
            </a:r>
            <a:br/>
            <a:r>
              <a:t>  'error: loop seems to be infinite'.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Trebuchet MS"/>
              </a:defRPr>
            </a:pPr>
            <a:r>
              <a:t>LIVE DEMONSTRATION</a:t>
            </a:r>
          </a:p>
          <a:p>
            <a:pPr>
              <a:defRPr sz="2200" b="1">
                <a:solidFill>
                  <a:srgbClr val="E6EDF3"/>
                </a:solidFill>
                <a:latin typeface="Trebuchet MS"/>
              </a:defRPr>
            </a:pPr>
            <a:r>
              <a:t>Verifying b08_cycle &amp; b11_width via bench/demo.sh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365760"/>
            <a:ext cx="13716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 b="1">
                <a:solidFill>
                  <a:srgbClr val="9BAFC6"/>
                </a:solidFill>
                <a:latin typeface="Trebuchet MS"/>
              </a:defRPr>
            </a:pPr>
            <a:r>
              <a:t>07 / 08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52A3E"/>
          </a:solidFill>
          <a:ln w="19050">
            <a:solidFill>
              <a:srgbClr val="1B3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87171"/>
                </a:solidFill>
                <a:latin typeface="Trebuchet MS"/>
              </a:defRPr>
            </a:pPr>
            <a:r>
              <a:t>DEMONSTRATION 1: b08_cycle (AMPLIFYING)</a:t>
            </a:r>
          </a:p>
          <a:p>
            <a:pPr>
              <a:spcBef>
                <a:spcPts val="800"/>
              </a:spcBef>
              <a:defRPr sz="950">
                <a:solidFill>
                  <a:srgbClr val="E6EDF3"/>
                </a:solidFill>
                <a:latin typeface="Consolas"/>
              </a:defRPr>
            </a:pPr>
            <a:r>
              <a:t>$ auxflow classify bench/corpus/b08_cycle/main.tex</a:t>
            </a:r>
            <a:br/>
            <a:r>
              <a:t>auxflow: AMPLIFYING CYCLE -- may not converge.</a:t>
            </a:r>
            <a:br/>
            <a:r>
              <a:t>  cycle (3 facts):</a:t>
            </a:r>
            <a:br/>
            <a:r>
              <a:t>    PAGEREF_USE(end:generated) (main.tex:5:32)</a:t>
            </a:r>
            <a:br/>
            <a:r>
              <a:t>      -&gt; CONTENT_VOLUME (main.tex:8:3)</a:t>
            </a:r>
            <a:br/>
            <a:r>
              <a:t>         STRUCTURAL: reaches content construct</a:t>
            </a:r>
            <a:br/>
            <a:r>
              <a:t>      -&gt; LABEL_PAGE(end:generated) (main.tex:10:29)</a:t>
            </a:r>
            <a:br/>
            <a:r>
              <a:t>      -&gt; PAGEREF_USE(end:generated)</a:t>
            </a:r>
            <a:br/>
            <a:r>
              <a:t>  [Refuses to emit plan without --force]</a:t>
            </a:r>
            <a:br/>
            <a:br/>
            <a:r>
              <a:t>$ auxflow run --force main.tex</a:t>
            </a:r>
            <a:br/>
            <a:r>
              <a:t>  Pass 1 -&gt; 1 page</a:t>
            </a:r>
            <a:br/>
            <a:r>
              <a:t>  Pass 2 -&gt; 2 pages</a:t>
            </a:r>
            <a:br/>
            <a:r>
              <a:t>  Pass 3 -&gt; 3 pages ... Pass 6 -&gt; 6 pages</a:t>
            </a:r>
            <a:br/>
            <a:r>
              <a:t>  Status: cap_exceeded (Monotone divergence!)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42255" cy="4754880"/>
          </a:xfrm>
          <a:prstGeom prst="roundRect">
            <a:avLst/>
          </a:prstGeom>
          <a:solidFill>
            <a:srgbClr val="152A3E"/>
          </a:solidFill>
          <a:ln w="19050">
            <a:solidFill>
              <a:srgbClr val="1B3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764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Trebuchet MS"/>
              </a:defRPr>
            </a:pPr>
            <a:r>
              <a:t>DEMONSTRATION 2: b11_width (DECLARED MISCLASSIFICATION)</a:t>
            </a:r>
          </a:p>
          <a:p>
            <a:pPr>
              <a:spcBef>
                <a:spcPts val="800"/>
              </a:spcBef>
              <a:defRPr sz="950">
                <a:solidFill>
                  <a:srgbClr val="E6EDF3"/>
                </a:solidFill>
                <a:latin typeface="Consolas"/>
              </a:defRPr>
            </a:pPr>
            <a:r>
              <a:t>$ auxflow classify bench/corpus/b11_width/main.tex</a:t>
            </a:r>
            <a:br/>
            <a:r>
              <a:t>auxflow: CERTIFIED -- 2 runs</a:t>
            </a:r>
            <a:br/>
            <a:r>
              <a:t>  [Acyclic ARG: no STRUCTURAL edges found]</a:t>
            </a:r>
            <a:br/>
            <a:br/>
            <a:r>
              <a:t>THE DECLARED EXPERIMENT:</a:t>
            </a:r>
            <a:br/>
            <a:r>
              <a:t>expected.json:</a:t>
            </a:r>
            <a:br/>
            <a:r>
              <a:t>  declared_false_negative: true</a:t>
            </a:r>
            <a:br/>
            <a:r>
              <a:t>  mechanism: M3 ref width changes line break</a:t>
            </a:r>
            <a:br/>
            <a:br/>
            <a:r>
              <a:t>GROUND TRUTH REALITY:</a:t>
            </a:r>
            <a:br/>
            <a:r>
              <a:t>Real engine state hashes across 8 runs:</a:t>
            </a:r>
            <a:br/>
            <a:r>
              <a:t>  Run 1: add8c2c1 (page 1)</a:t>
            </a:r>
            <a:br/>
            <a:r>
              <a:t>  Run 2: 72beb0e4 (page 2)</a:t>
            </a:r>
            <a:br/>
            <a:r>
              <a:t>  Run 3: add8c2c1 (page 1)</a:t>
            </a:r>
            <a:br/>
            <a:r>
              <a:t>  Run 4: 72beb0e4 (page 2) ... period-2 forever!</a:t>
            </a:r>
            <a:br/>
            <a:br/>
            <a:r>
              <a:t>Conclusion: Predicted misclassification is confirmed!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Trebuchet MS"/>
              </a:defRPr>
            </a:pPr>
            <a:r>
              <a:t>CONCLUSION &amp; ARTIFACTS</a:t>
            </a:r>
          </a:p>
          <a:p>
            <a:pPr>
              <a:defRPr sz="2200" b="1">
                <a:solidFill>
                  <a:srgbClr val="E6EDF3"/>
                </a:solidFill>
                <a:latin typeface="Trebuchet MS"/>
              </a:defRPr>
            </a:pPr>
            <a:r>
              <a:t>Summary of Completed Compiler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365760"/>
            <a:ext cx="13716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 b="1">
                <a:solidFill>
                  <a:srgbClr val="9BAFC6"/>
                </a:solidFill>
                <a:latin typeface="Trebuchet MS"/>
              </a:defRPr>
            </a:pPr>
            <a:r>
              <a:t>08 / 08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52A3E"/>
          </a:solidFill>
          <a:ln w="19050">
            <a:solidFill>
              <a:srgbClr val="1B3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4D399"/>
                </a:solidFill>
                <a:latin typeface="Trebuchet MS"/>
              </a:defRPr>
            </a:pPr>
            <a:r>
              <a:t>PROJECT METRICS &amp; VERIFICATION</a:t>
            </a:r>
          </a:p>
          <a:p>
            <a:pPr>
              <a:spcBef>
                <a:spcPts val="1000"/>
              </a:spcBef>
              <a:defRPr sz="1200">
                <a:solidFill>
                  <a:srgbClr val="E6EDF3"/>
                </a:solidFill>
              </a:defRPr>
            </a:pPr>
            <a:r>
              <a:t>✓ 16 Implementation Phases Complete: From Lexer to Final Evaluation.</a:t>
            </a:r>
          </a:p>
          <a:p>
            <a:pPr>
              <a:spcBef>
                <a:spcPts val="1000"/>
              </a:spcBef>
              <a:defRPr sz="1200">
                <a:solidFill>
                  <a:srgbClr val="E6EDF3"/>
                </a:solidFill>
              </a:defRPr>
            </a:pPr>
            <a:r>
              <a:t>✓ 75 GitHub Issues &amp; 7 Milestones Closed: 58/58 sub-issues linked and reconciled.</a:t>
            </a:r>
          </a:p>
          <a:p>
            <a:pPr>
              <a:spcBef>
                <a:spcPts val="1000"/>
              </a:spcBef>
              <a:defRPr sz="1200">
                <a:solidFill>
                  <a:srgbClr val="E6EDF3"/>
                </a:solidFill>
              </a:defRPr>
            </a:pPr>
            <a:r>
              <a:t>✓ Quality Gate Scores: 245 unit tests passed, strict mypy type check clean, ruff lint/format clean.</a:t>
            </a:r>
          </a:p>
          <a:p>
            <a:pPr>
              <a:spcBef>
                <a:spcPts val="1000"/>
              </a:spcBef>
              <a:defRPr sz="1200">
                <a:solidFill>
                  <a:srgbClr val="E6EDF3"/>
                </a:solidFill>
              </a:defRPr>
            </a:pPr>
            <a:r>
              <a:t>✓ Plan Validation: 0.0 defects, 100% quality score on validate_plan.py.</a:t>
            </a:r>
          </a:p>
          <a:p>
            <a:pPr>
              <a:spcBef>
                <a:spcPts val="1000"/>
              </a:spcBef>
              <a:defRPr sz="1200">
                <a:solidFill>
                  <a:srgbClr val="E6EDF3"/>
                </a:solidFill>
              </a:defRPr>
            </a:pPr>
            <a:r>
              <a:t>✓ Fast Performance: Static classification in &lt;10ms, including multi-chapter thesis.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42255" cy="4754880"/>
          </a:xfrm>
          <a:prstGeom prst="roundRect">
            <a:avLst/>
          </a:prstGeom>
          <a:solidFill>
            <a:srgbClr val="152A3E"/>
          </a:solidFill>
          <a:ln w="19050">
            <a:solidFill>
              <a:srgbClr val="1B3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764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Trebuchet MS"/>
              </a:defRPr>
            </a:pPr>
            <a:r>
              <a:t>KEY RESEARCH CONTRIBUTIONS</a:t>
            </a:r>
          </a:p>
          <a:p>
            <a:pPr>
              <a:spcBef>
                <a:spcPts val="800"/>
              </a:spcBef>
              <a:defRPr b="1" sz="1200">
                <a:solidFill>
                  <a:srgbClr val="E6EDF3"/>
                </a:solidFill>
              </a:defRPr>
            </a:pPr>
            <a:r>
              <a:t>★ Instance-Level Reference IR</a:t>
            </a:r>
          </a:p>
          <a:p>
            <a:pPr>
              <a:defRPr sz="1100">
                <a:solidFill>
                  <a:srgbClr val="9BAFC6"/>
                </a:solidFill>
              </a:defRPr>
            </a:pPr>
            <a:r>
              <a:t>  A formal dependency graph (ARG) with an exists/value split that keeps ordinary multi-pass documents acyclic.</a:t>
            </a:r>
          </a:p>
          <a:p>
            <a:pPr>
              <a:spcBef>
                <a:spcPts val="800"/>
              </a:spcBef>
              <a:defRPr b="1" sz="1200">
                <a:solidFill>
                  <a:srgbClr val="E6EDF3"/>
                </a:solidFill>
              </a:defRPr>
            </a:pPr>
            <a:r>
              <a:t>★ Taint-Based Amplification Analysis</a:t>
            </a:r>
          </a:p>
          <a:p>
            <a:pPr>
              <a:defRPr sz="1100">
                <a:solidFill>
                  <a:srgbClr val="9BAFC6"/>
                </a:solidFill>
              </a:defRPr>
            </a:pPr>
            <a:r>
              <a:t>  Detects monotone divergence risks statically before execution, producing source-located diagnostics.</a:t>
            </a:r>
          </a:p>
          <a:p>
            <a:pPr>
              <a:spcBef>
                <a:spcPts val="800"/>
              </a:spcBef>
              <a:defRPr b="1" sz="1200">
                <a:solidFill>
                  <a:srgbClr val="E6EDF3"/>
                </a:solidFill>
              </a:defRPr>
            </a:pPr>
            <a:r>
              <a:t>★ Empirical Soundness Proof</a:t>
            </a:r>
          </a:p>
          <a:p>
            <a:pPr>
              <a:defRPr sz="1100">
                <a:solidFill>
                  <a:srgbClr val="9BAFC6"/>
                </a:solidFill>
              </a:defRPr>
            </a:pPr>
            <a:r>
              <a:t>  Demonstrates that engine warnings are unsound, and that runtime verification rescues static false negatives.</a:t>
            </a:r>
          </a:p>
          <a:p>
            <a:pPr>
              <a:spcBef>
                <a:spcPts val="800"/>
              </a:spcBef>
              <a:defRPr b="1" sz="1200">
                <a:solidFill>
                  <a:srgbClr val="E6EDF3"/>
                </a:solidFill>
              </a:defRPr>
            </a:pPr>
            <a:r>
              <a:t>★ Transparent Falsification</a:t>
            </a:r>
          </a:p>
          <a:p>
            <a:pPr>
              <a:defRPr sz="1100">
                <a:solidFill>
                  <a:srgbClr val="9BAFC6"/>
                </a:solidFill>
              </a:defRPr>
            </a:pPr>
            <a:r>
              <a:t>  Predicts its own limitations (M3, M4, M6) in advance rather than disguising them as unexpected errors.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