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Pages</c:v>
                </c:pt>
              </c:strCache>
            </c:strRef>
          </c:tx>
          <c:spPr>
            <a:solidFill>
              <a:srgbClr val="F87171"/>
            </a:solidFill>
          </c:spPr>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1</c:v>
                </c:pt>
                <c:pt idx="1">
                  <c:v>2</c:v>
                </c:pt>
                <c:pt idx="2">
                  <c:v>3</c:v>
                </c:pt>
                <c:pt idx="3">
                  <c:v>4</c:v>
                </c:pt>
                <c:pt idx="4">
                  <c:v>5</c:v>
                </c:pt>
                <c:pt idx="5">
                  <c:v>6</c:v>
                </c:pt>
              </c:numCache>
            </c:numRef>
          </c:val>
        </c:ser>
        <c:dLbls>
          <c:txPr>
            <a:bodyPr/>
            <a:lstStyle/>
            <a:p>
              <a:pPr>
                <a:defRPr sz="1300">
                  <a:solidFill>
                    <a:srgbClr val="E8EAF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2A2F3A"/>
            </a:solidFill>
          </a:ln>
        </c:spPr>
        <c:txPr>
          <a:bodyPr/>
          <a:lstStyle/>
          <a:p>
            <a:pPr>
              <a:defRPr>
                <a:solidFill>
                  <a:srgbClr val="8B93A1"/>
                </a:solidFill>
              </a:defRPr>
            </a:pPr>
          </a:p>
        </c:txPr>
        <c:crossAx val="-2113994440"/>
        <c:crosses val="autoZero"/>
        <c:auto val="1"/>
        <c:lblAlgn val="ctr"/>
        <c:lblOffset val="100"/>
        <c:noMultiLvlLbl val="0"/>
      </c:catAx>
      <c:valAx>
        <c:axId val="-2113994440"/>
        <c:scaling/>
        <c:delete/>
        <c:axPos val="l"/>
        <c:majorGridlines>
          <c:spPr>
            <a:ln>
              <a:noFill/>
            </a:ln>
          </c:spPr>
        </c:majorGridlines>
        <c:majorTickMark val="out"/>
        <c:minorTickMark val="none"/>
        <c:tickLblPos val="nextTo"/>
        <c:spPr>
          <a:ln>
            <a:noFill/>
          </a:ln>
        </c:spPr>
        <c:txPr>
          <a:bodyPr/>
          <a:lstStyle/>
          <a:p>
            <a:pPr>
              <a:defRPr>
                <a:solidFill>
                  <a:srgbClr val="8B93A1"/>
                </a:solidFill>
              </a:defRPr>
            </a:pPr>
          </a:p>
        </c:txPr>
        <c:crossAx val="-2068027336"/>
        <c:crosses val="autoZero"/>
      </c:valAx>
    </c:plotArea>
    <c:dispBlanksAs val="gap"/>
  </c:chart>
  <c:txPr>
    <a:bodyPr/>
    <a:lstStyle/>
    <a:p>
      <a:pPr>
        <a:defRPr sz="1300">
          <a:solidFill>
            <a:srgbClr val="8B93A1"/>
          </a:solidFill>
          <a:latin typeface="Red Hat Display"/>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Three engine passes (ms)</c:v>
                </c:pt>
              </c:strCache>
            </c:strRef>
          </c:tx>
          <c:spPr>
            <a:solidFill>
              <a:srgbClr val="F87171"/>
            </a:solidFill>
          </c:spPr>
          <c:dLbls>
            <c:numFmt formatCode="0" sourceLinked="0"/>
            <c:txPr>
              <a:bodyPr/>
              <a:lstStyle/>
              <a:p>
                <a:pPr>
                  <a:defRPr sz="1200">
                    <a:solidFill>
                      <a:srgbClr val="E8EAF0"/>
                    </a:solidFill>
                  </a:defRPr>
                </a:pPr>
              </a:p>
            </c:txPr>
            <c:dLblPos val="outEnd"/>
            <c:showLegendKey val="0"/>
            <c:showVal val="1"/>
            <c:showCatName val="0"/>
            <c:showSerName val="0"/>
            <c:showPercent val="0"/>
            <c:showBubbleSize val="0"/>
            <c:showLeaderLines val="1"/>
          </c:dLbls>
          <c:cat>
            <c:strRef>
              <c:f>Sheet1!$A$2:$A$6</c:f>
              <c:strCache>
                <c:ptCount val="5"/>
                <c:pt idx="0">
                  <c:v>b01 plain</c:v>
                </c:pt>
                <c:pt idx="1">
                  <c:v>b05 toc</c:v>
                </c:pt>
                <c:pt idx="2">
                  <c:v>b06 bib</c:v>
                </c:pt>
                <c:pt idx="3">
                  <c:v>b08 cycle</c:v>
                </c:pt>
                <c:pt idx="4">
                  <c:v>b09 thesis</c:v>
                </c:pt>
              </c:strCache>
            </c:strRef>
          </c:cat>
          <c:val>
            <c:numRef>
              <c:f>Sheet1!$B$2:$B$6</c:f>
              <c:numCache>
                <c:formatCode>General</c:formatCode>
                <c:ptCount val="5"/>
                <c:pt idx="0">
                  <c:v>753</c:v>
                </c:pt>
                <c:pt idx="1">
                  <c:v>818</c:v>
                </c:pt>
                <c:pt idx="2">
                  <c:v>876</c:v>
                </c:pt>
                <c:pt idx="3">
                  <c:v>1044</c:v>
                </c:pt>
                <c:pt idx="4">
                  <c:v>1141</c:v>
                </c:pt>
              </c:numCache>
            </c:numRef>
          </c:val>
        </c:ser>
        <c:ser>
          <c:idx val="1"/>
          <c:order val="1"/>
          <c:tx>
            <c:strRef>
              <c:f>Sheet1!$C$1</c:f>
              <c:strCache>
                <c:ptCount val="1"/>
                <c:pt idx="0">
                  <c:v>AuxFlow analysis (ms)</c:v>
                </c:pt>
              </c:strCache>
            </c:strRef>
          </c:tx>
          <c:spPr>
            <a:solidFill>
              <a:srgbClr val="34D399"/>
            </a:solidFill>
          </c:spPr>
          <c:dLbls>
            <c:numFmt formatCode="0.0" sourceLinked="0"/>
            <c:txPr>
              <a:bodyPr/>
              <a:lstStyle/>
              <a:p>
                <a:pPr>
                  <a:defRPr sz="1200">
                    <a:solidFill>
                      <a:srgbClr val="E8EAF0"/>
                    </a:solidFill>
                  </a:defRPr>
                </a:pPr>
              </a:p>
            </c:txPr>
            <c:dLblPos val="outEnd"/>
            <c:showLegendKey val="0"/>
            <c:showVal val="1"/>
            <c:showCatName val="0"/>
            <c:showSerName val="0"/>
            <c:showPercent val="0"/>
            <c:showBubbleSize val="0"/>
            <c:showLeaderLines val="1"/>
          </c:dLbls>
          <c:cat>
            <c:strRef>
              <c:f>Sheet1!$A$2:$A$6</c:f>
              <c:strCache>
                <c:ptCount val="5"/>
                <c:pt idx="0">
                  <c:v>b01 plain</c:v>
                </c:pt>
                <c:pt idx="1">
                  <c:v>b05 toc</c:v>
                </c:pt>
                <c:pt idx="2">
                  <c:v>b06 bib</c:v>
                </c:pt>
                <c:pt idx="3">
                  <c:v>b08 cycle</c:v>
                </c:pt>
                <c:pt idx="4">
                  <c:v>b09 thesis</c:v>
                </c:pt>
              </c:strCache>
            </c:strRef>
          </c:cat>
          <c:val>
            <c:numRef>
              <c:f>Sheet1!$C$2:$C$6</c:f>
              <c:numCache>
                <c:formatCode>General</c:formatCode>
                <c:ptCount val="5"/>
                <c:pt idx="0">
                  <c:v>0.6</c:v>
                </c:pt>
                <c:pt idx="1">
                  <c:v>3.4</c:v>
                </c:pt>
                <c:pt idx="2">
                  <c:v>1.8</c:v>
                </c:pt>
                <c:pt idx="3">
                  <c:v>1.1</c:v>
                </c:pt>
                <c:pt idx="4">
                  <c:v>13.6</c:v>
                </c:pt>
              </c:numCache>
            </c:numRef>
          </c:val>
        </c:ser>
        <c:gapWidth val="60"/>
        <c:overlap val="-5"/>
        <c:axId val="-2068027336"/>
        <c:axId val="-2113994440"/>
      </c:barChart>
      <c:catAx>
        <c:axId val="-2068027336"/>
        <c:scaling>
          <c:orientation val="minMax"/>
        </c:scaling>
        <c:delete val="0"/>
        <c:axPos val="b"/>
        <c:majorTickMark val="out"/>
        <c:minorTickMark val="none"/>
        <c:tickLblPos val="nextTo"/>
        <c:spPr>
          <a:ln>
            <a:solidFill>
              <a:srgbClr val="2A2F3A"/>
            </a:solidFill>
          </a:ln>
        </c:spPr>
        <c:txPr>
          <a:bodyPr/>
          <a:lstStyle/>
          <a:p>
            <a:pPr>
              <a:defRPr>
                <a:solidFill>
                  <a:srgbClr val="8B93A1"/>
                </a:solidFill>
              </a:defRPr>
            </a:pPr>
          </a:p>
        </c:txPr>
        <c:crossAx val="-2113994440"/>
        <c:crosses val="autoZero"/>
        <c:auto val="1"/>
        <c:lblAlgn val="ctr"/>
        <c:lblOffset val="100"/>
        <c:noMultiLvlLbl val="0"/>
      </c:catAx>
      <c:valAx>
        <c:axId val="-2113994440"/>
        <c:scaling/>
        <c:delete/>
        <c:axPos val="l"/>
        <c:majorGridlines>
          <c:spPr>
            <a:ln>
              <a:noFill/>
            </a:ln>
          </c:spPr>
        </c:majorGridlines>
        <c:majorTickMark val="out"/>
        <c:minorTickMark val="none"/>
        <c:tickLblPos val="nextTo"/>
        <c:spPr>
          <a:ln>
            <a:noFill/>
          </a:ln>
        </c:spPr>
        <c:txPr>
          <a:bodyPr/>
          <a:lstStyle/>
          <a:p>
            <a:pPr>
              <a:defRPr>
                <a:solidFill>
                  <a:srgbClr val="8B93A1"/>
                </a:solidFill>
              </a:defRPr>
            </a:pPr>
          </a:p>
        </c:txPr>
        <c:crossAx val="-2068027336"/>
        <c:crosses val="autoZero"/>
      </c:valAx>
    </c:plotArea>
    <c:legend>
      <c:legendPos val="t"/>
      <c:overlay val="0"/>
      <c:txPr>
        <a:bodyPr/>
        <a:lstStyle/>
        <a:p>
          <a:pPr>
            <a:defRPr sz="1300">
              <a:solidFill>
                <a:srgbClr val="E8EAF0"/>
              </a:solidFill>
            </a:defRPr>
          </a:pPr>
        </a:p>
      </c:txPr>
    </c:legend>
    <c:dispBlanksAs val="gap"/>
  </c:chart>
  <c:txPr>
    <a:bodyPr/>
    <a:lstStyle/>
    <a:p>
      <a:pPr>
        <a:defRPr sz="1300">
          <a:solidFill>
            <a:srgbClr val="8B93A1"/>
          </a:solidFill>
          <a:latin typeface="Red Hat Display"/>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Predicted bound</c:v>
                </c:pt>
              </c:strCache>
            </c:strRef>
          </c:tx>
          <c:spPr>
            <a:solidFill>
              <a:srgbClr val="A78BFA"/>
            </a:solidFill>
          </c:spPr>
          <c:cat>
            <c:strRef>
              <c:f>Sheet1!$A$2:$A$8</c:f>
              <c:strCache>
                <c:ptCount val="7"/>
                <c:pt idx="0">
                  <c:v>b01</c:v>
                </c:pt>
                <c:pt idx="1">
                  <c:v>b02</c:v>
                </c:pt>
                <c:pt idx="2">
                  <c:v>b03</c:v>
                </c:pt>
                <c:pt idx="3">
                  <c:v>b04</c:v>
                </c:pt>
                <c:pt idx="4">
                  <c:v>b05</c:v>
                </c:pt>
                <c:pt idx="5">
                  <c:v>b06</c:v>
                </c:pt>
                <c:pt idx="6">
                  <c:v>b09</c:v>
                </c:pt>
              </c:strCache>
            </c:strRef>
          </c:cat>
          <c:val>
            <c:numRef>
              <c:f>Sheet1!$B$2:$B$8</c:f>
              <c:numCache>
                <c:formatCode>General</c:formatCode>
                <c:ptCount val="7"/>
                <c:pt idx="0">
                  <c:v>1</c:v>
                </c:pt>
                <c:pt idx="1">
                  <c:v>2</c:v>
                </c:pt>
                <c:pt idx="2">
                  <c:v>2</c:v>
                </c:pt>
                <c:pt idx="3">
                  <c:v>3</c:v>
                </c:pt>
                <c:pt idx="4">
                  <c:v>3</c:v>
                </c:pt>
                <c:pt idx="5">
                  <c:v>4</c:v>
                </c:pt>
                <c:pt idx="6">
                  <c:v>4</c:v>
                </c:pt>
              </c:numCache>
            </c:numRef>
          </c:val>
        </c:ser>
        <c:ser>
          <c:idx val="1"/>
          <c:order val="1"/>
          <c:tx>
            <c:strRef>
              <c:f>Sheet1!$C$1</c:f>
              <c:strCache>
                <c:ptCount val="1"/>
                <c:pt idx="0">
                  <c:v>Measured runs</c:v>
                </c:pt>
              </c:strCache>
            </c:strRef>
          </c:tx>
          <c:spPr>
            <a:solidFill>
              <a:srgbClr val="CBD2DC"/>
            </a:solidFill>
          </c:spPr>
          <c:cat>
            <c:strRef>
              <c:f>Sheet1!$A$2:$A$8</c:f>
              <c:strCache>
                <c:ptCount val="7"/>
                <c:pt idx="0">
                  <c:v>b01</c:v>
                </c:pt>
                <c:pt idx="1">
                  <c:v>b02</c:v>
                </c:pt>
                <c:pt idx="2">
                  <c:v>b03</c:v>
                </c:pt>
                <c:pt idx="3">
                  <c:v>b04</c:v>
                </c:pt>
                <c:pt idx="4">
                  <c:v>b05</c:v>
                </c:pt>
                <c:pt idx="5">
                  <c:v>b06</c:v>
                </c:pt>
                <c:pt idx="6">
                  <c:v>b09</c:v>
                </c:pt>
              </c:strCache>
            </c:strRef>
          </c:cat>
          <c:val>
            <c:numRef>
              <c:f>Sheet1!$C$2:$C$8</c:f>
              <c:numCache>
                <c:formatCode>General</c:formatCode>
                <c:ptCount val="7"/>
                <c:pt idx="0">
                  <c:v>1</c:v>
                </c:pt>
                <c:pt idx="1">
                  <c:v>2</c:v>
                </c:pt>
                <c:pt idx="2">
                  <c:v>2</c:v>
                </c:pt>
                <c:pt idx="3">
                  <c:v>2</c:v>
                </c:pt>
                <c:pt idx="4">
                  <c:v>3</c:v>
                </c:pt>
                <c:pt idx="5">
                  <c:v>3</c:v>
                </c:pt>
                <c:pt idx="6">
                  <c:v>3</c:v>
                </c:pt>
              </c:numCache>
            </c:numRef>
          </c:val>
        </c:ser>
        <c:dLbls>
          <c:txPr>
            <a:bodyPr/>
            <a:lstStyle/>
            <a:p>
              <a:pPr>
                <a:defRPr sz="1200">
                  <a:solidFill>
                    <a:srgbClr val="E8EAF0"/>
                  </a:solidFill>
                </a:defRPr>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2A2F3A"/>
            </a:solidFill>
          </a:ln>
        </c:spPr>
        <c:txPr>
          <a:bodyPr/>
          <a:lstStyle/>
          <a:p>
            <a:pPr>
              <a:defRPr>
                <a:solidFill>
                  <a:srgbClr val="8B93A1"/>
                </a:solidFill>
              </a:defRPr>
            </a:pPr>
          </a:p>
        </c:txPr>
        <c:crossAx val="-2113994440"/>
        <c:crosses val="autoZero"/>
        <c:auto val="1"/>
        <c:lblAlgn val="ctr"/>
        <c:lblOffset val="100"/>
        <c:noMultiLvlLbl val="0"/>
      </c:catAx>
      <c:valAx>
        <c:axId val="-2113994440"/>
        <c:scaling/>
        <c:delete/>
        <c:axPos val="l"/>
        <c:majorGridlines>
          <c:spPr>
            <a:ln>
              <a:noFill/>
            </a:ln>
          </c:spPr>
        </c:majorGridlines>
        <c:majorTickMark val="out"/>
        <c:minorTickMark val="none"/>
        <c:tickLblPos val="nextTo"/>
        <c:spPr>
          <a:ln>
            <a:noFill/>
          </a:ln>
        </c:spPr>
        <c:txPr>
          <a:bodyPr/>
          <a:lstStyle/>
          <a:p>
            <a:pPr>
              <a:defRPr>
                <a:solidFill>
                  <a:srgbClr val="8B93A1"/>
                </a:solidFill>
              </a:defRPr>
            </a:pPr>
          </a:p>
        </c:txPr>
        <c:crossAx val="-2068027336"/>
        <c:crosses val="autoZero"/>
      </c:valAx>
    </c:plotArea>
    <c:legend>
      <c:legendPos val="t"/>
      <c:overlay val="0"/>
      <c:txPr>
        <a:bodyPr/>
        <a:lstStyle/>
        <a:p>
          <a:pPr>
            <a:defRPr sz="1300">
              <a:solidFill>
                <a:srgbClr val="E8EAF0"/>
              </a:solidFill>
            </a:defRPr>
          </a:pPr>
        </a:p>
      </c:txPr>
    </c:legend>
    <c:dispBlanksAs val="gap"/>
  </c:chart>
  <c:txPr>
    <a:bodyPr/>
    <a:lstStyle/>
    <a:p>
      <a:pPr>
        <a:defRPr sz="1300">
          <a:solidFill>
            <a:srgbClr val="8B93A1"/>
          </a:solidFill>
          <a:latin typeface="Red Hat Display"/>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problem in one sentence: LaTeX needs several runs, and nobody tells you in advance how many.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document from the corpus. Six pdflatex passes give 1, 2, 3, 4, 5, 6 pages. Tools stop at a cap and report that they gave 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independent convergence detectors exist. All of them need at least one execution. The static, pre-execution half is the open part. Typst is a different compiler, shown for contrast.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idea: AuxFlow answers one question, how many passes and will it settle, without doing the expensive work. The engine still builds the PDF. The analysis core is pure Python with no runtime dependencies. Only the runtime layer starts TeX.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bench/results/published/results.jsonl. Baseline A is the fixed three-pass schedule. Baseline D is the static analysis. Ratios: b09 about 84x, b01 about 1,200x. This compares the cost of deciding, not the cost of the final build.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Maps to RQ0 and RQ1, RQ2, RQ4 in docs/project/research-questions.md. The claim is deliberately narrow: a declared subset, a conservative bound, no global minimum.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compiler core never touches TeX. Only the runtime layer starts subprocesses. Non-certified plans never get fewer than three runs.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edge carries a reason and every node a source span. Analysis uses taint propagation and strongly connected components, implemented in the repo without a graph library.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mirrors analysis/classify.py. Precedence: amplifying cycle, then opaque facts, then plain cycle, then certified. A non-certified plan never has fewer than three engine runs, guarded by a property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docs/evaluation/report.md, Gate 2. The bound is conservative, never minimal. b09 is the realistic thesis with 91 facts. Static analysis took 13.6 ms median, 18 ms at most, across all 15 documents.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docs/reference/package-support.md and language-subset.md. The package list is _MODELLED_PACKAGES in src/auxflow/semantic/resolve.py. Changing it changes the analysis contract.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Opacity is whole-document today. Per-file granularity is an open decision in the specification. The three declared false negatives b11, b12, b13 now classify UNKNOWN through syntactic guards. b07 and b15 are opaque by design.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VS Code extension never runs TeX. It bundles the analyzer. Avoid --force in a live demo of b08.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Prepared answers. Package list: docs/reference/package-support.md. Declared false negatives: b11, b12, b13.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11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Rectangle 1"/>
          <p:cNvSpPr/>
          <p:nvPr/>
        </p:nvSpPr>
        <p:spPr>
          <a:xfrm>
            <a:off x="914400" y="2103120"/>
            <a:ext cx="91440" cy="21031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920240"/>
            <a:ext cx="10058400" cy="1097280"/>
          </a:xfrm>
          <a:prstGeom prst="rect">
            <a:avLst/>
          </a:prstGeom>
          <a:noFill/>
        </p:spPr>
        <p:txBody>
          <a:bodyPr wrap="square" anchor="t" lIns="45720" rIns="45720" tIns="27432" bIns="27432">
            <a:spAutoFit/>
          </a:bodyPr>
          <a:lstStyle/>
          <a:p>
            <a:pPr algn="l">
              <a:spcAft>
                <a:spcPts val="400"/>
              </a:spcAft>
            </a:pPr>
            <a:r>
              <a:rPr sz="7200" b="1">
                <a:solidFill>
                  <a:srgbClr val="E8EAF0"/>
                </a:solidFill>
                <a:latin typeface="Montserrat Alternates"/>
              </a:rPr>
              <a:t>AuxFlow</a:t>
            </a:r>
          </a:p>
        </p:txBody>
      </p:sp>
      <p:sp>
        <p:nvSpPr>
          <p:cNvPr id="4" name="TextBox 3"/>
          <p:cNvSpPr txBox="1"/>
          <p:nvPr/>
        </p:nvSpPr>
        <p:spPr>
          <a:xfrm>
            <a:off x="1188720" y="3108960"/>
            <a:ext cx="10058400" cy="914400"/>
          </a:xfrm>
          <a:prstGeom prst="rect">
            <a:avLst/>
          </a:prstGeom>
          <a:noFill/>
        </p:spPr>
        <p:txBody>
          <a:bodyPr wrap="square" anchor="t" lIns="45720" rIns="45720" tIns="27432" bIns="27432">
            <a:spAutoFit/>
          </a:bodyPr>
          <a:lstStyle/>
          <a:p>
            <a:pPr algn="l">
              <a:spcAft>
                <a:spcPts val="400"/>
              </a:spcAft>
            </a:pPr>
            <a:r>
              <a:rPr sz="3000" b="0">
                <a:solidFill>
                  <a:srgbClr val="E8EAF0"/>
                </a:solidFill>
                <a:latin typeface="Red Hat Display"/>
              </a:rPr>
              <a:t>Static analysis of multi-pass LaTeX builds</a:t>
            </a:r>
          </a:p>
        </p:txBody>
      </p:sp>
      <p:sp>
        <p:nvSpPr>
          <p:cNvPr id="5" name="TextBox 4"/>
          <p:cNvSpPr txBox="1"/>
          <p:nvPr/>
        </p:nvSpPr>
        <p:spPr>
          <a:xfrm>
            <a:off x="1188720" y="3794760"/>
            <a:ext cx="10058400" cy="548640"/>
          </a:xfrm>
          <a:prstGeom prst="rect">
            <a:avLst/>
          </a:prstGeom>
          <a:noFill/>
        </p:spPr>
        <p:txBody>
          <a:bodyPr wrap="square" anchor="t" lIns="45720" rIns="45720" tIns="27432" bIns="27432">
            <a:spAutoFit/>
          </a:bodyPr>
          <a:lstStyle/>
          <a:p>
            <a:pPr algn="l">
              <a:spcAft>
                <a:spcPts val="400"/>
              </a:spcAft>
            </a:pPr>
            <a:r>
              <a:rPr sz="2000" b="0">
                <a:solidFill>
                  <a:srgbClr val="8B93A1"/>
                </a:solidFill>
                <a:latin typeface="Red Hat Display"/>
              </a:rPr>
              <a:t>Predict how many TeX runs a document needs, before the first run</a:t>
            </a:r>
          </a:p>
        </p:txBody>
      </p:sp>
      <p:sp>
        <p:nvSpPr>
          <p:cNvPr id="6" name="TextBox 5"/>
          <p:cNvSpPr txBox="1"/>
          <p:nvPr/>
        </p:nvSpPr>
        <p:spPr>
          <a:xfrm>
            <a:off x="1188720" y="5760720"/>
            <a:ext cx="10058400" cy="365760"/>
          </a:xfrm>
          <a:prstGeom prst="rect">
            <a:avLst/>
          </a:prstGeom>
          <a:noFill/>
        </p:spPr>
        <p:txBody>
          <a:bodyPr wrap="square" anchor="t" lIns="45720" rIns="45720" tIns="27432" bIns="27432">
            <a:spAutoFit/>
          </a:bodyPr>
          <a:lstStyle/>
          <a:p>
            <a:pPr algn="l">
              <a:spcAft>
                <a:spcPts val="400"/>
              </a:spcAft>
            </a:pPr>
            <a:r>
              <a:rPr sz="1400" b="0">
                <a:solidFill>
                  <a:srgbClr val="8B93A1"/>
                </a:solidFill>
                <a:latin typeface="Red Hat Display"/>
              </a:rPr>
              <a:t>Upayan Mazumder   |   auxflow.upayan.dev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itle 1"/>
          <p:cNvSpPr>
            <a:spLocks noGrp="1"/>
          </p:cNvSpPr>
          <p:nvPr>
            <p:ph type="title"/>
          </p:nvPr>
        </p:nvSpPr>
        <p:spPr>
          <a:xfrm>
            <a:off x="685800" y="960120"/>
            <a:ext cx="10789920" cy="731520"/>
          </a:xfrm>
        </p:spPr>
        <p:txBody>
          <a:bodyPr wrap="square" anchor="t" lIns="45720" rIns="45720" tIns="27432" bIns="27432"/>
          <a:lstStyle/>
          <a:p>
            <a:pPr algn="l"/>
            <a:r>
              <a:rPr sz="3200" b="1">
                <a:solidFill>
                  <a:srgbClr val="E8EAF0"/>
                </a:solidFill>
                <a:latin typeface="Montserrat Alternates"/>
              </a:rPr>
              <a:t>Some LaTeX documents never settle</a:t>
            </a:r>
          </a:p>
        </p:txBody>
      </p:sp>
      <p:sp>
        <p:nvSpPr>
          <p:cNvPr id="3" name="Rectangle 2"/>
          <p:cNvSpPr/>
          <p:nvPr/>
        </p:nvSpPr>
        <p:spPr>
          <a:xfrm>
            <a:off x="731520" y="566928"/>
            <a:ext cx="320040" cy="457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8229600" cy="320040"/>
          </a:xfrm>
          <a:prstGeom prst="rect">
            <a:avLst/>
          </a:prstGeom>
          <a:noFill/>
        </p:spPr>
        <p:txBody>
          <a:bodyPr wrap="square" anchor="t" lIns="45720" rIns="45720" tIns="27432" bIns="27432">
            <a:spAutoFit/>
          </a:bodyPr>
          <a:lstStyle/>
          <a:p>
            <a:pPr algn="l">
              <a:spcAft>
                <a:spcPts val="400"/>
              </a:spcAft>
            </a:pPr>
            <a:r>
              <a:rPr sz="1200" b="1">
                <a:solidFill>
                  <a:srgbClr val="A78BFA"/>
                </a:solidFill>
                <a:latin typeface="Montserrat Alternates"/>
              </a:rPr>
              <a:t>THE PROBLEM</a:t>
            </a:r>
          </a:p>
        </p:txBody>
      </p:sp>
      <p:sp>
        <p:nvSpPr>
          <p:cNvPr id="5" name="Rectangle 4"/>
          <p:cNvSpPr/>
          <p:nvPr/>
        </p:nvSpPr>
        <p:spPr>
          <a:xfrm>
            <a:off x="731520" y="6263640"/>
            <a:ext cx="10725912" cy="9144"/>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355080"/>
            <a:ext cx="3657600" cy="274320"/>
          </a:xfrm>
          <a:prstGeom prst="rect">
            <a:avLst/>
          </a:prstGeom>
          <a:noFill/>
        </p:spPr>
        <p:txBody>
          <a:bodyPr wrap="square" anchor="t" lIns="45720" rIns="45720" tIns="27432" bIns="27432">
            <a:spAutoFit/>
          </a:bodyPr>
          <a:lstStyle/>
          <a:p>
            <a:pPr algn="l">
              <a:spcAft>
                <a:spcPts val="400"/>
              </a:spcAft>
            </a:pPr>
            <a:r>
              <a:rPr sz="1100" b="0">
                <a:solidFill>
                  <a:srgbClr val="8B93A1"/>
                </a:solidFill>
                <a:latin typeface="Red Hat Display"/>
              </a:rPr>
              <a:t>AuxFlow</a:t>
            </a:r>
          </a:p>
        </p:txBody>
      </p:sp>
      <p:sp>
        <p:nvSpPr>
          <p:cNvPr id="7" name="TextBox 6"/>
          <p:cNvSpPr txBox="1"/>
          <p:nvPr/>
        </p:nvSpPr>
        <p:spPr>
          <a:xfrm>
            <a:off x="10789920" y="6355080"/>
            <a:ext cx="731520" cy="274320"/>
          </a:xfrm>
          <a:prstGeom prst="rect">
            <a:avLst/>
          </a:prstGeom>
          <a:noFill/>
        </p:spPr>
        <p:txBody>
          <a:bodyPr wrap="square" anchor="t" lIns="45720" rIns="45720" tIns="27432" bIns="27432">
            <a:spAutoFit/>
          </a:bodyPr>
          <a:lstStyle/>
          <a:p>
            <a:pPr algn="r">
              <a:spcAft>
                <a:spcPts val="400"/>
              </a:spcAft>
            </a:pPr>
            <a:r>
              <a:rPr sz="1100" b="0">
                <a:solidFill>
                  <a:srgbClr val="8B93A1"/>
                </a:solidFill>
                <a:latin typeface="Red Hat Display"/>
              </a:rPr>
              <a:t>2</a:t>
            </a:r>
          </a:p>
        </p:txBody>
      </p:sp>
      <p:sp>
        <p:nvSpPr>
          <p:cNvPr id="8" name="Rounded Rectangle 7"/>
          <p:cNvSpPr/>
          <p:nvPr/>
        </p:nvSpPr>
        <p:spPr>
          <a:xfrm>
            <a:off x="822960" y="2011680"/>
            <a:ext cx="5120640" cy="3291840"/>
          </a:xfrm>
          <a:prstGeom prst="roundRect">
            <a:avLst>
              <a:gd name="adj" fmla="val 10000"/>
            </a:avLst>
          </a:prstGeom>
          <a:solidFill>
            <a:srgbClr val="090B0E"/>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03120"/>
            <a:ext cx="4754880" cy="320040"/>
          </a:xfrm>
          <a:prstGeom prst="rect">
            <a:avLst/>
          </a:prstGeom>
          <a:noFill/>
        </p:spPr>
        <p:txBody>
          <a:bodyPr wrap="square" anchor="t" lIns="45720" rIns="45720" tIns="27432" bIns="27432">
            <a:spAutoFit/>
          </a:bodyPr>
          <a:lstStyle/>
          <a:p>
            <a:pPr algn="l">
              <a:spcAft>
                <a:spcPts val="400"/>
              </a:spcAft>
            </a:pPr>
            <a:r>
              <a:rPr sz="1200" b="0">
                <a:solidFill>
                  <a:srgbClr val="8B93A1"/>
                </a:solidFill>
                <a:latin typeface="Red Hat Mono"/>
              </a:rPr>
              <a:t>b08_cycle.tex</a:t>
            </a:r>
          </a:p>
        </p:txBody>
      </p:sp>
      <p:sp>
        <p:nvSpPr>
          <p:cNvPr id="10" name="TextBox 9"/>
          <p:cNvSpPr txBox="1"/>
          <p:nvPr/>
        </p:nvSpPr>
        <p:spPr>
          <a:xfrm>
            <a:off x="1005840" y="2514600"/>
            <a:ext cx="4754880" cy="2743200"/>
          </a:xfrm>
          <a:prstGeom prst="rect">
            <a:avLst/>
          </a:prstGeom>
          <a:noFill/>
        </p:spPr>
        <p:txBody>
          <a:bodyPr wrap="square" anchor="t" lIns="45720" rIns="45720" tIns="27432" bIns="27432">
            <a:spAutoFit/>
          </a:bodyPr>
          <a:lstStyle/>
          <a:p>
            <a:pPr algn="l">
              <a:spcAft>
                <a:spcPts val="400"/>
              </a:spcAft>
            </a:pPr>
            <a:r>
              <a:rPr sz="1500" b="0">
                <a:solidFill>
                  <a:srgbClr val="34D399"/>
                </a:solidFill>
                <a:latin typeface="Red Hat Mono"/>
              </a:rPr>
              <a:t>\whiledo{\value{n}&lt;\pageref{end}}{</a:t>
            </a:r>
          </a:p>
          <a:p>
            <a:pPr algn="l">
              <a:spcAft>
                <a:spcPts val="400"/>
              </a:spcAft>
            </a:pPr>
            <a:r>
              <a:rPr sz="1500" b="0">
                <a:solidFill>
                  <a:srgbClr val="34D399"/>
                </a:solidFill>
                <a:latin typeface="Red Hat Mono"/>
              </a:rPr>
              <a:t>  \stepcounter{n}</a:t>
            </a:r>
          </a:p>
          <a:p>
            <a:pPr algn="l">
              <a:spcAft>
                <a:spcPts val="400"/>
              </a:spcAft>
            </a:pPr>
            <a:r>
              <a:rPr sz="1500" b="0">
                <a:solidFill>
                  <a:srgbClr val="34D399"/>
                </a:solidFill>
                <a:latin typeface="Red Hat Mono"/>
              </a:rPr>
              <a:t>  Another page.</a:t>
            </a:r>
          </a:p>
          <a:p>
            <a:pPr algn="l">
              <a:spcAft>
                <a:spcPts val="400"/>
              </a:spcAft>
            </a:pPr>
            <a:r>
              <a:rPr sz="1500" b="0">
                <a:solidFill>
                  <a:srgbClr val="34D399"/>
                </a:solidFill>
                <a:latin typeface="Red Hat Mono"/>
              </a:rPr>
              <a:t>  \newpage</a:t>
            </a:r>
          </a:p>
          <a:p>
            <a:pPr algn="l">
              <a:spcAft>
                <a:spcPts val="400"/>
              </a:spcAft>
            </a:pPr>
            <a:r>
              <a:rPr sz="1500" b="0">
                <a:solidFill>
                  <a:srgbClr val="34D399"/>
                </a:solidFill>
                <a:latin typeface="Red Hat Mono"/>
              </a:rPr>
              <a:t>}</a:t>
            </a:r>
          </a:p>
          <a:p>
            <a:pPr algn="l">
              <a:spcAft>
                <a:spcPts val="400"/>
              </a:spcAft>
            </a:pPr>
            <a:r>
              <a:rPr sz="1500" b="0">
                <a:solidFill>
                  <a:srgbClr val="34D399"/>
                </a:solidFill>
                <a:latin typeface="Red Hat Mono"/>
              </a:rPr>
              <a:t>\label{end}</a:t>
            </a:r>
          </a:p>
        </p:txBody>
      </p:sp>
      <p:sp>
        <p:nvSpPr>
          <p:cNvPr id="11" name="TextBox 10"/>
          <p:cNvSpPr txBox="1"/>
          <p:nvPr/>
        </p:nvSpPr>
        <p:spPr>
          <a:xfrm>
            <a:off x="822960" y="5394960"/>
            <a:ext cx="5120640" cy="731520"/>
          </a:xfrm>
          <a:prstGeom prst="rect">
            <a:avLst/>
          </a:prstGeom>
          <a:noFill/>
        </p:spPr>
        <p:txBody>
          <a:bodyPr wrap="square" anchor="t" lIns="45720" rIns="45720" tIns="27432" bIns="27432">
            <a:spAutoFit/>
          </a:bodyPr>
          <a:lstStyle/>
          <a:p>
            <a:pPr algn="l">
              <a:spcAft>
                <a:spcPts val="400"/>
              </a:spcAft>
            </a:pPr>
            <a:r>
              <a:rPr sz="1600" b="0">
                <a:solidFill>
                  <a:srgbClr val="8B93A1"/>
                </a:solidFill>
                <a:latin typeface="Red Hat Display"/>
              </a:rPr>
              <a:t>The loop depends on the page of a label that the loop itself moves.</a:t>
            </a:r>
          </a:p>
        </p:txBody>
      </p:sp>
      <p:graphicFrame>
        <p:nvGraphicFramePr>
          <p:cNvPr id="12" name="Chart 11"/>
          <p:cNvGraphicFramePr>
            <a:graphicFrameLocks noGrp="1"/>
          </p:cNvGraphicFramePr>
          <p:nvPr/>
        </p:nvGraphicFramePr>
        <p:xfrm>
          <a:off x="6400800" y="2011680"/>
          <a:ext cx="5029200" cy="3291840"/>
        </p:xfrm>
        <a:graphic>
          <a:graphicData uri="http://schemas.openxmlformats.org/drawingml/2006/chart">
            <c:chart xmlns:c="http://schemas.openxmlformats.org/drawingml/2006/chart" r:id="rId2"/>
          </a:graphicData>
        </a:graphic>
      </p:graphicFrame>
      <p:sp>
        <p:nvSpPr>
          <p:cNvPr id="13" name="TextBox 12"/>
          <p:cNvSpPr txBox="1"/>
          <p:nvPr/>
        </p:nvSpPr>
        <p:spPr>
          <a:xfrm>
            <a:off x="6400800" y="5394960"/>
            <a:ext cx="5029200" cy="731520"/>
          </a:xfrm>
          <a:prstGeom prst="rect">
            <a:avLst/>
          </a:prstGeom>
          <a:noFill/>
        </p:spPr>
        <p:txBody>
          <a:bodyPr wrap="square" anchor="t" lIns="45720" rIns="45720" tIns="27432" bIns="27432">
            <a:spAutoFit/>
          </a:bodyPr>
          <a:lstStyle/>
          <a:p>
            <a:pPr algn="l">
              <a:spcAft>
                <a:spcPts val="400"/>
              </a:spcAft>
            </a:pPr>
            <a:r>
              <a:rPr sz="1600" b="0">
                <a:solidFill>
                  <a:srgbClr val="8B93A1"/>
                </a:solidFill>
                <a:latin typeface="Red Hat Display"/>
              </a:rPr>
              <a:t>Pages after each pdflatex pass. The count grows by one each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itle 1"/>
          <p:cNvSpPr>
            <a:spLocks noGrp="1"/>
          </p:cNvSpPr>
          <p:nvPr>
            <p:ph type="title"/>
          </p:nvPr>
        </p:nvSpPr>
        <p:spPr>
          <a:xfrm>
            <a:off x="685800" y="960120"/>
            <a:ext cx="10789920" cy="731520"/>
          </a:xfrm>
        </p:spPr>
        <p:txBody>
          <a:bodyPr wrap="square" anchor="t" lIns="45720" rIns="45720" tIns="27432" bIns="27432"/>
          <a:lstStyle/>
          <a:p>
            <a:pPr algn="l"/>
            <a:r>
              <a:rPr sz="3200" b="1">
                <a:solidFill>
                  <a:srgbClr val="E8EAF0"/>
                </a:solidFill>
                <a:latin typeface="Montserrat Alternates"/>
              </a:rPr>
              <a:t>Existing tools learn the answer by running</a:t>
            </a:r>
          </a:p>
        </p:txBody>
      </p:sp>
      <p:sp>
        <p:nvSpPr>
          <p:cNvPr id="3" name="Rectangle 2"/>
          <p:cNvSpPr/>
          <p:nvPr/>
        </p:nvSpPr>
        <p:spPr>
          <a:xfrm>
            <a:off x="731520" y="566928"/>
            <a:ext cx="320040" cy="457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8229600" cy="320040"/>
          </a:xfrm>
          <a:prstGeom prst="rect">
            <a:avLst/>
          </a:prstGeom>
          <a:noFill/>
        </p:spPr>
        <p:txBody>
          <a:bodyPr wrap="square" anchor="t" lIns="45720" rIns="45720" tIns="27432" bIns="27432">
            <a:spAutoFit/>
          </a:bodyPr>
          <a:lstStyle/>
          <a:p>
            <a:pPr algn="l">
              <a:spcAft>
                <a:spcPts val="400"/>
              </a:spcAft>
            </a:pPr>
            <a:r>
              <a:rPr sz="1200" b="1">
                <a:solidFill>
                  <a:srgbClr val="A78BFA"/>
                </a:solidFill>
                <a:latin typeface="Montserrat Alternates"/>
              </a:rPr>
              <a:t>HOW IT DIFFERS</a:t>
            </a:r>
          </a:p>
        </p:txBody>
      </p:sp>
      <p:sp>
        <p:nvSpPr>
          <p:cNvPr id="5" name="Rectangle 4"/>
          <p:cNvSpPr/>
          <p:nvPr/>
        </p:nvSpPr>
        <p:spPr>
          <a:xfrm>
            <a:off x="731520" y="6263640"/>
            <a:ext cx="10725912" cy="9144"/>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355080"/>
            <a:ext cx="3657600" cy="274320"/>
          </a:xfrm>
          <a:prstGeom prst="rect">
            <a:avLst/>
          </a:prstGeom>
          <a:noFill/>
        </p:spPr>
        <p:txBody>
          <a:bodyPr wrap="square" anchor="t" lIns="45720" rIns="45720" tIns="27432" bIns="27432">
            <a:spAutoFit/>
          </a:bodyPr>
          <a:lstStyle/>
          <a:p>
            <a:pPr algn="l">
              <a:spcAft>
                <a:spcPts val="400"/>
              </a:spcAft>
            </a:pPr>
            <a:r>
              <a:rPr sz="1100" b="0">
                <a:solidFill>
                  <a:srgbClr val="8B93A1"/>
                </a:solidFill>
                <a:latin typeface="Red Hat Display"/>
              </a:rPr>
              <a:t>AuxFlow</a:t>
            </a:r>
          </a:p>
        </p:txBody>
      </p:sp>
      <p:sp>
        <p:nvSpPr>
          <p:cNvPr id="7" name="TextBox 6"/>
          <p:cNvSpPr txBox="1"/>
          <p:nvPr/>
        </p:nvSpPr>
        <p:spPr>
          <a:xfrm>
            <a:off x="10789920" y="6355080"/>
            <a:ext cx="731520" cy="274320"/>
          </a:xfrm>
          <a:prstGeom prst="rect">
            <a:avLst/>
          </a:prstGeom>
          <a:noFill/>
        </p:spPr>
        <p:txBody>
          <a:bodyPr wrap="square" anchor="t" lIns="45720" rIns="45720" tIns="27432" bIns="27432">
            <a:spAutoFit/>
          </a:bodyPr>
          <a:lstStyle/>
          <a:p>
            <a:pPr algn="r">
              <a:spcAft>
                <a:spcPts val="400"/>
              </a:spcAft>
            </a:pPr>
            <a:r>
              <a:rPr sz="1100" b="0">
                <a:solidFill>
                  <a:srgbClr val="8B93A1"/>
                </a:solidFill>
                <a:latin typeface="Red Hat Display"/>
              </a:rPr>
              <a:t>3</a:t>
            </a:r>
          </a:p>
        </p:txBody>
      </p:sp>
      <p:sp>
        <p:nvSpPr>
          <p:cNvPr id="8" name="TextBox 7"/>
          <p:cNvSpPr txBox="1"/>
          <p:nvPr/>
        </p:nvSpPr>
        <p:spPr>
          <a:xfrm>
            <a:off x="822960" y="1965960"/>
            <a:ext cx="1828800" cy="320040"/>
          </a:xfrm>
          <a:prstGeom prst="rect">
            <a:avLst/>
          </a:prstGeom>
          <a:noFill/>
        </p:spPr>
        <p:txBody>
          <a:bodyPr wrap="square" anchor="t" lIns="45720" rIns="45720" tIns="27432" bIns="27432">
            <a:spAutoFit/>
          </a:bodyPr>
          <a:lstStyle/>
          <a:p>
            <a:pPr algn="l">
              <a:spcAft>
                <a:spcPts val="400"/>
              </a:spcAft>
            </a:pPr>
            <a:r>
              <a:rPr sz="1200" b="1">
                <a:solidFill>
                  <a:srgbClr val="8B93A1"/>
                </a:solidFill>
                <a:latin typeface="Montserrat Alternates"/>
              </a:rPr>
              <a:t>Tool</a:t>
            </a:r>
          </a:p>
        </p:txBody>
      </p:sp>
      <p:sp>
        <p:nvSpPr>
          <p:cNvPr id="9" name="TextBox 8"/>
          <p:cNvSpPr txBox="1"/>
          <p:nvPr/>
        </p:nvSpPr>
        <p:spPr>
          <a:xfrm>
            <a:off x="2834640" y="1965960"/>
            <a:ext cx="4937760" cy="320040"/>
          </a:xfrm>
          <a:prstGeom prst="rect">
            <a:avLst/>
          </a:prstGeom>
          <a:noFill/>
        </p:spPr>
        <p:txBody>
          <a:bodyPr wrap="square" anchor="t" lIns="45720" rIns="45720" tIns="27432" bIns="27432">
            <a:spAutoFit/>
          </a:bodyPr>
          <a:lstStyle/>
          <a:p>
            <a:pPr algn="l">
              <a:spcAft>
                <a:spcPts val="400"/>
              </a:spcAft>
            </a:pPr>
            <a:r>
              <a:rPr sz="1200" b="1">
                <a:solidFill>
                  <a:srgbClr val="8B93A1"/>
                </a:solidFill>
                <a:latin typeface="Montserrat Alternates"/>
              </a:rPr>
              <a:t>Decides it is done by</a:t>
            </a:r>
          </a:p>
        </p:txBody>
      </p:sp>
      <p:sp>
        <p:nvSpPr>
          <p:cNvPr id="10" name="TextBox 9"/>
          <p:cNvSpPr txBox="1"/>
          <p:nvPr/>
        </p:nvSpPr>
        <p:spPr>
          <a:xfrm>
            <a:off x="7955279" y="1965960"/>
            <a:ext cx="3474720" cy="320040"/>
          </a:xfrm>
          <a:prstGeom prst="rect">
            <a:avLst/>
          </a:prstGeom>
          <a:noFill/>
        </p:spPr>
        <p:txBody>
          <a:bodyPr wrap="square" anchor="t" lIns="45720" rIns="45720" tIns="27432" bIns="27432">
            <a:spAutoFit/>
          </a:bodyPr>
          <a:lstStyle/>
          <a:p>
            <a:pPr algn="l">
              <a:spcAft>
                <a:spcPts val="400"/>
              </a:spcAft>
            </a:pPr>
            <a:r>
              <a:rPr sz="1200" b="1">
                <a:solidFill>
                  <a:srgbClr val="8B93A1"/>
                </a:solidFill>
                <a:latin typeface="Montserrat Alternates"/>
              </a:rPr>
              <a:t>Stops at</a:t>
            </a:r>
          </a:p>
        </p:txBody>
      </p:sp>
      <p:sp>
        <p:nvSpPr>
          <p:cNvPr id="11" name="Rounded Rectangle 10"/>
          <p:cNvSpPr/>
          <p:nvPr/>
        </p:nvSpPr>
        <p:spPr>
          <a:xfrm>
            <a:off x="731520" y="2286000"/>
            <a:ext cx="10698480" cy="566928"/>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286000"/>
            <a:ext cx="1828800" cy="566928"/>
          </a:xfrm>
          <a:prstGeom prst="rect">
            <a:avLst/>
          </a:prstGeom>
          <a:noFill/>
        </p:spPr>
        <p:txBody>
          <a:bodyPr wrap="square" anchor="ctr" lIns="45720" rIns="45720" tIns="27432" bIns="27432">
            <a:spAutoFit/>
          </a:bodyPr>
          <a:lstStyle/>
          <a:p>
            <a:pPr algn="l">
              <a:spcAft>
                <a:spcPts val="400"/>
              </a:spcAft>
            </a:pPr>
            <a:r>
              <a:rPr sz="1700" b="1">
                <a:solidFill>
                  <a:srgbClr val="E8EAF0"/>
                </a:solidFill>
                <a:latin typeface="Montserrat Alternates"/>
              </a:rPr>
              <a:t>latexmk</a:t>
            </a:r>
          </a:p>
        </p:txBody>
      </p:sp>
      <p:sp>
        <p:nvSpPr>
          <p:cNvPr id="13" name="TextBox 12"/>
          <p:cNvSpPr txBox="1"/>
          <p:nvPr/>
        </p:nvSpPr>
        <p:spPr>
          <a:xfrm>
            <a:off x="2834640" y="2286000"/>
            <a:ext cx="4937760" cy="566928"/>
          </a:xfrm>
          <a:prstGeom prst="rect">
            <a:avLst/>
          </a:prstGeom>
          <a:noFill/>
        </p:spPr>
        <p:txBody>
          <a:bodyPr wrap="square" anchor="ctr" lIns="45720" rIns="45720" tIns="27432" bIns="27432">
            <a:spAutoFit/>
          </a:bodyPr>
          <a:lstStyle/>
          <a:p>
            <a:pPr algn="l">
              <a:spcAft>
                <a:spcPts val="400"/>
              </a:spcAft>
            </a:pPr>
            <a:r>
              <a:rPr sz="1600" b="0">
                <a:solidFill>
                  <a:srgbClr val="8B93A1"/>
                </a:solidFill>
                <a:latin typeface="Red Hat Display"/>
              </a:rPr>
              <a:t>Comparing file checksums after each run</a:t>
            </a:r>
          </a:p>
        </p:txBody>
      </p:sp>
      <p:sp>
        <p:nvSpPr>
          <p:cNvPr id="14" name="TextBox 13"/>
          <p:cNvSpPr txBox="1"/>
          <p:nvPr/>
        </p:nvSpPr>
        <p:spPr>
          <a:xfrm>
            <a:off x="7955279" y="2286000"/>
            <a:ext cx="3474720" cy="566928"/>
          </a:xfrm>
          <a:prstGeom prst="rect">
            <a:avLst/>
          </a:prstGeom>
          <a:noFill/>
        </p:spPr>
        <p:txBody>
          <a:bodyPr wrap="square" anchor="ctr" lIns="45720" rIns="45720" tIns="27432" bIns="27432">
            <a:spAutoFit/>
          </a:bodyPr>
          <a:lstStyle/>
          <a:p>
            <a:pPr algn="l">
              <a:spcAft>
                <a:spcPts val="400"/>
              </a:spcAft>
            </a:pPr>
            <a:r>
              <a:rPr sz="1600" b="0">
                <a:solidFill>
                  <a:srgbClr val="8B93A1"/>
                </a:solidFill>
                <a:latin typeface="Red Hat Display"/>
              </a:rPr>
              <a:t>5 runs, then gives up</a:t>
            </a:r>
          </a:p>
        </p:txBody>
      </p:sp>
      <p:sp>
        <p:nvSpPr>
          <p:cNvPr id="15" name="Rounded Rectangle 14"/>
          <p:cNvSpPr/>
          <p:nvPr/>
        </p:nvSpPr>
        <p:spPr>
          <a:xfrm>
            <a:off x="731520" y="2944368"/>
            <a:ext cx="10698480" cy="566928"/>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944368"/>
            <a:ext cx="1828800" cy="566928"/>
          </a:xfrm>
          <a:prstGeom prst="rect">
            <a:avLst/>
          </a:prstGeom>
          <a:noFill/>
        </p:spPr>
        <p:txBody>
          <a:bodyPr wrap="square" anchor="ctr" lIns="45720" rIns="45720" tIns="27432" bIns="27432">
            <a:spAutoFit/>
          </a:bodyPr>
          <a:lstStyle/>
          <a:p>
            <a:pPr algn="l">
              <a:spcAft>
                <a:spcPts val="400"/>
              </a:spcAft>
            </a:pPr>
            <a:r>
              <a:rPr sz="1700" b="1">
                <a:solidFill>
                  <a:srgbClr val="E8EAF0"/>
                </a:solidFill>
                <a:latin typeface="Montserrat Alternates"/>
              </a:rPr>
              <a:t>latexrun</a:t>
            </a:r>
          </a:p>
        </p:txBody>
      </p:sp>
      <p:sp>
        <p:nvSpPr>
          <p:cNvPr id="17" name="TextBox 16"/>
          <p:cNvSpPr txBox="1"/>
          <p:nvPr/>
        </p:nvSpPr>
        <p:spPr>
          <a:xfrm>
            <a:off x="2834640" y="2944368"/>
            <a:ext cx="4937760" cy="566928"/>
          </a:xfrm>
          <a:prstGeom prst="rect">
            <a:avLst/>
          </a:prstGeom>
          <a:noFill/>
        </p:spPr>
        <p:txBody>
          <a:bodyPr wrap="square" anchor="ctr" lIns="45720" rIns="45720" tIns="27432" bIns="27432">
            <a:spAutoFit/>
          </a:bodyPr>
          <a:lstStyle/>
          <a:p>
            <a:pPr algn="l">
              <a:spcAft>
                <a:spcPts val="400"/>
              </a:spcAft>
            </a:pPr>
            <a:r>
              <a:rPr sz="1600" b="0">
                <a:solidFill>
                  <a:srgbClr val="8B93A1"/>
                </a:solidFill>
                <a:latin typeface="Red Hat Display"/>
              </a:rPr>
              <a:t>Checking that tool inputs did not change</a:t>
            </a:r>
          </a:p>
        </p:txBody>
      </p:sp>
      <p:sp>
        <p:nvSpPr>
          <p:cNvPr id="18" name="TextBox 17"/>
          <p:cNvSpPr txBox="1"/>
          <p:nvPr/>
        </p:nvSpPr>
        <p:spPr>
          <a:xfrm>
            <a:off x="7955279" y="2944368"/>
            <a:ext cx="3474720" cy="566928"/>
          </a:xfrm>
          <a:prstGeom prst="rect">
            <a:avLst/>
          </a:prstGeom>
          <a:noFill/>
        </p:spPr>
        <p:txBody>
          <a:bodyPr wrap="square" anchor="ctr" lIns="45720" rIns="45720" tIns="27432" bIns="27432">
            <a:spAutoFit/>
          </a:bodyPr>
          <a:lstStyle/>
          <a:p>
            <a:pPr algn="l">
              <a:spcAft>
                <a:spcPts val="400"/>
              </a:spcAft>
            </a:pPr>
            <a:r>
              <a:rPr sz="1600" b="0">
                <a:solidFill>
                  <a:srgbClr val="8B93A1"/>
                </a:solidFill>
                <a:latin typeface="Red Hat Display"/>
              </a:rPr>
              <a:t>No documented cap</a:t>
            </a:r>
          </a:p>
        </p:txBody>
      </p:sp>
      <p:sp>
        <p:nvSpPr>
          <p:cNvPr id="19" name="Rounded Rectangle 18"/>
          <p:cNvSpPr/>
          <p:nvPr/>
        </p:nvSpPr>
        <p:spPr>
          <a:xfrm>
            <a:off x="731520" y="3602736"/>
            <a:ext cx="10698480" cy="566928"/>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602736"/>
            <a:ext cx="1828800" cy="566928"/>
          </a:xfrm>
          <a:prstGeom prst="rect">
            <a:avLst/>
          </a:prstGeom>
          <a:noFill/>
        </p:spPr>
        <p:txBody>
          <a:bodyPr wrap="square" anchor="ctr" lIns="45720" rIns="45720" tIns="27432" bIns="27432">
            <a:spAutoFit/>
          </a:bodyPr>
          <a:lstStyle/>
          <a:p>
            <a:pPr algn="l">
              <a:spcAft>
                <a:spcPts val="400"/>
              </a:spcAft>
            </a:pPr>
            <a:r>
              <a:rPr sz="1700" b="1">
                <a:solidFill>
                  <a:srgbClr val="E8EAF0"/>
                </a:solidFill>
                <a:latin typeface="Montserrat Alternates"/>
              </a:rPr>
              <a:t>Tectonic</a:t>
            </a:r>
          </a:p>
        </p:txBody>
      </p:sp>
      <p:sp>
        <p:nvSpPr>
          <p:cNvPr id="21" name="TextBox 20"/>
          <p:cNvSpPr txBox="1"/>
          <p:nvPr/>
        </p:nvSpPr>
        <p:spPr>
          <a:xfrm>
            <a:off x="2834640" y="3602736"/>
            <a:ext cx="4937760" cy="566928"/>
          </a:xfrm>
          <a:prstGeom prst="rect">
            <a:avLst/>
          </a:prstGeom>
          <a:noFill/>
        </p:spPr>
        <p:txBody>
          <a:bodyPr wrap="square" anchor="ctr" lIns="45720" rIns="45720" tIns="27432" bIns="27432">
            <a:spAutoFit/>
          </a:bodyPr>
          <a:lstStyle/>
          <a:p>
            <a:pPr algn="l">
              <a:spcAft>
                <a:spcPts val="400"/>
              </a:spcAft>
            </a:pPr>
            <a:r>
              <a:rPr sz="1600" b="0">
                <a:solidFill>
                  <a:srgbClr val="8B93A1"/>
                </a:solidFill>
                <a:latin typeface="Red Hat Display"/>
              </a:rPr>
              <a:t>Comparing files read and then written</a:t>
            </a:r>
          </a:p>
        </p:txBody>
      </p:sp>
      <p:sp>
        <p:nvSpPr>
          <p:cNvPr id="22" name="TextBox 21"/>
          <p:cNvSpPr txBox="1"/>
          <p:nvPr/>
        </p:nvSpPr>
        <p:spPr>
          <a:xfrm>
            <a:off x="7955279" y="3602736"/>
            <a:ext cx="3474720" cy="566928"/>
          </a:xfrm>
          <a:prstGeom prst="rect">
            <a:avLst/>
          </a:prstGeom>
          <a:noFill/>
        </p:spPr>
        <p:txBody>
          <a:bodyPr wrap="square" anchor="ctr" lIns="45720" rIns="45720" tIns="27432" bIns="27432">
            <a:spAutoFit/>
          </a:bodyPr>
          <a:lstStyle/>
          <a:p>
            <a:pPr algn="l">
              <a:spcAft>
                <a:spcPts val="400"/>
              </a:spcAft>
            </a:pPr>
            <a:r>
              <a:rPr sz="1600" b="0">
                <a:solidFill>
                  <a:srgbClr val="8B93A1"/>
                </a:solidFill>
                <a:latin typeface="Red Hat Display"/>
              </a:rPr>
              <a:t>6 passes</a:t>
            </a:r>
          </a:p>
        </p:txBody>
      </p:sp>
      <p:sp>
        <p:nvSpPr>
          <p:cNvPr id="23" name="Rounded Rectangle 22"/>
          <p:cNvSpPr/>
          <p:nvPr/>
        </p:nvSpPr>
        <p:spPr>
          <a:xfrm>
            <a:off x="731520" y="4261104"/>
            <a:ext cx="10698480" cy="566928"/>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261104"/>
            <a:ext cx="1828800" cy="566928"/>
          </a:xfrm>
          <a:prstGeom prst="rect">
            <a:avLst/>
          </a:prstGeom>
          <a:noFill/>
        </p:spPr>
        <p:txBody>
          <a:bodyPr wrap="square" anchor="ctr" lIns="45720" rIns="45720" tIns="27432" bIns="27432">
            <a:spAutoFit/>
          </a:bodyPr>
          <a:lstStyle/>
          <a:p>
            <a:pPr algn="l">
              <a:spcAft>
                <a:spcPts val="400"/>
              </a:spcAft>
            </a:pPr>
            <a:r>
              <a:rPr sz="1700" b="1">
                <a:solidFill>
                  <a:srgbClr val="E8EAF0"/>
                </a:solidFill>
                <a:latin typeface="Montserrat Alternates"/>
              </a:rPr>
              <a:t>Typst</a:t>
            </a:r>
          </a:p>
        </p:txBody>
      </p:sp>
      <p:sp>
        <p:nvSpPr>
          <p:cNvPr id="25" name="TextBox 24"/>
          <p:cNvSpPr txBox="1"/>
          <p:nvPr/>
        </p:nvSpPr>
        <p:spPr>
          <a:xfrm>
            <a:off x="2834640" y="4261104"/>
            <a:ext cx="4937760" cy="566928"/>
          </a:xfrm>
          <a:prstGeom prst="rect">
            <a:avLst/>
          </a:prstGeom>
          <a:noFill/>
        </p:spPr>
        <p:txBody>
          <a:bodyPr wrap="square" anchor="ctr" lIns="45720" rIns="45720" tIns="27432" bIns="27432">
            <a:spAutoFit/>
          </a:bodyPr>
          <a:lstStyle/>
          <a:p>
            <a:pPr algn="l">
              <a:spcAft>
                <a:spcPts val="400"/>
              </a:spcAft>
            </a:pPr>
            <a:r>
              <a:rPr sz="1600" b="0">
                <a:solidFill>
                  <a:srgbClr val="8B93A1"/>
                </a:solidFill>
                <a:latin typeface="Red Hat Display"/>
              </a:rPr>
              <a:t>Hashing layout iterations (own compiler)</a:t>
            </a:r>
          </a:p>
        </p:txBody>
      </p:sp>
      <p:sp>
        <p:nvSpPr>
          <p:cNvPr id="26" name="TextBox 25"/>
          <p:cNvSpPr txBox="1"/>
          <p:nvPr/>
        </p:nvSpPr>
        <p:spPr>
          <a:xfrm>
            <a:off x="7955279" y="4261104"/>
            <a:ext cx="3474720" cy="566928"/>
          </a:xfrm>
          <a:prstGeom prst="rect">
            <a:avLst/>
          </a:prstGeom>
          <a:noFill/>
        </p:spPr>
        <p:txBody>
          <a:bodyPr wrap="square" anchor="ctr" lIns="45720" rIns="45720" tIns="27432" bIns="27432">
            <a:spAutoFit/>
          </a:bodyPr>
          <a:lstStyle/>
          <a:p>
            <a:pPr algn="l">
              <a:spcAft>
                <a:spcPts val="400"/>
              </a:spcAft>
            </a:pPr>
            <a:r>
              <a:rPr sz="1600" b="0">
                <a:solidFill>
                  <a:srgbClr val="8B93A1"/>
                </a:solidFill>
                <a:latin typeface="Red Hat Display"/>
              </a:rPr>
              <a:t>5 attempts</a:t>
            </a:r>
          </a:p>
        </p:txBody>
      </p:sp>
      <p:sp>
        <p:nvSpPr>
          <p:cNvPr id="27" name="Rounded Rectangle 26"/>
          <p:cNvSpPr/>
          <p:nvPr/>
        </p:nvSpPr>
        <p:spPr>
          <a:xfrm>
            <a:off x="731520" y="4919472"/>
            <a:ext cx="10698480" cy="566928"/>
          </a:xfrm>
          <a:prstGeom prst="roundRect">
            <a:avLst>
              <a:gd name="adj" fmla="val 10000"/>
            </a:avLst>
          </a:prstGeom>
          <a:solidFill>
            <a:srgbClr val="171A21"/>
          </a:solidFill>
          <a:ln w="222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919472"/>
            <a:ext cx="1828800" cy="566928"/>
          </a:xfrm>
          <a:prstGeom prst="rect">
            <a:avLst/>
          </a:prstGeom>
          <a:noFill/>
        </p:spPr>
        <p:txBody>
          <a:bodyPr wrap="square" anchor="ctr" lIns="45720" rIns="45720" tIns="27432" bIns="27432">
            <a:spAutoFit/>
          </a:bodyPr>
          <a:lstStyle/>
          <a:p>
            <a:pPr algn="l">
              <a:spcAft>
                <a:spcPts val="400"/>
              </a:spcAft>
            </a:pPr>
            <a:r>
              <a:rPr sz="1700" b="1">
                <a:solidFill>
                  <a:srgbClr val="A78BFA"/>
                </a:solidFill>
                <a:latin typeface="Montserrat Alternates"/>
              </a:rPr>
              <a:t>AuxFlow</a:t>
            </a:r>
          </a:p>
        </p:txBody>
      </p:sp>
      <p:sp>
        <p:nvSpPr>
          <p:cNvPr id="29" name="TextBox 28"/>
          <p:cNvSpPr txBox="1"/>
          <p:nvPr/>
        </p:nvSpPr>
        <p:spPr>
          <a:xfrm>
            <a:off x="2834640" y="4919472"/>
            <a:ext cx="4937760" cy="566928"/>
          </a:xfrm>
          <a:prstGeom prst="rect">
            <a:avLst/>
          </a:prstGeom>
          <a:noFill/>
        </p:spPr>
        <p:txBody>
          <a:bodyPr wrap="square" anchor="ctr" lIns="45720" rIns="45720" tIns="27432" bIns="27432">
            <a:spAutoFit/>
          </a:bodyPr>
          <a:lstStyle/>
          <a:p>
            <a:pPr algn="l">
              <a:spcAft>
                <a:spcPts val="400"/>
              </a:spcAft>
            </a:pPr>
            <a:r>
              <a:rPr sz="1600" b="0">
                <a:solidFill>
                  <a:srgbClr val="8B93A1"/>
                </a:solidFill>
                <a:latin typeface="Red Hat Display"/>
              </a:rPr>
              <a:t>Analyzing the source before any run</a:t>
            </a:r>
          </a:p>
        </p:txBody>
      </p:sp>
      <p:sp>
        <p:nvSpPr>
          <p:cNvPr id="30" name="TextBox 29"/>
          <p:cNvSpPr txBox="1"/>
          <p:nvPr/>
        </p:nvSpPr>
        <p:spPr>
          <a:xfrm>
            <a:off x="7955279" y="4919472"/>
            <a:ext cx="3474720" cy="566928"/>
          </a:xfrm>
          <a:prstGeom prst="rect">
            <a:avLst/>
          </a:prstGeom>
          <a:noFill/>
        </p:spPr>
        <p:txBody>
          <a:bodyPr wrap="square" anchor="ctr" lIns="45720" rIns="45720" tIns="27432" bIns="27432">
            <a:spAutoFit/>
          </a:bodyPr>
          <a:lstStyle/>
          <a:p>
            <a:pPr algn="l">
              <a:spcAft>
                <a:spcPts val="400"/>
              </a:spcAft>
            </a:pPr>
            <a:r>
              <a:rPr sz="1600" b="0">
                <a:solidFill>
                  <a:srgbClr val="8B93A1"/>
                </a:solidFill>
                <a:latin typeface="Red Hat Display"/>
              </a:rPr>
              <a:t>Proven bound, or 3 runs minimum</a:t>
            </a:r>
          </a:p>
        </p:txBody>
      </p:sp>
      <p:sp>
        <p:nvSpPr>
          <p:cNvPr id="31" name="TextBox 30"/>
          <p:cNvSpPr txBox="1"/>
          <p:nvPr/>
        </p:nvSpPr>
        <p:spPr>
          <a:xfrm>
            <a:off x="822960" y="5669280"/>
            <a:ext cx="10515600" cy="457200"/>
          </a:xfrm>
          <a:prstGeom prst="rect">
            <a:avLst/>
          </a:prstGeom>
          <a:noFill/>
        </p:spPr>
        <p:txBody>
          <a:bodyPr wrap="square" anchor="t" lIns="45720" rIns="45720" tIns="27432" bIns="27432">
            <a:spAutoFit/>
          </a:bodyPr>
          <a:lstStyle/>
          <a:p>
            <a:pPr algn="l">
              <a:spcAft>
                <a:spcPts val="400"/>
              </a:spcAft>
            </a:pPr>
            <a:r>
              <a:rPr sz="1800" b="0">
                <a:solidFill>
                  <a:srgbClr val="E8EAF0"/>
                </a:solidFill>
                <a:latin typeface="Red Hat Display"/>
              </a:rPr>
              <a:t>The others verify after the fact. AuxFlow predicts first, then verifies.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itle 1"/>
          <p:cNvSpPr>
            <a:spLocks noGrp="1"/>
          </p:cNvSpPr>
          <p:nvPr>
            <p:ph type="title"/>
          </p:nvPr>
        </p:nvSpPr>
        <p:spPr>
          <a:xfrm>
            <a:off x="685800" y="960120"/>
            <a:ext cx="10789920" cy="731520"/>
          </a:xfrm>
        </p:spPr>
        <p:txBody>
          <a:bodyPr wrap="square" anchor="t" lIns="45720" rIns="45720" tIns="27432" bIns="27432"/>
          <a:lstStyle/>
          <a:p>
            <a:pPr algn="l"/>
            <a:r>
              <a:rPr sz="3200" b="1">
                <a:solidFill>
                  <a:srgbClr val="E8EAF0"/>
                </a:solidFill>
                <a:latin typeface="Montserrat Alternates"/>
              </a:rPr>
              <a:t>AuxFlow reads the source. It never typesets.</a:t>
            </a:r>
          </a:p>
        </p:txBody>
      </p:sp>
      <p:sp>
        <p:nvSpPr>
          <p:cNvPr id="3" name="Rectangle 2"/>
          <p:cNvSpPr/>
          <p:nvPr/>
        </p:nvSpPr>
        <p:spPr>
          <a:xfrm>
            <a:off x="731520" y="566928"/>
            <a:ext cx="320040" cy="457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8229600" cy="320040"/>
          </a:xfrm>
          <a:prstGeom prst="rect">
            <a:avLst/>
          </a:prstGeom>
          <a:noFill/>
        </p:spPr>
        <p:txBody>
          <a:bodyPr wrap="square" anchor="t" lIns="45720" rIns="45720" tIns="27432" bIns="27432">
            <a:spAutoFit/>
          </a:bodyPr>
          <a:lstStyle/>
          <a:p>
            <a:pPr algn="l">
              <a:spcAft>
                <a:spcPts val="400"/>
              </a:spcAft>
            </a:pPr>
            <a:r>
              <a:rPr sz="1200" b="1">
                <a:solidFill>
                  <a:srgbClr val="A78BFA"/>
                </a:solidFill>
                <a:latin typeface="Montserrat Alternates"/>
              </a:rPr>
              <a:t>WHY IT IS LIGHT</a:t>
            </a:r>
          </a:p>
        </p:txBody>
      </p:sp>
      <p:sp>
        <p:nvSpPr>
          <p:cNvPr id="5" name="Rectangle 4"/>
          <p:cNvSpPr/>
          <p:nvPr/>
        </p:nvSpPr>
        <p:spPr>
          <a:xfrm>
            <a:off x="731520" y="6263640"/>
            <a:ext cx="10725912" cy="9144"/>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355080"/>
            <a:ext cx="3657600" cy="274320"/>
          </a:xfrm>
          <a:prstGeom prst="rect">
            <a:avLst/>
          </a:prstGeom>
          <a:noFill/>
        </p:spPr>
        <p:txBody>
          <a:bodyPr wrap="square" anchor="t" lIns="45720" rIns="45720" tIns="27432" bIns="27432">
            <a:spAutoFit/>
          </a:bodyPr>
          <a:lstStyle/>
          <a:p>
            <a:pPr algn="l">
              <a:spcAft>
                <a:spcPts val="400"/>
              </a:spcAft>
            </a:pPr>
            <a:r>
              <a:rPr sz="1100" b="0">
                <a:solidFill>
                  <a:srgbClr val="8B93A1"/>
                </a:solidFill>
                <a:latin typeface="Red Hat Display"/>
              </a:rPr>
              <a:t>AuxFlow</a:t>
            </a:r>
          </a:p>
        </p:txBody>
      </p:sp>
      <p:sp>
        <p:nvSpPr>
          <p:cNvPr id="7" name="TextBox 6"/>
          <p:cNvSpPr txBox="1"/>
          <p:nvPr/>
        </p:nvSpPr>
        <p:spPr>
          <a:xfrm>
            <a:off x="10789920" y="6355080"/>
            <a:ext cx="731520" cy="274320"/>
          </a:xfrm>
          <a:prstGeom prst="rect">
            <a:avLst/>
          </a:prstGeom>
          <a:noFill/>
        </p:spPr>
        <p:txBody>
          <a:bodyPr wrap="square" anchor="t" lIns="45720" rIns="45720" tIns="27432" bIns="27432">
            <a:spAutoFit/>
          </a:bodyPr>
          <a:lstStyle/>
          <a:p>
            <a:pPr algn="r">
              <a:spcAft>
                <a:spcPts val="400"/>
              </a:spcAft>
            </a:pPr>
            <a:r>
              <a:rPr sz="1100" b="0">
                <a:solidFill>
                  <a:srgbClr val="8B93A1"/>
                </a:solidFill>
                <a:latin typeface="Red Hat Display"/>
              </a:rPr>
              <a:t>4</a:t>
            </a:r>
          </a:p>
        </p:txBody>
      </p:sp>
      <p:sp>
        <p:nvSpPr>
          <p:cNvPr id="8" name="Rounded Rectangle 7"/>
          <p:cNvSpPr/>
          <p:nvPr/>
        </p:nvSpPr>
        <p:spPr>
          <a:xfrm>
            <a:off x="822960" y="1920240"/>
            <a:ext cx="5120640" cy="338328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1920240"/>
            <a:ext cx="5120640" cy="73152"/>
          </a:xfrm>
          <a:prstGeom prst="rect">
            <a:avLst/>
          </a:prstGeom>
          <a:solidFill>
            <a:srgbClr val="F87171"/>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103120"/>
            <a:ext cx="4663440" cy="457200"/>
          </a:xfrm>
          <a:prstGeom prst="rect">
            <a:avLst/>
          </a:prstGeom>
          <a:noFill/>
        </p:spPr>
        <p:txBody>
          <a:bodyPr wrap="square" anchor="t" lIns="45720" rIns="45720" tIns="27432" bIns="27432">
            <a:spAutoFit/>
          </a:bodyPr>
          <a:lstStyle/>
          <a:p>
            <a:pPr algn="l">
              <a:spcAft>
                <a:spcPts val="400"/>
              </a:spcAft>
            </a:pPr>
            <a:r>
              <a:rPr sz="2000" b="1">
                <a:solidFill>
                  <a:srgbClr val="E8EAF0"/>
                </a:solidFill>
                <a:latin typeface="Montserrat Alternates"/>
              </a:rPr>
              <a:t>One TeX engine pass</a:t>
            </a:r>
          </a:p>
        </p:txBody>
      </p:sp>
      <p:sp>
        <p:nvSpPr>
          <p:cNvPr id="11" name="TextBox 10"/>
          <p:cNvSpPr txBox="1"/>
          <p:nvPr/>
        </p:nvSpPr>
        <p:spPr>
          <a:xfrm>
            <a:off x="1051560" y="2560320"/>
            <a:ext cx="4663440" cy="365760"/>
          </a:xfrm>
          <a:prstGeom prst="rect">
            <a:avLst/>
          </a:prstGeom>
          <a:noFill/>
        </p:spPr>
        <p:txBody>
          <a:bodyPr wrap="square" anchor="t" lIns="45720" rIns="45720" tIns="27432" bIns="27432">
            <a:spAutoFit/>
          </a:bodyPr>
          <a:lstStyle/>
          <a:p>
            <a:pPr algn="l">
              <a:spcAft>
                <a:spcPts val="400"/>
              </a:spcAft>
            </a:pPr>
            <a:r>
              <a:rPr sz="1400" b="0">
                <a:solidFill>
                  <a:srgbClr val="8B93A1"/>
                </a:solidFill>
                <a:latin typeface="Red Hat Display"/>
              </a:rPr>
              <a:t>repeated 3 times or more</a:t>
            </a:r>
          </a:p>
        </p:txBody>
      </p:sp>
      <p:sp>
        <p:nvSpPr>
          <p:cNvPr id="12" name="Rounded Rectangle 11"/>
          <p:cNvSpPr/>
          <p:nvPr/>
        </p:nvSpPr>
        <p:spPr>
          <a:xfrm>
            <a:off x="1051560" y="3017520"/>
            <a:ext cx="4663440" cy="45720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17520"/>
            <a:ext cx="4663440" cy="457200"/>
          </a:xfrm>
          <a:prstGeom prst="rect">
            <a:avLst/>
          </a:prstGeom>
          <a:noFill/>
        </p:spPr>
        <p:txBody>
          <a:bodyPr wrap="square" anchor="ctr" lIns="45720" rIns="45720" tIns="27432" bIns="27432">
            <a:spAutoFit/>
          </a:bodyPr>
          <a:lstStyle/>
          <a:p>
            <a:pPr algn="ctr">
              <a:spcAft>
                <a:spcPts val="400"/>
              </a:spcAft>
            </a:pPr>
            <a:r>
              <a:rPr sz="1400" b="1">
                <a:solidFill>
                  <a:srgbClr val="E8EAF0"/>
                </a:solidFill>
                <a:latin typeface="Red Hat Display"/>
              </a:rPr>
              <a:t>Expand macros</a:t>
            </a:r>
          </a:p>
        </p:txBody>
      </p:sp>
      <p:sp>
        <p:nvSpPr>
          <p:cNvPr id="14" name="Rounded Rectangle 13"/>
          <p:cNvSpPr/>
          <p:nvPr/>
        </p:nvSpPr>
        <p:spPr>
          <a:xfrm>
            <a:off x="1051560" y="3566160"/>
            <a:ext cx="4663440" cy="45720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566160"/>
            <a:ext cx="4663440" cy="457200"/>
          </a:xfrm>
          <a:prstGeom prst="rect">
            <a:avLst/>
          </a:prstGeom>
          <a:noFill/>
        </p:spPr>
        <p:txBody>
          <a:bodyPr wrap="square" anchor="ctr" lIns="45720" rIns="45720" tIns="27432" bIns="27432">
            <a:spAutoFit/>
          </a:bodyPr>
          <a:lstStyle/>
          <a:p>
            <a:pPr algn="ctr">
              <a:spcAft>
                <a:spcPts val="400"/>
              </a:spcAft>
            </a:pPr>
            <a:r>
              <a:rPr sz="1400" b="1">
                <a:solidFill>
                  <a:srgbClr val="E8EAF0"/>
                </a:solidFill>
                <a:latin typeface="Red Hat Display"/>
              </a:rPr>
              <a:t>Typeset text and load fonts</a:t>
            </a:r>
          </a:p>
        </p:txBody>
      </p:sp>
      <p:sp>
        <p:nvSpPr>
          <p:cNvPr id="16" name="Rounded Rectangle 15"/>
          <p:cNvSpPr/>
          <p:nvPr/>
        </p:nvSpPr>
        <p:spPr>
          <a:xfrm>
            <a:off x="1051560" y="4114800"/>
            <a:ext cx="4663440" cy="45720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14800"/>
            <a:ext cx="4663440" cy="457200"/>
          </a:xfrm>
          <a:prstGeom prst="rect">
            <a:avLst/>
          </a:prstGeom>
          <a:noFill/>
        </p:spPr>
        <p:txBody>
          <a:bodyPr wrap="square" anchor="ctr" lIns="45720" rIns="45720" tIns="27432" bIns="27432">
            <a:spAutoFit/>
          </a:bodyPr>
          <a:lstStyle/>
          <a:p>
            <a:pPr algn="ctr">
              <a:spcAft>
                <a:spcPts val="400"/>
              </a:spcAft>
            </a:pPr>
            <a:r>
              <a:rPr sz="1400" b="1">
                <a:solidFill>
                  <a:srgbClr val="E8EAF0"/>
                </a:solidFill>
                <a:latin typeface="Red Hat Display"/>
              </a:rPr>
              <a:t>Break pages and place floats</a:t>
            </a:r>
          </a:p>
        </p:txBody>
      </p:sp>
      <p:sp>
        <p:nvSpPr>
          <p:cNvPr id="18" name="Rounded Rectangle 17"/>
          <p:cNvSpPr/>
          <p:nvPr/>
        </p:nvSpPr>
        <p:spPr>
          <a:xfrm>
            <a:off x="1051560" y="4663440"/>
            <a:ext cx="4663440" cy="45720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663440"/>
            <a:ext cx="4663440" cy="457200"/>
          </a:xfrm>
          <a:prstGeom prst="rect">
            <a:avLst/>
          </a:prstGeom>
          <a:noFill/>
        </p:spPr>
        <p:txBody>
          <a:bodyPr wrap="square" anchor="ctr" lIns="45720" rIns="45720" tIns="27432" bIns="27432">
            <a:spAutoFit/>
          </a:bodyPr>
          <a:lstStyle/>
          <a:p>
            <a:pPr algn="ctr">
              <a:spcAft>
                <a:spcPts val="400"/>
              </a:spcAft>
            </a:pPr>
            <a:r>
              <a:rPr sz="1400" b="1">
                <a:solidFill>
                  <a:srgbClr val="E8EAF0"/>
                </a:solidFill>
                <a:latin typeface="Red Hat Display"/>
              </a:rPr>
              <a:t>Write the PDF and .aux files</a:t>
            </a:r>
          </a:p>
        </p:txBody>
      </p:sp>
      <p:sp>
        <p:nvSpPr>
          <p:cNvPr id="20" name="Rounded Rectangle 19"/>
          <p:cNvSpPr/>
          <p:nvPr/>
        </p:nvSpPr>
        <p:spPr>
          <a:xfrm>
            <a:off x="6217920" y="1920240"/>
            <a:ext cx="5212080" cy="338328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920240"/>
            <a:ext cx="5212080" cy="73152"/>
          </a:xfrm>
          <a:prstGeom prst="rect">
            <a:avLst/>
          </a:prstGeom>
          <a:solidFill>
            <a:srgbClr val="34D399"/>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2103120"/>
            <a:ext cx="4754880" cy="457200"/>
          </a:xfrm>
          <a:prstGeom prst="rect">
            <a:avLst/>
          </a:prstGeom>
          <a:noFill/>
        </p:spPr>
        <p:txBody>
          <a:bodyPr wrap="square" anchor="t" lIns="45720" rIns="45720" tIns="27432" bIns="27432">
            <a:spAutoFit/>
          </a:bodyPr>
          <a:lstStyle/>
          <a:p>
            <a:pPr algn="l">
              <a:spcAft>
                <a:spcPts val="400"/>
              </a:spcAft>
            </a:pPr>
            <a:r>
              <a:rPr sz="2000" b="1">
                <a:solidFill>
                  <a:srgbClr val="E8EAF0"/>
                </a:solidFill>
                <a:latin typeface="Montserrat Alternates"/>
              </a:rPr>
              <a:t>One AuxFlow analysis</a:t>
            </a:r>
          </a:p>
        </p:txBody>
      </p:sp>
      <p:sp>
        <p:nvSpPr>
          <p:cNvPr id="23" name="TextBox 22"/>
          <p:cNvSpPr txBox="1"/>
          <p:nvPr/>
        </p:nvSpPr>
        <p:spPr>
          <a:xfrm>
            <a:off x="6446520" y="2560320"/>
            <a:ext cx="4754880" cy="365760"/>
          </a:xfrm>
          <a:prstGeom prst="rect">
            <a:avLst/>
          </a:prstGeom>
          <a:noFill/>
        </p:spPr>
        <p:txBody>
          <a:bodyPr wrap="square" anchor="t" lIns="45720" rIns="45720" tIns="27432" bIns="27432">
            <a:spAutoFit/>
          </a:bodyPr>
          <a:lstStyle/>
          <a:p>
            <a:pPr algn="l">
              <a:spcAft>
                <a:spcPts val="400"/>
              </a:spcAft>
            </a:pPr>
            <a:r>
              <a:rPr sz="1400" b="0">
                <a:solidFill>
                  <a:srgbClr val="8B93A1"/>
                </a:solidFill>
                <a:latin typeface="Red Hat Display"/>
              </a:rPr>
              <a:t>runs once, before any pass</a:t>
            </a:r>
          </a:p>
        </p:txBody>
      </p:sp>
      <p:sp>
        <p:nvSpPr>
          <p:cNvPr id="24" name="Rounded Rectangle 23"/>
          <p:cNvSpPr/>
          <p:nvPr/>
        </p:nvSpPr>
        <p:spPr>
          <a:xfrm>
            <a:off x="6446520" y="3017520"/>
            <a:ext cx="4754880" cy="457200"/>
          </a:xfrm>
          <a:prstGeom prst="roundRect">
            <a:avLst>
              <a:gd name="adj" fmla="val 10000"/>
            </a:avLst>
          </a:prstGeom>
          <a:solidFill>
            <a:srgbClr val="171A21"/>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3017520"/>
            <a:ext cx="4754880" cy="457200"/>
          </a:xfrm>
          <a:prstGeom prst="rect">
            <a:avLst/>
          </a:prstGeom>
          <a:noFill/>
        </p:spPr>
        <p:txBody>
          <a:bodyPr wrap="square" anchor="ctr" lIns="45720" rIns="45720" tIns="27432" bIns="27432">
            <a:spAutoFit/>
          </a:bodyPr>
          <a:lstStyle/>
          <a:p>
            <a:pPr algn="ctr">
              <a:spcAft>
                <a:spcPts val="400"/>
              </a:spcAft>
            </a:pPr>
            <a:r>
              <a:rPr sz="1400" b="1">
                <a:solidFill>
                  <a:srgbClr val="E8EAF0"/>
                </a:solidFill>
                <a:latin typeface="Red Hat Display"/>
              </a:rPr>
              <a:t>Read the source text</a:t>
            </a:r>
          </a:p>
        </p:txBody>
      </p:sp>
      <p:sp>
        <p:nvSpPr>
          <p:cNvPr id="26" name="Rounded Rectangle 25"/>
          <p:cNvSpPr/>
          <p:nvPr/>
        </p:nvSpPr>
        <p:spPr>
          <a:xfrm>
            <a:off x="6446520" y="3566160"/>
            <a:ext cx="4754880" cy="457200"/>
          </a:xfrm>
          <a:prstGeom prst="roundRect">
            <a:avLst>
              <a:gd name="adj" fmla="val 10000"/>
            </a:avLst>
          </a:prstGeom>
          <a:solidFill>
            <a:srgbClr val="171A21"/>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3566160"/>
            <a:ext cx="4754880" cy="457200"/>
          </a:xfrm>
          <a:prstGeom prst="rect">
            <a:avLst/>
          </a:prstGeom>
          <a:noFill/>
        </p:spPr>
        <p:txBody>
          <a:bodyPr wrap="square" anchor="ctr" lIns="45720" rIns="45720" tIns="27432" bIns="27432">
            <a:spAutoFit/>
          </a:bodyPr>
          <a:lstStyle/>
          <a:p>
            <a:pPr algn="ctr">
              <a:spcAft>
                <a:spcPts val="400"/>
              </a:spcAft>
            </a:pPr>
            <a:r>
              <a:rPr sz="1400" b="1">
                <a:solidFill>
                  <a:srgbClr val="E8EAF0"/>
                </a:solidFill>
                <a:latin typeface="Red Hat Display"/>
              </a:rPr>
              <a:t>Parse the declared subset</a:t>
            </a:r>
          </a:p>
        </p:txBody>
      </p:sp>
      <p:sp>
        <p:nvSpPr>
          <p:cNvPr id="28" name="Rounded Rectangle 27"/>
          <p:cNvSpPr/>
          <p:nvPr/>
        </p:nvSpPr>
        <p:spPr>
          <a:xfrm>
            <a:off x="6446520" y="4114800"/>
            <a:ext cx="4754880" cy="457200"/>
          </a:xfrm>
          <a:prstGeom prst="roundRect">
            <a:avLst>
              <a:gd name="adj" fmla="val 10000"/>
            </a:avLst>
          </a:prstGeom>
          <a:solidFill>
            <a:srgbClr val="171A21"/>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114800"/>
            <a:ext cx="4754880" cy="457200"/>
          </a:xfrm>
          <a:prstGeom prst="rect">
            <a:avLst/>
          </a:prstGeom>
          <a:noFill/>
        </p:spPr>
        <p:txBody>
          <a:bodyPr wrap="square" anchor="ctr" lIns="45720" rIns="45720" tIns="27432" bIns="27432">
            <a:spAutoFit/>
          </a:bodyPr>
          <a:lstStyle/>
          <a:p>
            <a:pPr algn="ctr">
              <a:spcAft>
                <a:spcPts val="400"/>
              </a:spcAft>
            </a:pPr>
            <a:r>
              <a:rPr sz="1400" b="1">
                <a:solidFill>
                  <a:srgbClr val="E8EAF0"/>
                </a:solidFill>
                <a:latin typeface="Red Hat Display"/>
              </a:rPr>
              <a:t>Build the fact graph</a:t>
            </a:r>
          </a:p>
        </p:txBody>
      </p:sp>
      <p:sp>
        <p:nvSpPr>
          <p:cNvPr id="30" name="Rounded Rectangle 29"/>
          <p:cNvSpPr/>
          <p:nvPr/>
        </p:nvSpPr>
        <p:spPr>
          <a:xfrm>
            <a:off x="6446520" y="4663440"/>
            <a:ext cx="4754880" cy="457200"/>
          </a:xfrm>
          <a:prstGeom prst="roundRect">
            <a:avLst>
              <a:gd name="adj" fmla="val 10000"/>
            </a:avLst>
          </a:prstGeom>
          <a:solidFill>
            <a:srgbClr val="171A21"/>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4663440"/>
            <a:ext cx="4754880" cy="457200"/>
          </a:xfrm>
          <a:prstGeom prst="rect">
            <a:avLst/>
          </a:prstGeom>
          <a:noFill/>
        </p:spPr>
        <p:txBody>
          <a:bodyPr wrap="square" anchor="ctr" lIns="45720" rIns="45720" tIns="27432" bIns="27432">
            <a:spAutoFit/>
          </a:bodyPr>
          <a:lstStyle/>
          <a:p>
            <a:pPr algn="ctr">
              <a:spcAft>
                <a:spcPts val="400"/>
              </a:spcAft>
            </a:pPr>
            <a:r>
              <a:rPr sz="1400" b="1">
                <a:solidFill>
                  <a:srgbClr val="E8EAF0"/>
                </a:solidFill>
                <a:latin typeface="Red Hat Display"/>
              </a:rPr>
              <a:t>Classify and plan</a:t>
            </a:r>
          </a:p>
        </p:txBody>
      </p:sp>
      <p:sp>
        <p:nvSpPr>
          <p:cNvPr id="32" name="TextBox 31"/>
          <p:cNvSpPr txBox="1"/>
          <p:nvPr/>
        </p:nvSpPr>
        <p:spPr>
          <a:xfrm>
            <a:off x="822960" y="5486400"/>
            <a:ext cx="10607040" cy="731520"/>
          </a:xfrm>
          <a:prstGeom prst="rect">
            <a:avLst/>
          </a:prstGeom>
          <a:noFill/>
        </p:spPr>
        <p:txBody>
          <a:bodyPr wrap="square" anchor="t" lIns="45720" rIns="45720" tIns="27432" bIns="27432">
            <a:spAutoFit/>
          </a:bodyPr>
          <a:lstStyle/>
          <a:p>
            <a:pPr algn="l">
              <a:spcAft>
                <a:spcPts val="400"/>
              </a:spcAft>
            </a:pPr>
            <a:r>
              <a:rPr sz="1600" b="0">
                <a:solidFill>
                  <a:srgbClr val="E8EAF0"/>
                </a:solidFill>
                <a:latin typeface="Red Hat Display"/>
              </a:rPr>
              <a:t>No fonts, no pages, no PDF, no subprocess, no third-party dependency.</a:t>
            </a:r>
          </a:p>
          <a:p>
            <a:pPr algn="l">
              <a:spcAft>
                <a:spcPts val="400"/>
              </a:spcAft>
            </a:pPr>
            <a:r>
              <a:rPr sz="1600" b="0">
                <a:solidFill>
                  <a:srgbClr val="E8EAF0"/>
                </a:solidFill>
                <a:latin typeface="Red Hat Display"/>
              </a:rPr>
              <a:t>AuxFlow does not replace the engine. It avoids engine passes that tell you nothing.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itle 1"/>
          <p:cNvSpPr>
            <a:spLocks noGrp="1"/>
          </p:cNvSpPr>
          <p:nvPr>
            <p:ph type="title"/>
          </p:nvPr>
        </p:nvSpPr>
        <p:spPr>
          <a:xfrm>
            <a:off x="685800" y="960120"/>
            <a:ext cx="10789920" cy="731520"/>
          </a:xfrm>
        </p:spPr>
        <p:txBody>
          <a:bodyPr wrap="square" anchor="t" lIns="45720" rIns="45720" tIns="27432" bIns="27432"/>
          <a:lstStyle/>
          <a:p>
            <a:pPr algn="l"/>
            <a:r>
              <a:rPr sz="3200" b="1">
                <a:solidFill>
                  <a:srgbClr val="E8EAF0"/>
                </a:solidFill>
                <a:latin typeface="Montserrat Alternates"/>
              </a:rPr>
              <a:t>Milliseconds instead of seconds</a:t>
            </a:r>
          </a:p>
        </p:txBody>
      </p:sp>
      <p:sp>
        <p:nvSpPr>
          <p:cNvPr id="3" name="Rectangle 2"/>
          <p:cNvSpPr/>
          <p:nvPr/>
        </p:nvSpPr>
        <p:spPr>
          <a:xfrm>
            <a:off x="731520" y="566928"/>
            <a:ext cx="320040" cy="457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8229600" cy="320040"/>
          </a:xfrm>
          <a:prstGeom prst="rect">
            <a:avLst/>
          </a:prstGeom>
          <a:noFill/>
        </p:spPr>
        <p:txBody>
          <a:bodyPr wrap="square" anchor="t" lIns="45720" rIns="45720" tIns="27432" bIns="27432">
            <a:spAutoFit/>
          </a:bodyPr>
          <a:lstStyle/>
          <a:p>
            <a:pPr algn="l">
              <a:spcAft>
                <a:spcPts val="400"/>
              </a:spcAft>
            </a:pPr>
            <a:r>
              <a:rPr sz="1200" b="1">
                <a:solidFill>
                  <a:srgbClr val="A78BFA"/>
                </a:solidFill>
                <a:latin typeface="Montserrat Alternates"/>
              </a:rPr>
              <a:t>WHY IT IS LIGHT</a:t>
            </a:r>
          </a:p>
        </p:txBody>
      </p:sp>
      <p:sp>
        <p:nvSpPr>
          <p:cNvPr id="5" name="Rectangle 4"/>
          <p:cNvSpPr/>
          <p:nvPr/>
        </p:nvSpPr>
        <p:spPr>
          <a:xfrm>
            <a:off x="731520" y="6263640"/>
            <a:ext cx="10725912" cy="9144"/>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355080"/>
            <a:ext cx="3657600" cy="274320"/>
          </a:xfrm>
          <a:prstGeom prst="rect">
            <a:avLst/>
          </a:prstGeom>
          <a:noFill/>
        </p:spPr>
        <p:txBody>
          <a:bodyPr wrap="square" anchor="t" lIns="45720" rIns="45720" tIns="27432" bIns="27432">
            <a:spAutoFit/>
          </a:bodyPr>
          <a:lstStyle/>
          <a:p>
            <a:pPr algn="l">
              <a:spcAft>
                <a:spcPts val="400"/>
              </a:spcAft>
            </a:pPr>
            <a:r>
              <a:rPr sz="1100" b="0">
                <a:solidFill>
                  <a:srgbClr val="8B93A1"/>
                </a:solidFill>
                <a:latin typeface="Red Hat Display"/>
              </a:rPr>
              <a:t>AuxFlow</a:t>
            </a:r>
          </a:p>
        </p:txBody>
      </p:sp>
      <p:sp>
        <p:nvSpPr>
          <p:cNvPr id="7" name="TextBox 6"/>
          <p:cNvSpPr txBox="1"/>
          <p:nvPr/>
        </p:nvSpPr>
        <p:spPr>
          <a:xfrm>
            <a:off x="10789920" y="6355080"/>
            <a:ext cx="731520" cy="274320"/>
          </a:xfrm>
          <a:prstGeom prst="rect">
            <a:avLst/>
          </a:prstGeom>
          <a:noFill/>
        </p:spPr>
        <p:txBody>
          <a:bodyPr wrap="square" anchor="t" lIns="45720" rIns="45720" tIns="27432" bIns="27432">
            <a:spAutoFit/>
          </a:bodyPr>
          <a:lstStyle/>
          <a:p>
            <a:pPr algn="r">
              <a:spcAft>
                <a:spcPts val="400"/>
              </a:spcAft>
            </a:pPr>
            <a:r>
              <a:rPr sz="1100" b="0">
                <a:solidFill>
                  <a:srgbClr val="8B93A1"/>
                </a:solidFill>
                <a:latin typeface="Red Hat Display"/>
              </a:rPr>
              <a:t>5</a:t>
            </a:r>
          </a:p>
        </p:txBody>
      </p:sp>
      <p:graphicFrame>
        <p:nvGraphicFramePr>
          <p:cNvPr id="8" name="Chart 7"/>
          <p:cNvGraphicFramePr>
            <a:graphicFrameLocks noGrp="1"/>
          </p:cNvGraphicFramePr>
          <p:nvPr/>
        </p:nvGraphicFramePr>
        <p:xfrm>
          <a:off x="731520" y="1737360"/>
          <a:ext cx="7315200" cy="3566160"/>
        </p:xfrm>
        <a:graphic>
          <a:graphicData uri="http://schemas.openxmlformats.org/drawingml/2006/chart">
            <c:chart xmlns:c="http://schemas.openxmlformats.org/drawingml/2006/chart" r:id="rId2"/>
          </a:graphicData>
        </a:graphic>
      </p:graphicFrame>
      <p:sp>
        <p:nvSpPr>
          <p:cNvPr id="9" name="Rounded Rectangle 8"/>
          <p:cNvSpPr/>
          <p:nvPr/>
        </p:nvSpPr>
        <p:spPr>
          <a:xfrm>
            <a:off x="8412480" y="2011680"/>
            <a:ext cx="3017520" cy="173736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2148840"/>
            <a:ext cx="3017520" cy="731520"/>
          </a:xfrm>
          <a:prstGeom prst="rect">
            <a:avLst/>
          </a:prstGeom>
          <a:noFill/>
        </p:spPr>
        <p:txBody>
          <a:bodyPr wrap="square" anchor="t" lIns="45720" rIns="45720" tIns="27432" bIns="27432">
            <a:spAutoFit/>
          </a:bodyPr>
          <a:lstStyle/>
          <a:p>
            <a:pPr algn="ctr">
              <a:spcAft>
                <a:spcPts val="400"/>
              </a:spcAft>
            </a:pPr>
            <a:r>
              <a:rPr sz="2600" b="1">
                <a:solidFill>
                  <a:srgbClr val="34D399"/>
                </a:solidFill>
                <a:latin typeface="Montserrat Alternates"/>
              </a:rPr>
              <a:t>80x to 1,200x</a:t>
            </a:r>
          </a:p>
        </p:txBody>
      </p:sp>
      <p:sp>
        <p:nvSpPr>
          <p:cNvPr id="11" name="TextBox 10"/>
          <p:cNvSpPr txBox="1"/>
          <p:nvPr/>
        </p:nvSpPr>
        <p:spPr>
          <a:xfrm>
            <a:off x="8549640" y="2926080"/>
            <a:ext cx="2743200" cy="731520"/>
          </a:xfrm>
          <a:prstGeom prst="rect">
            <a:avLst/>
          </a:prstGeom>
          <a:noFill/>
        </p:spPr>
        <p:txBody>
          <a:bodyPr wrap="square" anchor="t" lIns="45720" rIns="45720" tIns="27432" bIns="27432">
            <a:spAutoFit/>
          </a:bodyPr>
          <a:lstStyle/>
          <a:p>
            <a:pPr algn="ctr">
              <a:spcAft>
                <a:spcPts val="400"/>
              </a:spcAft>
            </a:pPr>
            <a:r>
              <a:rPr sz="1400" b="0">
                <a:solidFill>
                  <a:srgbClr val="8B93A1"/>
                </a:solidFill>
                <a:latin typeface="Red Hat Display"/>
              </a:rPr>
              <a:t>faster than a fixed three-pass build</a:t>
            </a:r>
          </a:p>
        </p:txBody>
      </p:sp>
      <p:sp>
        <p:nvSpPr>
          <p:cNvPr id="12" name="Rounded Rectangle 11"/>
          <p:cNvSpPr/>
          <p:nvPr/>
        </p:nvSpPr>
        <p:spPr>
          <a:xfrm>
            <a:off x="8412480" y="3931920"/>
            <a:ext cx="3017520" cy="164592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4069080"/>
            <a:ext cx="3017520" cy="731520"/>
          </a:xfrm>
          <a:prstGeom prst="rect">
            <a:avLst/>
          </a:prstGeom>
          <a:noFill/>
        </p:spPr>
        <p:txBody>
          <a:bodyPr wrap="square" anchor="t" lIns="45720" rIns="45720" tIns="27432" bIns="27432">
            <a:spAutoFit/>
          </a:bodyPr>
          <a:lstStyle/>
          <a:p>
            <a:pPr algn="ctr">
              <a:spcAft>
                <a:spcPts val="400"/>
              </a:spcAft>
            </a:pPr>
            <a:r>
              <a:rPr sz="3000" b="1">
                <a:solidFill>
                  <a:srgbClr val="A78BFA"/>
                </a:solidFill>
                <a:latin typeface="Montserrat Alternates"/>
              </a:rPr>
              <a:t>1 ms</a:t>
            </a:r>
          </a:p>
        </p:txBody>
      </p:sp>
      <p:sp>
        <p:nvSpPr>
          <p:cNvPr id="14" name="TextBox 13"/>
          <p:cNvSpPr txBox="1"/>
          <p:nvPr/>
        </p:nvSpPr>
        <p:spPr>
          <a:xfrm>
            <a:off x="8549640" y="4800600"/>
            <a:ext cx="2743200" cy="731520"/>
          </a:xfrm>
          <a:prstGeom prst="rect">
            <a:avLst/>
          </a:prstGeom>
          <a:noFill/>
        </p:spPr>
        <p:txBody>
          <a:bodyPr wrap="square" anchor="t" lIns="45720" rIns="45720" tIns="27432" bIns="27432">
            <a:spAutoFit/>
          </a:bodyPr>
          <a:lstStyle/>
          <a:p>
            <a:pPr algn="ctr">
              <a:spcAft>
                <a:spcPts val="400"/>
              </a:spcAft>
            </a:pPr>
            <a:r>
              <a:rPr sz="1400" b="0">
                <a:solidFill>
                  <a:srgbClr val="8B93A1"/>
                </a:solidFill>
                <a:latin typeface="Red Hat Display"/>
              </a:rPr>
              <a:t>to refuse b08, which never settles</a:t>
            </a:r>
          </a:p>
        </p:txBody>
      </p:sp>
      <p:sp>
        <p:nvSpPr>
          <p:cNvPr id="15" name="TextBox 14"/>
          <p:cNvSpPr txBox="1"/>
          <p:nvPr/>
        </p:nvSpPr>
        <p:spPr>
          <a:xfrm>
            <a:off x="822960" y="5669280"/>
            <a:ext cx="10607040" cy="457200"/>
          </a:xfrm>
          <a:prstGeom prst="rect">
            <a:avLst/>
          </a:prstGeom>
          <a:noFill/>
        </p:spPr>
        <p:txBody>
          <a:bodyPr wrap="square" anchor="t" lIns="45720" rIns="45720" tIns="27432" bIns="27432">
            <a:spAutoFit/>
          </a:bodyPr>
          <a:lstStyle/>
          <a:p>
            <a:pPr algn="l">
              <a:spcAft>
                <a:spcPts val="400"/>
              </a:spcAft>
            </a:pPr>
            <a:r>
              <a:rPr sz="1400" b="0">
                <a:solidFill>
                  <a:srgbClr val="8B93A1"/>
                </a:solidFill>
                <a:latin typeface="Red Hat Display"/>
              </a:rPr>
              <a:t>Median of 10 runs, Docker, 1 CPU. The engine is still needed to produce the PDF.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itle 1"/>
          <p:cNvSpPr>
            <a:spLocks noGrp="1"/>
          </p:cNvSpPr>
          <p:nvPr>
            <p:ph type="title"/>
          </p:nvPr>
        </p:nvSpPr>
        <p:spPr>
          <a:xfrm>
            <a:off x="685800" y="960120"/>
            <a:ext cx="10789920" cy="731520"/>
          </a:xfrm>
        </p:spPr>
        <p:txBody>
          <a:bodyPr wrap="square" anchor="t" lIns="45720" rIns="45720" tIns="27432" bIns="27432"/>
          <a:lstStyle/>
          <a:p>
            <a:pPr algn="l"/>
            <a:r>
              <a:rPr sz="3200" b="1">
                <a:solidFill>
                  <a:srgbClr val="E8EAF0"/>
                </a:solidFill>
                <a:latin typeface="Montserrat Alternates"/>
              </a:rPr>
              <a:t>The research question</a:t>
            </a:r>
          </a:p>
        </p:txBody>
      </p:sp>
      <p:sp>
        <p:nvSpPr>
          <p:cNvPr id="3" name="Rectangle 2"/>
          <p:cNvSpPr/>
          <p:nvPr/>
        </p:nvSpPr>
        <p:spPr>
          <a:xfrm>
            <a:off x="731520" y="566928"/>
            <a:ext cx="320040" cy="457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8229600" cy="320040"/>
          </a:xfrm>
          <a:prstGeom prst="rect">
            <a:avLst/>
          </a:prstGeom>
          <a:noFill/>
        </p:spPr>
        <p:txBody>
          <a:bodyPr wrap="square" anchor="t" lIns="45720" rIns="45720" tIns="27432" bIns="27432">
            <a:spAutoFit/>
          </a:bodyPr>
          <a:lstStyle/>
          <a:p>
            <a:pPr algn="l">
              <a:spcAft>
                <a:spcPts val="400"/>
              </a:spcAft>
            </a:pPr>
            <a:r>
              <a:rPr sz="1200" b="1">
                <a:solidFill>
                  <a:srgbClr val="A78BFA"/>
                </a:solidFill>
                <a:latin typeface="Montserrat Alternates"/>
              </a:rPr>
              <a:t>CONTRIBUTION</a:t>
            </a:r>
          </a:p>
        </p:txBody>
      </p:sp>
      <p:sp>
        <p:nvSpPr>
          <p:cNvPr id="5" name="Rectangle 4"/>
          <p:cNvSpPr/>
          <p:nvPr/>
        </p:nvSpPr>
        <p:spPr>
          <a:xfrm>
            <a:off x="731520" y="6263640"/>
            <a:ext cx="10725912" cy="9144"/>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355080"/>
            <a:ext cx="3657600" cy="274320"/>
          </a:xfrm>
          <a:prstGeom prst="rect">
            <a:avLst/>
          </a:prstGeom>
          <a:noFill/>
        </p:spPr>
        <p:txBody>
          <a:bodyPr wrap="square" anchor="t" lIns="45720" rIns="45720" tIns="27432" bIns="27432">
            <a:spAutoFit/>
          </a:bodyPr>
          <a:lstStyle/>
          <a:p>
            <a:pPr algn="l">
              <a:spcAft>
                <a:spcPts val="400"/>
              </a:spcAft>
            </a:pPr>
            <a:r>
              <a:rPr sz="1100" b="0">
                <a:solidFill>
                  <a:srgbClr val="8B93A1"/>
                </a:solidFill>
                <a:latin typeface="Red Hat Display"/>
              </a:rPr>
              <a:t>AuxFlow</a:t>
            </a:r>
          </a:p>
        </p:txBody>
      </p:sp>
      <p:sp>
        <p:nvSpPr>
          <p:cNvPr id="7" name="TextBox 6"/>
          <p:cNvSpPr txBox="1"/>
          <p:nvPr/>
        </p:nvSpPr>
        <p:spPr>
          <a:xfrm>
            <a:off x="10789920" y="6355080"/>
            <a:ext cx="731520" cy="274320"/>
          </a:xfrm>
          <a:prstGeom prst="rect">
            <a:avLst/>
          </a:prstGeom>
          <a:noFill/>
        </p:spPr>
        <p:txBody>
          <a:bodyPr wrap="square" anchor="t" lIns="45720" rIns="45720" tIns="27432" bIns="27432">
            <a:spAutoFit/>
          </a:bodyPr>
          <a:lstStyle/>
          <a:p>
            <a:pPr algn="r">
              <a:spcAft>
                <a:spcPts val="400"/>
              </a:spcAft>
            </a:pPr>
            <a:r>
              <a:rPr sz="1100" b="0">
                <a:solidFill>
                  <a:srgbClr val="8B93A1"/>
                </a:solidFill>
                <a:latin typeface="Red Hat Display"/>
              </a:rPr>
              <a:t>6</a:t>
            </a:r>
          </a:p>
        </p:txBody>
      </p:sp>
      <p:sp>
        <p:nvSpPr>
          <p:cNvPr id="8" name="Rounded Rectangle 7"/>
          <p:cNvSpPr/>
          <p:nvPr/>
        </p:nvSpPr>
        <p:spPr>
          <a:xfrm>
            <a:off x="822960" y="1920240"/>
            <a:ext cx="10607040" cy="1371600"/>
          </a:xfrm>
          <a:prstGeom prst="roundRect">
            <a:avLst>
              <a:gd name="adj" fmla="val 10000"/>
            </a:avLst>
          </a:prstGeom>
          <a:solidFill>
            <a:srgbClr val="171A21"/>
          </a:solidFill>
          <a:ln w="2222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20240"/>
            <a:ext cx="10058400" cy="1371600"/>
          </a:xfrm>
          <a:prstGeom prst="rect">
            <a:avLst/>
          </a:prstGeom>
          <a:noFill/>
        </p:spPr>
        <p:txBody>
          <a:bodyPr wrap="square" anchor="ctr" lIns="45720" rIns="45720" tIns="27432" bIns="27432">
            <a:spAutoFit/>
          </a:bodyPr>
          <a:lstStyle/>
          <a:p>
            <a:pPr algn="ctr">
              <a:spcAft>
                <a:spcPts val="400"/>
              </a:spcAft>
            </a:pPr>
            <a:r>
              <a:rPr sz="2200" b="1">
                <a:solidFill>
                  <a:srgbClr val="E8EAF0"/>
                </a:solidFill>
                <a:latin typeface="Montserrat Alternates"/>
              </a:rPr>
              <a:t>For a declared subset of LaTeX, can static analysis decide before any run whether a document will settle?</a:t>
            </a:r>
          </a:p>
        </p:txBody>
      </p:sp>
      <p:sp>
        <p:nvSpPr>
          <p:cNvPr id="10" name="Rounded Rectangle 9"/>
          <p:cNvSpPr/>
          <p:nvPr/>
        </p:nvSpPr>
        <p:spPr>
          <a:xfrm>
            <a:off x="822960" y="3611880"/>
            <a:ext cx="3291840" cy="219456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3611880"/>
            <a:ext cx="3291840" cy="73152"/>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840480"/>
            <a:ext cx="3291840" cy="457200"/>
          </a:xfrm>
          <a:prstGeom prst="rect">
            <a:avLst/>
          </a:prstGeom>
          <a:noFill/>
        </p:spPr>
        <p:txBody>
          <a:bodyPr wrap="square" anchor="t" lIns="45720" rIns="45720" tIns="27432" bIns="27432">
            <a:spAutoFit/>
          </a:bodyPr>
          <a:lstStyle/>
          <a:p>
            <a:pPr algn="ctr">
              <a:spcAft>
                <a:spcPts val="400"/>
              </a:spcAft>
            </a:pPr>
            <a:r>
              <a:rPr sz="2000" b="1">
                <a:solidFill>
                  <a:srgbClr val="E8EAF0"/>
                </a:solidFill>
                <a:latin typeface="Montserrat Alternates"/>
              </a:rPr>
              <a:t>Coverage</a:t>
            </a:r>
          </a:p>
        </p:txBody>
      </p:sp>
      <p:sp>
        <p:nvSpPr>
          <p:cNvPr id="13" name="TextBox 12"/>
          <p:cNvSpPr txBox="1"/>
          <p:nvPr/>
        </p:nvSpPr>
        <p:spPr>
          <a:xfrm>
            <a:off x="1051560" y="4434840"/>
            <a:ext cx="2834640" cy="1280160"/>
          </a:xfrm>
          <a:prstGeom prst="rect">
            <a:avLst/>
          </a:prstGeom>
          <a:noFill/>
        </p:spPr>
        <p:txBody>
          <a:bodyPr wrap="square" anchor="t" lIns="45720" rIns="45720" tIns="27432" bIns="27432">
            <a:spAutoFit/>
          </a:bodyPr>
          <a:lstStyle/>
          <a:p>
            <a:pPr algn="ctr">
              <a:spcAft>
                <a:spcPts val="400"/>
              </a:spcAft>
            </a:pPr>
            <a:r>
              <a:rPr sz="1500" b="0">
                <a:solidFill>
                  <a:srgbClr val="8B93A1"/>
                </a:solidFill>
                <a:latin typeface="Red Hat Display"/>
              </a:rPr>
              <a:t>Which published non-convergence mechanisms does it detect, and which does it miss?</a:t>
            </a:r>
          </a:p>
        </p:txBody>
      </p:sp>
      <p:sp>
        <p:nvSpPr>
          <p:cNvPr id="14" name="Rounded Rectangle 13"/>
          <p:cNvSpPr/>
          <p:nvPr/>
        </p:nvSpPr>
        <p:spPr>
          <a:xfrm>
            <a:off x="4434840" y="3611880"/>
            <a:ext cx="3291840" cy="219456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34840" y="3611880"/>
            <a:ext cx="3291840" cy="73152"/>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3840480"/>
            <a:ext cx="3291840" cy="457200"/>
          </a:xfrm>
          <a:prstGeom prst="rect">
            <a:avLst/>
          </a:prstGeom>
          <a:noFill/>
        </p:spPr>
        <p:txBody>
          <a:bodyPr wrap="square" anchor="t" lIns="45720" rIns="45720" tIns="27432" bIns="27432">
            <a:spAutoFit/>
          </a:bodyPr>
          <a:lstStyle/>
          <a:p>
            <a:pPr algn="ctr">
              <a:spcAft>
                <a:spcPts val="400"/>
              </a:spcAft>
            </a:pPr>
            <a:r>
              <a:rPr sz="2000" b="1">
                <a:solidFill>
                  <a:srgbClr val="E8EAF0"/>
                </a:solidFill>
                <a:latin typeface="Montserrat Alternates"/>
              </a:rPr>
              <a:t>Comparison</a:t>
            </a:r>
          </a:p>
        </p:txBody>
      </p:sp>
      <p:sp>
        <p:nvSpPr>
          <p:cNvPr id="17" name="TextBox 16"/>
          <p:cNvSpPr txBox="1"/>
          <p:nvPr/>
        </p:nvSpPr>
        <p:spPr>
          <a:xfrm>
            <a:off x="4663440" y="4434840"/>
            <a:ext cx="2834640" cy="1280160"/>
          </a:xfrm>
          <a:prstGeom prst="rect">
            <a:avLst/>
          </a:prstGeom>
          <a:noFill/>
        </p:spPr>
        <p:txBody>
          <a:bodyPr wrap="square" anchor="t" lIns="45720" rIns="45720" tIns="27432" bIns="27432">
            <a:spAutoFit/>
          </a:bodyPr>
          <a:lstStyle/>
          <a:p>
            <a:pPr algn="ctr">
              <a:spcAft>
                <a:spcPts val="400"/>
              </a:spcAft>
            </a:pPr>
            <a:r>
              <a:rPr sz="1500" b="0">
                <a:solidFill>
                  <a:srgbClr val="8B93A1"/>
                </a:solidFill>
                <a:latin typeface="Red Hat Display"/>
              </a:rPr>
              <a:t>How does it differ from the oracles in latexmk, latexrun, Tectonic and Typst?</a:t>
            </a:r>
          </a:p>
        </p:txBody>
      </p:sp>
      <p:sp>
        <p:nvSpPr>
          <p:cNvPr id="18" name="Rounded Rectangle 17"/>
          <p:cNvSpPr/>
          <p:nvPr/>
        </p:nvSpPr>
        <p:spPr>
          <a:xfrm>
            <a:off x="8046720" y="3611880"/>
            <a:ext cx="3291840" cy="219456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3611880"/>
            <a:ext cx="3291840" cy="73152"/>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3840480"/>
            <a:ext cx="3291840" cy="457200"/>
          </a:xfrm>
          <a:prstGeom prst="rect">
            <a:avLst/>
          </a:prstGeom>
          <a:noFill/>
        </p:spPr>
        <p:txBody>
          <a:bodyPr wrap="square" anchor="t" lIns="45720" rIns="45720" tIns="27432" bIns="27432">
            <a:spAutoFit/>
          </a:bodyPr>
          <a:lstStyle/>
          <a:p>
            <a:pPr algn="ctr">
              <a:spcAft>
                <a:spcPts val="400"/>
              </a:spcAft>
            </a:pPr>
            <a:r>
              <a:rPr sz="2000" b="1">
                <a:solidFill>
                  <a:srgbClr val="E8EAF0"/>
                </a:solidFill>
                <a:latin typeface="Montserrat Alternates"/>
              </a:rPr>
              <a:t>Accuracy</a:t>
            </a:r>
          </a:p>
        </p:txBody>
      </p:sp>
      <p:sp>
        <p:nvSpPr>
          <p:cNvPr id="21" name="TextBox 20"/>
          <p:cNvSpPr txBox="1"/>
          <p:nvPr/>
        </p:nvSpPr>
        <p:spPr>
          <a:xfrm>
            <a:off x="8275320" y="4434840"/>
            <a:ext cx="2834640" cy="1280160"/>
          </a:xfrm>
          <a:prstGeom prst="rect">
            <a:avLst/>
          </a:prstGeom>
          <a:noFill/>
        </p:spPr>
        <p:txBody>
          <a:bodyPr wrap="square" anchor="t" lIns="45720" rIns="45720" tIns="27432" bIns="27432">
            <a:spAutoFit/>
          </a:bodyPr>
          <a:lstStyle/>
          <a:p>
            <a:pPr algn="ctr">
              <a:spcAft>
                <a:spcPts val="400"/>
              </a:spcAft>
            </a:pPr>
            <a:r>
              <a:rPr sz="1500" b="0">
                <a:solidFill>
                  <a:srgbClr val="8B93A1"/>
                </a:solidFill>
                <a:latin typeface="Red Hat Display"/>
              </a:rPr>
              <a:t>How close is the predicted run count to the measured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itle 1"/>
          <p:cNvSpPr>
            <a:spLocks noGrp="1"/>
          </p:cNvSpPr>
          <p:nvPr>
            <p:ph type="title"/>
          </p:nvPr>
        </p:nvSpPr>
        <p:spPr>
          <a:xfrm>
            <a:off x="685800" y="960120"/>
            <a:ext cx="10789920" cy="731520"/>
          </a:xfrm>
        </p:spPr>
        <p:txBody>
          <a:bodyPr wrap="square" anchor="t" lIns="45720" rIns="45720" tIns="27432" bIns="27432"/>
          <a:lstStyle/>
          <a:p>
            <a:pPr algn="l"/>
            <a:r>
              <a:rPr sz="3200" b="1">
                <a:solidFill>
                  <a:srgbClr val="E8EAF0"/>
                </a:solidFill>
                <a:latin typeface="Montserrat Alternates"/>
              </a:rPr>
              <a:t>Approach: analyze first, then run and verify</a:t>
            </a:r>
          </a:p>
        </p:txBody>
      </p:sp>
      <p:sp>
        <p:nvSpPr>
          <p:cNvPr id="3" name="Rectangle 2"/>
          <p:cNvSpPr/>
          <p:nvPr/>
        </p:nvSpPr>
        <p:spPr>
          <a:xfrm>
            <a:off x="731520" y="566928"/>
            <a:ext cx="320040" cy="457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8229600" cy="320040"/>
          </a:xfrm>
          <a:prstGeom prst="rect">
            <a:avLst/>
          </a:prstGeom>
          <a:noFill/>
        </p:spPr>
        <p:txBody>
          <a:bodyPr wrap="square" anchor="t" lIns="45720" rIns="45720" tIns="27432" bIns="27432">
            <a:spAutoFit/>
          </a:bodyPr>
          <a:lstStyle/>
          <a:p>
            <a:pPr algn="l">
              <a:spcAft>
                <a:spcPts val="400"/>
              </a:spcAft>
            </a:pPr>
            <a:r>
              <a:rPr sz="1200" b="1">
                <a:solidFill>
                  <a:srgbClr val="A78BFA"/>
                </a:solidFill>
                <a:latin typeface="Montserrat Alternates"/>
              </a:rPr>
              <a:t>METHOD</a:t>
            </a:r>
          </a:p>
        </p:txBody>
      </p:sp>
      <p:sp>
        <p:nvSpPr>
          <p:cNvPr id="5" name="Rectangle 4"/>
          <p:cNvSpPr/>
          <p:nvPr/>
        </p:nvSpPr>
        <p:spPr>
          <a:xfrm>
            <a:off x="731520" y="6263640"/>
            <a:ext cx="10725912" cy="9144"/>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355080"/>
            <a:ext cx="3657600" cy="274320"/>
          </a:xfrm>
          <a:prstGeom prst="rect">
            <a:avLst/>
          </a:prstGeom>
          <a:noFill/>
        </p:spPr>
        <p:txBody>
          <a:bodyPr wrap="square" anchor="t" lIns="45720" rIns="45720" tIns="27432" bIns="27432">
            <a:spAutoFit/>
          </a:bodyPr>
          <a:lstStyle/>
          <a:p>
            <a:pPr algn="l">
              <a:spcAft>
                <a:spcPts val="400"/>
              </a:spcAft>
            </a:pPr>
            <a:r>
              <a:rPr sz="1100" b="0">
                <a:solidFill>
                  <a:srgbClr val="8B93A1"/>
                </a:solidFill>
                <a:latin typeface="Red Hat Display"/>
              </a:rPr>
              <a:t>AuxFlow</a:t>
            </a:r>
          </a:p>
        </p:txBody>
      </p:sp>
      <p:sp>
        <p:nvSpPr>
          <p:cNvPr id="7" name="TextBox 6"/>
          <p:cNvSpPr txBox="1"/>
          <p:nvPr/>
        </p:nvSpPr>
        <p:spPr>
          <a:xfrm>
            <a:off x="10789920" y="6355080"/>
            <a:ext cx="731520" cy="274320"/>
          </a:xfrm>
          <a:prstGeom prst="rect">
            <a:avLst/>
          </a:prstGeom>
          <a:noFill/>
        </p:spPr>
        <p:txBody>
          <a:bodyPr wrap="square" anchor="t" lIns="45720" rIns="45720" tIns="27432" bIns="27432">
            <a:spAutoFit/>
          </a:bodyPr>
          <a:lstStyle/>
          <a:p>
            <a:pPr algn="r">
              <a:spcAft>
                <a:spcPts val="400"/>
              </a:spcAft>
            </a:pPr>
            <a:r>
              <a:rPr sz="1100" b="0">
                <a:solidFill>
                  <a:srgbClr val="8B93A1"/>
                </a:solidFill>
                <a:latin typeface="Red Hat Display"/>
              </a:rPr>
              <a:t>7</a:t>
            </a:r>
          </a:p>
        </p:txBody>
      </p:sp>
      <p:sp>
        <p:nvSpPr>
          <p:cNvPr id="8" name="Rounded Rectangle 7"/>
          <p:cNvSpPr/>
          <p:nvPr/>
        </p:nvSpPr>
        <p:spPr>
          <a:xfrm>
            <a:off x="822960" y="2103120"/>
            <a:ext cx="1828800" cy="1005840"/>
          </a:xfrm>
          <a:prstGeom prst="roundRect">
            <a:avLst>
              <a:gd name="adj" fmla="val 10000"/>
            </a:avLst>
          </a:prstGeom>
          <a:solidFill>
            <a:srgbClr val="171A21"/>
          </a:solidFill>
          <a:ln w="15875">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103120"/>
            <a:ext cx="1828800" cy="1005840"/>
          </a:xfrm>
          <a:prstGeom prst="rect">
            <a:avLst/>
          </a:prstGeom>
          <a:noFill/>
        </p:spPr>
        <p:txBody>
          <a:bodyPr wrap="square" anchor="ctr" lIns="45720" rIns="45720" tIns="27432" bIns="27432">
            <a:spAutoFit/>
          </a:bodyPr>
          <a:lstStyle/>
          <a:p>
            <a:pPr algn="ctr">
              <a:spcAft>
                <a:spcPts val="400"/>
              </a:spcAft>
            </a:pPr>
            <a:r>
              <a:rPr sz="1700" b="1">
                <a:solidFill>
                  <a:srgbClr val="E8EAF0"/>
                </a:solidFill>
                <a:latin typeface="Montserrat Alternates"/>
              </a:rPr>
              <a:t>Source</a:t>
            </a:r>
          </a:p>
        </p:txBody>
      </p:sp>
      <p:sp>
        <p:nvSpPr>
          <p:cNvPr id="10" name="TextBox 9"/>
          <p:cNvSpPr txBox="1"/>
          <p:nvPr/>
        </p:nvSpPr>
        <p:spPr>
          <a:xfrm>
            <a:off x="731520" y="3200400"/>
            <a:ext cx="2011680" cy="640080"/>
          </a:xfrm>
          <a:prstGeom prst="rect">
            <a:avLst/>
          </a:prstGeom>
          <a:noFill/>
        </p:spPr>
        <p:txBody>
          <a:bodyPr wrap="square" anchor="t" lIns="45720" rIns="45720" tIns="27432" bIns="27432">
            <a:spAutoFit/>
          </a:bodyPr>
          <a:lstStyle/>
          <a:p>
            <a:pPr algn="ctr">
              <a:spcAft>
                <a:spcPts val="400"/>
              </a:spcAft>
            </a:pPr>
            <a:r>
              <a:rPr sz="1300" b="0">
                <a:solidFill>
                  <a:srgbClr val="8B93A1"/>
                </a:solidFill>
                <a:latin typeface="Red Hat Display"/>
              </a:rPr>
              <a:t>.tex files</a:t>
            </a:r>
          </a:p>
        </p:txBody>
      </p:sp>
      <p:cxnSp>
        <p:nvCxnSpPr>
          <p:cNvPr id="11" name="Connector 10"/>
          <p:cNvCxnSpPr/>
          <p:nvPr/>
        </p:nvCxnSpPr>
        <p:spPr>
          <a:xfrm>
            <a:off x="2651760" y="2606040"/>
            <a:ext cx="347472" cy="0"/>
          </a:xfrm>
          <a:prstGeom prst="line">
            <a:avLst/>
          </a:prstGeom>
          <a:ln w="22225">
            <a:solidFill>
              <a:srgbClr val="8B93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99232" y="2103120"/>
            <a:ext cx="1828800" cy="1005840"/>
          </a:xfrm>
          <a:prstGeom prst="roundRect">
            <a:avLst>
              <a:gd name="adj" fmla="val 10000"/>
            </a:avLst>
          </a:prstGeom>
          <a:solidFill>
            <a:srgbClr val="171A21"/>
          </a:solidFill>
          <a:ln w="15875">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9232" y="2103120"/>
            <a:ext cx="1828800" cy="1005840"/>
          </a:xfrm>
          <a:prstGeom prst="rect">
            <a:avLst/>
          </a:prstGeom>
          <a:noFill/>
        </p:spPr>
        <p:txBody>
          <a:bodyPr wrap="square" anchor="ctr" lIns="45720" rIns="45720" tIns="27432" bIns="27432">
            <a:spAutoFit/>
          </a:bodyPr>
          <a:lstStyle/>
          <a:p>
            <a:pPr algn="ctr">
              <a:spcAft>
                <a:spcPts val="400"/>
              </a:spcAft>
            </a:pPr>
            <a:r>
              <a:rPr sz="1700" b="1">
                <a:solidFill>
                  <a:srgbClr val="E8EAF0"/>
                </a:solidFill>
                <a:latin typeface="Montserrat Alternates"/>
              </a:rPr>
              <a:t>Facts</a:t>
            </a:r>
          </a:p>
        </p:txBody>
      </p:sp>
      <p:sp>
        <p:nvSpPr>
          <p:cNvPr id="14" name="TextBox 13"/>
          <p:cNvSpPr txBox="1"/>
          <p:nvPr/>
        </p:nvSpPr>
        <p:spPr>
          <a:xfrm>
            <a:off x="2907791" y="3200400"/>
            <a:ext cx="2011680" cy="640080"/>
          </a:xfrm>
          <a:prstGeom prst="rect">
            <a:avLst/>
          </a:prstGeom>
          <a:noFill/>
        </p:spPr>
        <p:txBody>
          <a:bodyPr wrap="square" anchor="t" lIns="45720" rIns="45720" tIns="27432" bIns="27432">
            <a:spAutoFit/>
          </a:bodyPr>
          <a:lstStyle/>
          <a:p>
            <a:pPr algn="ctr">
              <a:spcAft>
                <a:spcPts val="400"/>
              </a:spcAft>
            </a:pPr>
            <a:r>
              <a:rPr sz="1300" b="0">
                <a:solidFill>
                  <a:srgbClr val="8B93A1"/>
                </a:solidFill>
                <a:latin typeface="Red Hat Display"/>
              </a:rPr>
              <a:t>lexer, parser, semantic</a:t>
            </a:r>
          </a:p>
        </p:txBody>
      </p:sp>
      <p:cxnSp>
        <p:nvCxnSpPr>
          <p:cNvPr id="15" name="Connector 14"/>
          <p:cNvCxnSpPr/>
          <p:nvPr/>
        </p:nvCxnSpPr>
        <p:spPr>
          <a:xfrm>
            <a:off x="4828031" y="2606040"/>
            <a:ext cx="347473" cy="0"/>
          </a:xfrm>
          <a:prstGeom prst="line">
            <a:avLst/>
          </a:prstGeom>
          <a:ln w="22225">
            <a:solidFill>
              <a:srgbClr val="8B93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75504" y="2103120"/>
            <a:ext cx="1828800" cy="1005840"/>
          </a:xfrm>
          <a:prstGeom prst="roundRect">
            <a:avLst>
              <a:gd name="adj" fmla="val 10000"/>
            </a:avLst>
          </a:prstGeom>
          <a:solidFill>
            <a:srgbClr val="171A21"/>
          </a:solidFill>
          <a:ln w="1587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75504" y="2103120"/>
            <a:ext cx="1828800" cy="1005840"/>
          </a:xfrm>
          <a:prstGeom prst="rect">
            <a:avLst/>
          </a:prstGeom>
          <a:noFill/>
        </p:spPr>
        <p:txBody>
          <a:bodyPr wrap="square" anchor="ctr" lIns="45720" rIns="45720" tIns="27432" bIns="27432">
            <a:spAutoFit/>
          </a:bodyPr>
          <a:lstStyle/>
          <a:p>
            <a:pPr algn="ctr">
              <a:spcAft>
                <a:spcPts val="400"/>
              </a:spcAft>
            </a:pPr>
            <a:r>
              <a:rPr sz="1700" b="1">
                <a:solidFill>
                  <a:srgbClr val="E8EAF0"/>
                </a:solidFill>
                <a:latin typeface="Montserrat Alternates"/>
              </a:rPr>
              <a:t>Graph</a:t>
            </a:r>
          </a:p>
        </p:txBody>
      </p:sp>
      <p:sp>
        <p:nvSpPr>
          <p:cNvPr id="18" name="TextBox 17"/>
          <p:cNvSpPr txBox="1"/>
          <p:nvPr/>
        </p:nvSpPr>
        <p:spPr>
          <a:xfrm>
            <a:off x="5084064" y="3200400"/>
            <a:ext cx="2011680" cy="640080"/>
          </a:xfrm>
          <a:prstGeom prst="rect">
            <a:avLst/>
          </a:prstGeom>
          <a:noFill/>
        </p:spPr>
        <p:txBody>
          <a:bodyPr wrap="square" anchor="t" lIns="45720" rIns="45720" tIns="27432" bIns="27432">
            <a:spAutoFit/>
          </a:bodyPr>
          <a:lstStyle/>
          <a:p>
            <a:pPr algn="ctr">
              <a:spcAft>
                <a:spcPts val="400"/>
              </a:spcAft>
            </a:pPr>
            <a:r>
              <a:rPr sz="1300" b="0">
                <a:solidFill>
                  <a:srgbClr val="8B93A1"/>
                </a:solidFill>
                <a:latin typeface="Red Hat Display"/>
              </a:rPr>
              <a:t>auxiliary reference graph</a:t>
            </a:r>
          </a:p>
        </p:txBody>
      </p:sp>
      <p:cxnSp>
        <p:nvCxnSpPr>
          <p:cNvPr id="19" name="Connector 18"/>
          <p:cNvCxnSpPr/>
          <p:nvPr/>
        </p:nvCxnSpPr>
        <p:spPr>
          <a:xfrm>
            <a:off x="7004304" y="2606040"/>
            <a:ext cx="347471" cy="0"/>
          </a:xfrm>
          <a:prstGeom prst="line">
            <a:avLst/>
          </a:prstGeom>
          <a:ln w="22225">
            <a:solidFill>
              <a:srgbClr val="8B93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51775" y="2103120"/>
            <a:ext cx="1828800" cy="1005840"/>
          </a:xfrm>
          <a:prstGeom prst="roundRect">
            <a:avLst>
              <a:gd name="adj" fmla="val 10000"/>
            </a:avLst>
          </a:prstGeom>
          <a:solidFill>
            <a:srgbClr val="171A21"/>
          </a:solidFill>
          <a:ln w="1587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51775" y="2103120"/>
            <a:ext cx="1828800" cy="1005840"/>
          </a:xfrm>
          <a:prstGeom prst="rect">
            <a:avLst/>
          </a:prstGeom>
          <a:noFill/>
        </p:spPr>
        <p:txBody>
          <a:bodyPr wrap="square" anchor="ctr" lIns="45720" rIns="45720" tIns="27432" bIns="27432">
            <a:spAutoFit/>
          </a:bodyPr>
          <a:lstStyle/>
          <a:p>
            <a:pPr algn="ctr">
              <a:spcAft>
                <a:spcPts val="400"/>
              </a:spcAft>
            </a:pPr>
            <a:r>
              <a:rPr sz="1700" b="1">
                <a:solidFill>
                  <a:srgbClr val="E8EAF0"/>
                </a:solidFill>
                <a:latin typeface="Montserrat Alternates"/>
              </a:rPr>
              <a:t>Classify</a:t>
            </a:r>
          </a:p>
        </p:txBody>
      </p:sp>
      <p:sp>
        <p:nvSpPr>
          <p:cNvPr id="22" name="TextBox 21"/>
          <p:cNvSpPr txBox="1"/>
          <p:nvPr/>
        </p:nvSpPr>
        <p:spPr>
          <a:xfrm>
            <a:off x="7260336" y="3200400"/>
            <a:ext cx="2011680" cy="640080"/>
          </a:xfrm>
          <a:prstGeom prst="rect">
            <a:avLst/>
          </a:prstGeom>
          <a:noFill/>
        </p:spPr>
        <p:txBody>
          <a:bodyPr wrap="square" anchor="t" lIns="45720" rIns="45720" tIns="27432" bIns="27432">
            <a:spAutoFit/>
          </a:bodyPr>
          <a:lstStyle/>
          <a:p>
            <a:pPr algn="ctr">
              <a:spcAft>
                <a:spcPts val="400"/>
              </a:spcAft>
            </a:pPr>
            <a:r>
              <a:rPr sz="1300" b="0">
                <a:solidFill>
                  <a:srgbClr val="8B93A1"/>
                </a:solidFill>
                <a:latin typeface="Red Hat Display"/>
              </a:rPr>
              <a:t>one of four states</a:t>
            </a:r>
          </a:p>
        </p:txBody>
      </p:sp>
      <p:cxnSp>
        <p:nvCxnSpPr>
          <p:cNvPr id="23" name="Connector 22"/>
          <p:cNvCxnSpPr/>
          <p:nvPr/>
        </p:nvCxnSpPr>
        <p:spPr>
          <a:xfrm>
            <a:off x="9180576" y="2606040"/>
            <a:ext cx="347471" cy="0"/>
          </a:xfrm>
          <a:prstGeom prst="line">
            <a:avLst/>
          </a:prstGeom>
          <a:ln w="22225">
            <a:solidFill>
              <a:srgbClr val="8B93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528048" y="2103120"/>
            <a:ext cx="1828800" cy="1005840"/>
          </a:xfrm>
          <a:prstGeom prst="roundRect">
            <a:avLst>
              <a:gd name="adj" fmla="val 10000"/>
            </a:avLst>
          </a:prstGeom>
          <a:solidFill>
            <a:srgbClr val="171A21"/>
          </a:solidFill>
          <a:ln w="15875">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28048" y="2103120"/>
            <a:ext cx="1828800" cy="1005840"/>
          </a:xfrm>
          <a:prstGeom prst="rect">
            <a:avLst/>
          </a:prstGeom>
          <a:noFill/>
        </p:spPr>
        <p:txBody>
          <a:bodyPr wrap="square" anchor="ctr" lIns="45720" rIns="45720" tIns="27432" bIns="27432">
            <a:spAutoFit/>
          </a:bodyPr>
          <a:lstStyle/>
          <a:p>
            <a:pPr algn="ctr">
              <a:spcAft>
                <a:spcPts val="400"/>
              </a:spcAft>
            </a:pPr>
            <a:r>
              <a:rPr sz="1700" b="1">
                <a:solidFill>
                  <a:srgbClr val="E8EAF0"/>
                </a:solidFill>
                <a:latin typeface="Montserrat Alternates"/>
              </a:rPr>
              <a:t>Plan</a:t>
            </a:r>
          </a:p>
        </p:txBody>
      </p:sp>
      <p:sp>
        <p:nvSpPr>
          <p:cNvPr id="26" name="TextBox 25"/>
          <p:cNvSpPr txBox="1"/>
          <p:nvPr/>
        </p:nvSpPr>
        <p:spPr>
          <a:xfrm>
            <a:off x="9436608" y="3200400"/>
            <a:ext cx="2011680" cy="640080"/>
          </a:xfrm>
          <a:prstGeom prst="rect">
            <a:avLst/>
          </a:prstGeom>
          <a:noFill/>
        </p:spPr>
        <p:txBody>
          <a:bodyPr wrap="square" anchor="t" lIns="45720" rIns="45720" tIns="27432" bIns="27432">
            <a:spAutoFit/>
          </a:bodyPr>
          <a:lstStyle/>
          <a:p>
            <a:pPr algn="ctr">
              <a:spcAft>
                <a:spcPts val="400"/>
              </a:spcAft>
            </a:pPr>
            <a:r>
              <a:rPr sz="1300" b="0">
                <a:solidFill>
                  <a:srgbClr val="8B93A1"/>
                </a:solidFill>
                <a:latin typeface="Red Hat Display"/>
              </a:rPr>
              <a:t>engine and tool runs</a:t>
            </a:r>
          </a:p>
        </p:txBody>
      </p:sp>
      <p:sp>
        <p:nvSpPr>
          <p:cNvPr id="27" name="Rectangle 26"/>
          <p:cNvSpPr/>
          <p:nvPr/>
        </p:nvSpPr>
        <p:spPr>
          <a:xfrm>
            <a:off x="731520" y="4069080"/>
            <a:ext cx="10698480" cy="18288"/>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160520"/>
            <a:ext cx="5486400" cy="365760"/>
          </a:xfrm>
          <a:prstGeom prst="rect">
            <a:avLst/>
          </a:prstGeom>
          <a:noFill/>
        </p:spPr>
        <p:txBody>
          <a:bodyPr wrap="square" anchor="t" lIns="45720" rIns="45720" tIns="27432" bIns="27432">
            <a:spAutoFit/>
          </a:bodyPr>
          <a:lstStyle/>
          <a:p>
            <a:pPr algn="l">
              <a:spcAft>
                <a:spcPts val="400"/>
              </a:spcAft>
            </a:pPr>
            <a:r>
              <a:rPr sz="1400" b="1">
                <a:solidFill>
                  <a:srgbClr val="34D399"/>
                </a:solidFill>
                <a:latin typeface="Red Hat Mono"/>
              </a:rPr>
              <a:t>auxflow run</a:t>
            </a:r>
          </a:p>
        </p:txBody>
      </p:sp>
      <p:sp>
        <p:nvSpPr>
          <p:cNvPr id="29" name="Rounded Rectangle 28"/>
          <p:cNvSpPr/>
          <p:nvPr/>
        </p:nvSpPr>
        <p:spPr>
          <a:xfrm>
            <a:off x="822960" y="4617720"/>
            <a:ext cx="2377440" cy="822960"/>
          </a:xfrm>
          <a:prstGeom prst="roundRect">
            <a:avLst>
              <a:gd name="adj" fmla="val 10000"/>
            </a:avLst>
          </a:prstGeom>
          <a:solidFill>
            <a:srgbClr val="171A21"/>
          </a:solidFill>
          <a:ln w="15875">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617720"/>
            <a:ext cx="2377440" cy="822960"/>
          </a:xfrm>
          <a:prstGeom prst="rect">
            <a:avLst/>
          </a:prstGeom>
          <a:noFill/>
        </p:spPr>
        <p:txBody>
          <a:bodyPr wrap="square" anchor="ctr" lIns="45720" rIns="45720" tIns="27432" bIns="27432">
            <a:spAutoFit/>
          </a:bodyPr>
          <a:lstStyle/>
          <a:p>
            <a:pPr algn="ctr">
              <a:spcAft>
                <a:spcPts val="400"/>
              </a:spcAft>
            </a:pPr>
            <a:r>
              <a:rPr sz="1500" b="1">
                <a:solidFill>
                  <a:srgbClr val="E8EAF0"/>
                </a:solidFill>
                <a:latin typeface="Montserrat Alternates"/>
              </a:rPr>
              <a:t>Run engine</a:t>
            </a:r>
          </a:p>
        </p:txBody>
      </p:sp>
      <p:cxnSp>
        <p:nvCxnSpPr>
          <p:cNvPr id="31" name="Connector 30"/>
          <p:cNvCxnSpPr/>
          <p:nvPr/>
        </p:nvCxnSpPr>
        <p:spPr>
          <a:xfrm>
            <a:off x="3200400" y="5029200"/>
            <a:ext cx="548640" cy="0"/>
          </a:xfrm>
          <a:prstGeom prst="line">
            <a:avLst/>
          </a:prstGeom>
          <a:ln w="22225">
            <a:solidFill>
              <a:srgbClr val="8B93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3749040" y="4617720"/>
            <a:ext cx="2377440" cy="822960"/>
          </a:xfrm>
          <a:prstGeom prst="roundRect">
            <a:avLst>
              <a:gd name="adj" fmla="val 10000"/>
            </a:avLst>
          </a:prstGeom>
          <a:solidFill>
            <a:srgbClr val="171A21"/>
          </a:solidFill>
          <a:ln w="15875">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49040" y="4617720"/>
            <a:ext cx="2377440" cy="822960"/>
          </a:xfrm>
          <a:prstGeom prst="rect">
            <a:avLst/>
          </a:prstGeom>
          <a:noFill/>
        </p:spPr>
        <p:txBody>
          <a:bodyPr wrap="square" anchor="ctr" lIns="45720" rIns="45720" tIns="27432" bIns="27432">
            <a:spAutoFit/>
          </a:bodyPr>
          <a:lstStyle/>
          <a:p>
            <a:pPr algn="ctr">
              <a:spcAft>
                <a:spcPts val="400"/>
              </a:spcAft>
            </a:pPr>
            <a:r>
              <a:rPr sz="1500" b="1">
                <a:solidFill>
                  <a:srgbClr val="E8EAF0"/>
                </a:solidFill>
                <a:latin typeface="Montserrat Alternates"/>
              </a:rPr>
              <a:t>Read .aux files</a:t>
            </a:r>
          </a:p>
        </p:txBody>
      </p:sp>
      <p:cxnSp>
        <p:nvCxnSpPr>
          <p:cNvPr id="34" name="Connector 33"/>
          <p:cNvCxnSpPr/>
          <p:nvPr/>
        </p:nvCxnSpPr>
        <p:spPr>
          <a:xfrm>
            <a:off x="6126480" y="5029200"/>
            <a:ext cx="548640" cy="0"/>
          </a:xfrm>
          <a:prstGeom prst="line">
            <a:avLst/>
          </a:prstGeom>
          <a:ln w="22225">
            <a:solidFill>
              <a:srgbClr val="8B93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675120" y="4617720"/>
            <a:ext cx="2377440" cy="822960"/>
          </a:xfrm>
          <a:prstGeom prst="roundRect">
            <a:avLst>
              <a:gd name="adj" fmla="val 10000"/>
            </a:avLst>
          </a:prstGeom>
          <a:solidFill>
            <a:srgbClr val="171A21"/>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75120" y="4617720"/>
            <a:ext cx="2377440" cy="822960"/>
          </a:xfrm>
          <a:prstGeom prst="rect">
            <a:avLst/>
          </a:prstGeom>
          <a:noFill/>
        </p:spPr>
        <p:txBody>
          <a:bodyPr wrap="square" anchor="ctr" lIns="45720" rIns="45720" tIns="27432" bIns="27432">
            <a:spAutoFit/>
          </a:bodyPr>
          <a:lstStyle/>
          <a:p>
            <a:pPr algn="ctr">
              <a:spcAft>
                <a:spcPts val="400"/>
              </a:spcAft>
            </a:pPr>
            <a:r>
              <a:rPr sz="1500" b="1">
                <a:solidFill>
                  <a:srgbClr val="E8EAF0"/>
                </a:solidFill>
                <a:latin typeface="Montserrat Alternates"/>
              </a:rPr>
              <a:t>Same as last pass?</a:t>
            </a:r>
          </a:p>
        </p:txBody>
      </p:sp>
      <p:cxnSp>
        <p:nvCxnSpPr>
          <p:cNvPr id="37" name="Connector 36"/>
          <p:cNvCxnSpPr/>
          <p:nvPr/>
        </p:nvCxnSpPr>
        <p:spPr>
          <a:xfrm>
            <a:off x="9418320" y="5029200"/>
            <a:ext cx="548640" cy="0"/>
          </a:xfrm>
          <a:prstGeom prst="line">
            <a:avLst/>
          </a:prstGeom>
          <a:ln w="22225">
            <a:solidFill>
              <a:srgbClr val="34D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966960" y="4617720"/>
            <a:ext cx="1463040" cy="822960"/>
          </a:xfrm>
          <a:prstGeom prst="roundRect">
            <a:avLst>
              <a:gd name="adj" fmla="val 10000"/>
            </a:avLst>
          </a:prstGeom>
          <a:solidFill>
            <a:srgbClr val="171A21"/>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66960" y="4617720"/>
            <a:ext cx="1463040" cy="822960"/>
          </a:xfrm>
          <a:prstGeom prst="rect">
            <a:avLst/>
          </a:prstGeom>
          <a:noFill/>
        </p:spPr>
        <p:txBody>
          <a:bodyPr wrap="square" anchor="ctr" lIns="45720" rIns="45720" tIns="27432" bIns="27432">
            <a:spAutoFit/>
          </a:bodyPr>
          <a:lstStyle/>
          <a:p>
            <a:pPr algn="ctr">
              <a:spcAft>
                <a:spcPts val="400"/>
              </a:spcAft>
            </a:pPr>
            <a:r>
              <a:rPr sz="1500" b="1">
                <a:solidFill>
                  <a:srgbClr val="E8EAF0"/>
                </a:solidFill>
                <a:latin typeface="Montserrat Alternates"/>
              </a:rPr>
              <a:t>Done</a:t>
            </a:r>
          </a:p>
        </p:txBody>
      </p:sp>
      <p:sp>
        <p:nvSpPr>
          <p:cNvPr id="40" name="TextBox 39"/>
          <p:cNvSpPr txBox="1"/>
          <p:nvPr/>
        </p:nvSpPr>
        <p:spPr>
          <a:xfrm>
            <a:off x="6309360" y="5486400"/>
            <a:ext cx="2743200" cy="320040"/>
          </a:xfrm>
          <a:prstGeom prst="rect">
            <a:avLst/>
          </a:prstGeom>
          <a:noFill/>
        </p:spPr>
        <p:txBody>
          <a:bodyPr wrap="square" anchor="t" lIns="45720" rIns="45720" tIns="27432" bIns="27432">
            <a:spAutoFit/>
          </a:bodyPr>
          <a:lstStyle/>
          <a:p>
            <a:pPr algn="ctr">
              <a:spcAft>
                <a:spcPts val="400"/>
              </a:spcAft>
            </a:pPr>
            <a:r>
              <a:rPr sz="1200" b="0">
                <a:solidFill>
                  <a:srgbClr val="FBBF24"/>
                </a:solidFill>
                <a:latin typeface="Red Hat Mono"/>
              </a:rPr>
              <a:t>no: run again</a:t>
            </a:r>
          </a:p>
        </p:txBody>
      </p:sp>
      <p:sp>
        <p:nvSpPr>
          <p:cNvPr id="41" name="TextBox 40"/>
          <p:cNvSpPr txBox="1"/>
          <p:nvPr/>
        </p:nvSpPr>
        <p:spPr>
          <a:xfrm>
            <a:off x="822960" y="5806440"/>
            <a:ext cx="10515600" cy="411480"/>
          </a:xfrm>
          <a:prstGeom prst="rect">
            <a:avLst/>
          </a:prstGeom>
          <a:noFill/>
        </p:spPr>
        <p:txBody>
          <a:bodyPr wrap="square" anchor="t" lIns="45720" rIns="45720" tIns="27432" bIns="27432">
            <a:spAutoFit/>
          </a:bodyPr>
          <a:lstStyle/>
          <a:p>
            <a:pPr algn="l">
              <a:spcAft>
                <a:spcPts val="400"/>
              </a:spcAft>
            </a:pPr>
            <a:r>
              <a:rPr sz="1600" b="0">
                <a:solidFill>
                  <a:srgbClr val="E8EAF0"/>
                </a:solidFill>
                <a:latin typeface="Red Hat Display"/>
              </a:rPr>
              <a:t>Prediction decides the plan. Runtime comparison confirms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itle 1"/>
          <p:cNvSpPr>
            <a:spLocks noGrp="1"/>
          </p:cNvSpPr>
          <p:nvPr>
            <p:ph type="title"/>
          </p:nvPr>
        </p:nvSpPr>
        <p:spPr>
          <a:xfrm>
            <a:off x="685800" y="960120"/>
            <a:ext cx="10789920" cy="731520"/>
          </a:xfrm>
        </p:spPr>
        <p:txBody>
          <a:bodyPr wrap="square" anchor="t" lIns="45720" rIns="45720" tIns="27432" bIns="27432"/>
          <a:lstStyle/>
          <a:p>
            <a:pPr algn="l"/>
            <a:r>
              <a:rPr sz="3200" b="1">
                <a:solidFill>
                  <a:srgbClr val="E8EAF0"/>
                </a:solidFill>
                <a:latin typeface="Montserrat Alternates"/>
              </a:rPr>
              <a:t>The graph captures what feeds what</a:t>
            </a:r>
          </a:p>
        </p:txBody>
      </p:sp>
      <p:sp>
        <p:nvSpPr>
          <p:cNvPr id="3" name="Rectangle 2"/>
          <p:cNvSpPr/>
          <p:nvPr/>
        </p:nvSpPr>
        <p:spPr>
          <a:xfrm>
            <a:off x="731520" y="566928"/>
            <a:ext cx="320040" cy="457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8229600" cy="320040"/>
          </a:xfrm>
          <a:prstGeom prst="rect">
            <a:avLst/>
          </a:prstGeom>
          <a:noFill/>
        </p:spPr>
        <p:txBody>
          <a:bodyPr wrap="square" anchor="t" lIns="45720" rIns="45720" tIns="27432" bIns="27432">
            <a:spAutoFit/>
          </a:bodyPr>
          <a:lstStyle/>
          <a:p>
            <a:pPr algn="l">
              <a:spcAft>
                <a:spcPts val="400"/>
              </a:spcAft>
            </a:pPr>
            <a:r>
              <a:rPr sz="1200" b="1">
                <a:solidFill>
                  <a:srgbClr val="A78BFA"/>
                </a:solidFill>
                <a:latin typeface="Montserrat Alternates"/>
              </a:rPr>
              <a:t>CORE IDEA</a:t>
            </a:r>
          </a:p>
        </p:txBody>
      </p:sp>
      <p:sp>
        <p:nvSpPr>
          <p:cNvPr id="5" name="Rectangle 4"/>
          <p:cNvSpPr/>
          <p:nvPr/>
        </p:nvSpPr>
        <p:spPr>
          <a:xfrm>
            <a:off x="731520" y="6263640"/>
            <a:ext cx="10725912" cy="9144"/>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355080"/>
            <a:ext cx="3657600" cy="274320"/>
          </a:xfrm>
          <a:prstGeom prst="rect">
            <a:avLst/>
          </a:prstGeom>
          <a:noFill/>
        </p:spPr>
        <p:txBody>
          <a:bodyPr wrap="square" anchor="t" lIns="45720" rIns="45720" tIns="27432" bIns="27432">
            <a:spAutoFit/>
          </a:bodyPr>
          <a:lstStyle/>
          <a:p>
            <a:pPr algn="l">
              <a:spcAft>
                <a:spcPts val="400"/>
              </a:spcAft>
            </a:pPr>
            <a:r>
              <a:rPr sz="1100" b="0">
                <a:solidFill>
                  <a:srgbClr val="8B93A1"/>
                </a:solidFill>
                <a:latin typeface="Red Hat Display"/>
              </a:rPr>
              <a:t>AuxFlow</a:t>
            </a:r>
          </a:p>
        </p:txBody>
      </p:sp>
      <p:sp>
        <p:nvSpPr>
          <p:cNvPr id="7" name="TextBox 6"/>
          <p:cNvSpPr txBox="1"/>
          <p:nvPr/>
        </p:nvSpPr>
        <p:spPr>
          <a:xfrm>
            <a:off x="10789920" y="6355080"/>
            <a:ext cx="731520" cy="274320"/>
          </a:xfrm>
          <a:prstGeom prst="rect">
            <a:avLst/>
          </a:prstGeom>
          <a:noFill/>
        </p:spPr>
        <p:txBody>
          <a:bodyPr wrap="square" anchor="t" lIns="45720" rIns="45720" tIns="27432" bIns="27432">
            <a:spAutoFit/>
          </a:bodyPr>
          <a:lstStyle/>
          <a:p>
            <a:pPr algn="r">
              <a:spcAft>
                <a:spcPts val="400"/>
              </a:spcAft>
            </a:pPr>
            <a:r>
              <a:rPr sz="1100" b="0">
                <a:solidFill>
                  <a:srgbClr val="8B93A1"/>
                </a:solidFill>
                <a:latin typeface="Red Hat Display"/>
              </a:rPr>
              <a:t>8</a:t>
            </a:r>
          </a:p>
        </p:txBody>
      </p:sp>
      <p:sp>
        <p:nvSpPr>
          <p:cNvPr id="8" name="Rounded Rectangle 7"/>
          <p:cNvSpPr/>
          <p:nvPr/>
        </p:nvSpPr>
        <p:spPr>
          <a:xfrm>
            <a:off x="822960" y="2011680"/>
            <a:ext cx="4206240" cy="3566160"/>
          </a:xfrm>
          <a:prstGeom prst="roundRect">
            <a:avLst>
              <a:gd name="adj" fmla="val 10000"/>
            </a:avLst>
          </a:prstGeom>
          <a:solidFill>
            <a:srgbClr val="090B0E"/>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03120"/>
            <a:ext cx="3840480" cy="320040"/>
          </a:xfrm>
          <a:prstGeom prst="rect">
            <a:avLst/>
          </a:prstGeom>
          <a:noFill/>
        </p:spPr>
        <p:txBody>
          <a:bodyPr wrap="square" anchor="t" lIns="45720" rIns="45720" tIns="27432" bIns="27432">
            <a:spAutoFit/>
          </a:bodyPr>
          <a:lstStyle/>
          <a:p>
            <a:pPr algn="l">
              <a:spcAft>
                <a:spcPts val="400"/>
              </a:spcAft>
            </a:pPr>
            <a:r>
              <a:rPr sz="1200" b="0">
                <a:solidFill>
                  <a:srgbClr val="8B93A1"/>
                </a:solidFill>
                <a:latin typeface="Red Hat Mono"/>
              </a:rPr>
              <a:t>Fact types</a:t>
            </a:r>
          </a:p>
        </p:txBody>
      </p:sp>
      <p:sp>
        <p:nvSpPr>
          <p:cNvPr id="10" name="TextBox 9"/>
          <p:cNvSpPr txBox="1"/>
          <p:nvPr/>
        </p:nvSpPr>
        <p:spPr>
          <a:xfrm>
            <a:off x="1005840" y="2560320"/>
            <a:ext cx="3931920" cy="2926080"/>
          </a:xfrm>
          <a:prstGeom prst="rect">
            <a:avLst/>
          </a:prstGeom>
          <a:noFill/>
        </p:spPr>
        <p:txBody>
          <a:bodyPr wrap="square" anchor="t" lIns="45720" rIns="45720" tIns="27432" bIns="27432">
            <a:spAutoFit/>
          </a:bodyPr>
          <a:lstStyle/>
          <a:p>
            <a:pPr algn="l">
              <a:spcAft>
                <a:spcPts val="400"/>
              </a:spcAft>
            </a:pPr>
            <a:r>
              <a:rPr sz="1600" b="0">
                <a:solidFill>
                  <a:srgbClr val="34D399"/>
                </a:solidFill>
                <a:latin typeface="Red Hat Mono"/>
              </a:rPr>
              <a:t>label: where a value is defined</a:t>
            </a:r>
          </a:p>
          <a:p>
            <a:pPr algn="l">
              <a:spcAft>
                <a:spcPts val="400"/>
              </a:spcAft>
            </a:pPr>
            <a:r>
              <a:rPr sz="1600" b="0">
                <a:solidFill>
                  <a:srgbClr val="34D399"/>
                </a:solidFill>
                <a:latin typeface="Red Hat Mono"/>
              </a:rPr>
              <a:t>ref: where it is read</a:t>
            </a:r>
          </a:p>
          <a:p>
            <a:pPr algn="l">
              <a:spcAft>
                <a:spcPts val="400"/>
              </a:spcAft>
            </a:pPr>
            <a:r>
              <a:rPr sz="1600" b="0">
                <a:solidFill>
                  <a:srgbClr val="34D399"/>
                </a:solidFill>
                <a:latin typeface="Red Hat Mono"/>
              </a:rPr>
              <a:t>toc and list entries</a:t>
            </a:r>
          </a:p>
          <a:p>
            <a:pPr algn="l">
              <a:spcAft>
                <a:spcPts val="400"/>
              </a:spcAft>
            </a:pPr>
            <a:r>
              <a:rPr sz="1600" b="0">
                <a:solidFill>
                  <a:srgbClr val="34D399"/>
                </a:solidFill>
                <a:latin typeface="Red Hat Mono"/>
              </a:rPr>
              <a:t>citations and tools</a:t>
            </a:r>
          </a:p>
          <a:p>
            <a:pPr algn="l">
              <a:spcAft>
                <a:spcPts val="400"/>
              </a:spcAft>
            </a:pPr>
            <a:r>
              <a:rPr sz="1600" b="0">
                <a:solidFill>
                  <a:srgbClr val="34D399"/>
                </a:solidFill>
                <a:latin typeface="Red Hat Mono"/>
              </a:rPr>
              <a:t>opaque: not modeled</a:t>
            </a:r>
          </a:p>
        </p:txBody>
      </p:sp>
      <p:sp>
        <p:nvSpPr>
          <p:cNvPr id="11" name="Rounded Rectangle 10"/>
          <p:cNvSpPr/>
          <p:nvPr/>
        </p:nvSpPr>
        <p:spPr>
          <a:xfrm>
            <a:off x="5852160" y="2194560"/>
            <a:ext cx="2194560" cy="822960"/>
          </a:xfrm>
          <a:prstGeom prst="roundRect">
            <a:avLst>
              <a:gd name="adj" fmla="val 10000"/>
            </a:avLst>
          </a:prstGeom>
          <a:solidFill>
            <a:srgbClr val="171A21"/>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0" y="2194560"/>
            <a:ext cx="2194560" cy="822960"/>
          </a:xfrm>
          <a:prstGeom prst="rect">
            <a:avLst/>
          </a:prstGeom>
          <a:noFill/>
        </p:spPr>
        <p:txBody>
          <a:bodyPr wrap="square" anchor="ctr" lIns="45720" rIns="45720" tIns="27432" bIns="27432">
            <a:spAutoFit/>
          </a:bodyPr>
          <a:lstStyle/>
          <a:p>
            <a:pPr algn="ctr">
              <a:spcAft>
                <a:spcPts val="400"/>
              </a:spcAft>
            </a:pPr>
            <a:r>
              <a:rPr sz="1400" b="1">
                <a:solidFill>
                  <a:srgbClr val="E8EAF0"/>
                </a:solidFill>
                <a:latin typeface="Red Hat Mono"/>
              </a:rPr>
              <a:t>\pageref{end}</a:t>
            </a:r>
          </a:p>
        </p:txBody>
      </p:sp>
      <p:sp>
        <p:nvSpPr>
          <p:cNvPr id="13" name="Rounded Rectangle 12"/>
          <p:cNvSpPr/>
          <p:nvPr/>
        </p:nvSpPr>
        <p:spPr>
          <a:xfrm>
            <a:off x="9144000" y="2194560"/>
            <a:ext cx="2194560" cy="822960"/>
          </a:xfrm>
          <a:prstGeom prst="roundRect">
            <a:avLst>
              <a:gd name="adj" fmla="val 10000"/>
            </a:avLst>
          </a:prstGeom>
          <a:solidFill>
            <a:srgbClr val="171A21"/>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0" y="2194560"/>
            <a:ext cx="2194560" cy="822960"/>
          </a:xfrm>
          <a:prstGeom prst="rect">
            <a:avLst/>
          </a:prstGeom>
          <a:noFill/>
        </p:spPr>
        <p:txBody>
          <a:bodyPr wrap="square" anchor="ctr" lIns="45720" rIns="45720" tIns="27432" bIns="27432">
            <a:spAutoFit/>
          </a:bodyPr>
          <a:lstStyle/>
          <a:p>
            <a:pPr algn="ctr">
              <a:spcAft>
                <a:spcPts val="400"/>
              </a:spcAft>
            </a:pPr>
            <a:r>
              <a:rPr sz="1400" b="1">
                <a:solidFill>
                  <a:srgbClr val="E8EAF0"/>
                </a:solidFill>
                <a:latin typeface="Red Hat Mono"/>
              </a:rPr>
              <a:t>content size</a:t>
            </a:r>
          </a:p>
        </p:txBody>
      </p:sp>
      <p:sp>
        <p:nvSpPr>
          <p:cNvPr id="15" name="Rounded Rectangle 14"/>
          <p:cNvSpPr/>
          <p:nvPr/>
        </p:nvSpPr>
        <p:spPr>
          <a:xfrm>
            <a:off x="7498079" y="4297680"/>
            <a:ext cx="2560320" cy="822960"/>
          </a:xfrm>
          <a:prstGeom prst="roundRect">
            <a:avLst>
              <a:gd name="adj" fmla="val 10000"/>
            </a:avLst>
          </a:prstGeom>
          <a:solidFill>
            <a:srgbClr val="171A21"/>
          </a:solidFill>
          <a:ln w="1587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79" y="4297680"/>
            <a:ext cx="2560320" cy="822960"/>
          </a:xfrm>
          <a:prstGeom prst="rect">
            <a:avLst/>
          </a:prstGeom>
          <a:noFill/>
        </p:spPr>
        <p:txBody>
          <a:bodyPr wrap="square" anchor="ctr" lIns="45720" rIns="45720" tIns="27432" bIns="27432">
            <a:spAutoFit/>
          </a:bodyPr>
          <a:lstStyle/>
          <a:p>
            <a:pPr algn="ctr">
              <a:spcAft>
                <a:spcPts val="400"/>
              </a:spcAft>
            </a:pPr>
            <a:r>
              <a:rPr sz="1400" b="1">
                <a:solidFill>
                  <a:srgbClr val="E8EAF0"/>
                </a:solidFill>
                <a:latin typeface="Red Hat Mono"/>
              </a:rPr>
              <a:t>page of \label{end}</a:t>
            </a:r>
          </a:p>
        </p:txBody>
      </p:sp>
      <p:cxnSp>
        <p:nvCxnSpPr>
          <p:cNvPr id="17" name="Connector 16"/>
          <p:cNvCxnSpPr/>
          <p:nvPr/>
        </p:nvCxnSpPr>
        <p:spPr>
          <a:xfrm>
            <a:off x="8046720" y="2606040"/>
            <a:ext cx="1097280" cy="0"/>
          </a:xfrm>
          <a:prstGeom prst="line">
            <a:avLst/>
          </a:prstGeom>
          <a:ln w="25400">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9692640" y="3017520"/>
            <a:ext cx="640080" cy="1280160"/>
          </a:xfrm>
          <a:prstGeom prst="line">
            <a:avLst/>
          </a:prstGeom>
          <a:ln w="25400">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6949440" y="3017520"/>
            <a:ext cx="548639" cy="1691640"/>
          </a:xfrm>
          <a:prstGeom prst="line">
            <a:avLst/>
          </a:prstGeom>
          <a:ln w="25400">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955279" y="2240280"/>
            <a:ext cx="1280160" cy="320040"/>
          </a:xfrm>
          <a:prstGeom prst="rect">
            <a:avLst/>
          </a:prstGeom>
          <a:noFill/>
        </p:spPr>
        <p:txBody>
          <a:bodyPr wrap="square" anchor="t" lIns="45720" rIns="45720" tIns="27432" bIns="27432">
            <a:spAutoFit/>
          </a:bodyPr>
          <a:lstStyle/>
          <a:p>
            <a:pPr algn="ctr">
              <a:spcAft>
                <a:spcPts val="400"/>
              </a:spcAft>
            </a:pPr>
            <a:r>
              <a:rPr sz="1200" b="0">
                <a:solidFill>
                  <a:srgbClr val="F87171"/>
                </a:solidFill>
                <a:latin typeface="Red Hat Mono"/>
              </a:rPr>
              <a:t>structural</a:t>
            </a:r>
          </a:p>
        </p:txBody>
      </p:sp>
      <p:sp>
        <p:nvSpPr>
          <p:cNvPr id="21" name="TextBox 20"/>
          <p:cNvSpPr txBox="1"/>
          <p:nvPr/>
        </p:nvSpPr>
        <p:spPr>
          <a:xfrm>
            <a:off x="9966960" y="3520440"/>
            <a:ext cx="1097280" cy="320040"/>
          </a:xfrm>
          <a:prstGeom prst="rect">
            <a:avLst/>
          </a:prstGeom>
          <a:noFill/>
        </p:spPr>
        <p:txBody>
          <a:bodyPr wrap="square" anchor="t" lIns="45720" rIns="45720" tIns="27432" bIns="27432">
            <a:spAutoFit/>
          </a:bodyPr>
          <a:lstStyle/>
          <a:p>
            <a:pPr algn="ctr">
              <a:spcAft>
                <a:spcPts val="400"/>
              </a:spcAft>
            </a:pPr>
            <a:r>
              <a:rPr sz="1200" b="0">
                <a:solidFill>
                  <a:srgbClr val="F87171"/>
                </a:solidFill>
                <a:latin typeface="Red Hat Mono"/>
              </a:rPr>
              <a:t>layout</a:t>
            </a:r>
          </a:p>
        </p:txBody>
      </p:sp>
      <p:sp>
        <p:nvSpPr>
          <p:cNvPr id="22" name="TextBox 21"/>
          <p:cNvSpPr txBox="1"/>
          <p:nvPr/>
        </p:nvSpPr>
        <p:spPr>
          <a:xfrm>
            <a:off x="5852160" y="3749039"/>
            <a:ext cx="1188720" cy="320040"/>
          </a:xfrm>
          <a:prstGeom prst="rect">
            <a:avLst/>
          </a:prstGeom>
          <a:noFill/>
        </p:spPr>
        <p:txBody>
          <a:bodyPr wrap="square" anchor="t" lIns="45720" rIns="45720" tIns="27432" bIns="27432">
            <a:spAutoFit/>
          </a:bodyPr>
          <a:lstStyle/>
          <a:p>
            <a:pPr algn="ctr">
              <a:spcAft>
                <a:spcPts val="400"/>
              </a:spcAft>
            </a:pPr>
            <a:r>
              <a:rPr sz="1200" b="0">
                <a:solidFill>
                  <a:srgbClr val="F87171"/>
                </a:solidFill>
                <a:latin typeface="Red Hat Mono"/>
              </a:rPr>
              <a:t>pass lag</a:t>
            </a:r>
          </a:p>
        </p:txBody>
      </p:sp>
      <p:sp>
        <p:nvSpPr>
          <p:cNvPr id="23" name="TextBox 22"/>
          <p:cNvSpPr txBox="1"/>
          <p:nvPr/>
        </p:nvSpPr>
        <p:spPr>
          <a:xfrm>
            <a:off x="5486400" y="5120640"/>
            <a:ext cx="5943600" cy="548640"/>
          </a:xfrm>
          <a:prstGeom prst="rect">
            <a:avLst/>
          </a:prstGeom>
          <a:noFill/>
        </p:spPr>
        <p:txBody>
          <a:bodyPr wrap="square" anchor="t" lIns="45720" rIns="45720" tIns="27432" bIns="27432">
            <a:spAutoFit/>
          </a:bodyPr>
          <a:lstStyle/>
          <a:p>
            <a:pPr algn="ctr">
              <a:spcAft>
                <a:spcPts val="400"/>
              </a:spcAft>
            </a:pPr>
            <a:r>
              <a:rPr sz="1700" b="0">
                <a:solidFill>
                  <a:srgbClr val="E8EAF0"/>
                </a:solidFill>
                <a:latin typeface="Red Hat Display"/>
              </a:rPr>
              <a:t>A cycle that changes how much content exists is AMPLIFYING.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itle 1"/>
          <p:cNvSpPr>
            <a:spLocks noGrp="1"/>
          </p:cNvSpPr>
          <p:nvPr>
            <p:ph type="title"/>
          </p:nvPr>
        </p:nvSpPr>
        <p:spPr>
          <a:xfrm>
            <a:off x="685800" y="960120"/>
            <a:ext cx="10789920" cy="731520"/>
          </a:xfrm>
        </p:spPr>
        <p:txBody>
          <a:bodyPr wrap="square" anchor="t" lIns="45720" rIns="45720" tIns="27432" bIns="27432"/>
          <a:lstStyle/>
          <a:p>
            <a:pPr algn="l"/>
            <a:r>
              <a:rPr sz="3200" b="1">
                <a:solidFill>
                  <a:srgbClr val="E8EAF0"/>
                </a:solidFill>
                <a:latin typeface="Montserrat Alternates"/>
              </a:rPr>
              <a:t>Classification is a short decision path</a:t>
            </a:r>
          </a:p>
        </p:txBody>
      </p:sp>
      <p:sp>
        <p:nvSpPr>
          <p:cNvPr id="3" name="Rectangle 2"/>
          <p:cNvSpPr/>
          <p:nvPr/>
        </p:nvSpPr>
        <p:spPr>
          <a:xfrm>
            <a:off x="731520" y="566928"/>
            <a:ext cx="320040" cy="457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8229600" cy="320040"/>
          </a:xfrm>
          <a:prstGeom prst="rect">
            <a:avLst/>
          </a:prstGeom>
          <a:noFill/>
        </p:spPr>
        <p:txBody>
          <a:bodyPr wrap="square" anchor="t" lIns="45720" rIns="45720" tIns="27432" bIns="27432">
            <a:spAutoFit/>
          </a:bodyPr>
          <a:lstStyle/>
          <a:p>
            <a:pPr algn="l">
              <a:spcAft>
                <a:spcPts val="400"/>
              </a:spcAft>
            </a:pPr>
            <a:r>
              <a:rPr sz="1200" b="1">
                <a:solidFill>
                  <a:srgbClr val="A78BFA"/>
                </a:solidFill>
                <a:latin typeface="Montserrat Alternates"/>
              </a:rPr>
              <a:t>ANALYSIS</a:t>
            </a:r>
          </a:p>
        </p:txBody>
      </p:sp>
      <p:sp>
        <p:nvSpPr>
          <p:cNvPr id="5" name="Rectangle 4"/>
          <p:cNvSpPr/>
          <p:nvPr/>
        </p:nvSpPr>
        <p:spPr>
          <a:xfrm>
            <a:off x="731520" y="6263640"/>
            <a:ext cx="10725912" cy="9144"/>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355080"/>
            <a:ext cx="3657600" cy="274320"/>
          </a:xfrm>
          <a:prstGeom prst="rect">
            <a:avLst/>
          </a:prstGeom>
          <a:noFill/>
        </p:spPr>
        <p:txBody>
          <a:bodyPr wrap="square" anchor="t" lIns="45720" rIns="45720" tIns="27432" bIns="27432">
            <a:spAutoFit/>
          </a:bodyPr>
          <a:lstStyle/>
          <a:p>
            <a:pPr algn="l">
              <a:spcAft>
                <a:spcPts val="400"/>
              </a:spcAft>
            </a:pPr>
            <a:r>
              <a:rPr sz="1100" b="0">
                <a:solidFill>
                  <a:srgbClr val="8B93A1"/>
                </a:solidFill>
                <a:latin typeface="Red Hat Display"/>
              </a:rPr>
              <a:t>AuxFlow</a:t>
            </a:r>
          </a:p>
        </p:txBody>
      </p:sp>
      <p:sp>
        <p:nvSpPr>
          <p:cNvPr id="7" name="TextBox 6"/>
          <p:cNvSpPr txBox="1"/>
          <p:nvPr/>
        </p:nvSpPr>
        <p:spPr>
          <a:xfrm>
            <a:off x="10789920" y="6355080"/>
            <a:ext cx="731520" cy="274320"/>
          </a:xfrm>
          <a:prstGeom prst="rect">
            <a:avLst/>
          </a:prstGeom>
          <a:noFill/>
        </p:spPr>
        <p:txBody>
          <a:bodyPr wrap="square" anchor="t" lIns="45720" rIns="45720" tIns="27432" bIns="27432">
            <a:spAutoFit/>
          </a:bodyPr>
          <a:lstStyle/>
          <a:p>
            <a:pPr algn="r">
              <a:spcAft>
                <a:spcPts val="400"/>
              </a:spcAft>
            </a:pPr>
            <a:r>
              <a:rPr sz="1100" b="0">
                <a:solidFill>
                  <a:srgbClr val="8B93A1"/>
                </a:solidFill>
                <a:latin typeface="Red Hat Display"/>
              </a:rPr>
              <a:t>9</a:t>
            </a:r>
          </a:p>
        </p:txBody>
      </p:sp>
      <p:sp>
        <p:nvSpPr>
          <p:cNvPr id="8" name="Rounded Rectangle 7"/>
          <p:cNvSpPr/>
          <p:nvPr/>
        </p:nvSpPr>
        <p:spPr>
          <a:xfrm>
            <a:off x="822960" y="2011680"/>
            <a:ext cx="2468880" cy="1005840"/>
          </a:xfrm>
          <a:prstGeom prst="roundRect">
            <a:avLst>
              <a:gd name="adj" fmla="val 10000"/>
            </a:avLst>
          </a:prstGeom>
          <a:solidFill>
            <a:srgbClr val="171A21"/>
          </a:solidFill>
          <a:ln w="1587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2468880" cy="1005840"/>
          </a:xfrm>
          <a:prstGeom prst="rect">
            <a:avLst/>
          </a:prstGeom>
          <a:noFill/>
        </p:spPr>
        <p:txBody>
          <a:bodyPr wrap="square" anchor="ctr" lIns="45720" rIns="45720" tIns="27432" bIns="27432">
            <a:spAutoFit/>
          </a:bodyPr>
          <a:lstStyle/>
          <a:p>
            <a:pPr algn="ctr">
              <a:spcAft>
                <a:spcPts val="400"/>
              </a:spcAft>
            </a:pPr>
            <a:r>
              <a:rPr sz="1500" b="1">
                <a:solidFill>
                  <a:srgbClr val="E8EAF0"/>
                </a:solidFill>
                <a:latin typeface="Red Hat Display"/>
              </a:rPr>
              <a:t>Cycle with a structural edge?</a:t>
            </a:r>
          </a:p>
        </p:txBody>
      </p:sp>
      <p:cxnSp>
        <p:nvCxnSpPr>
          <p:cNvPr id="10" name="Connector 9"/>
          <p:cNvCxnSpPr/>
          <p:nvPr/>
        </p:nvCxnSpPr>
        <p:spPr>
          <a:xfrm>
            <a:off x="2057400" y="3017520"/>
            <a:ext cx="0" cy="914400"/>
          </a:xfrm>
          <a:prstGeom prst="line">
            <a:avLst/>
          </a:prstGeom>
          <a:ln w="25400">
            <a:solidFill>
              <a:srgbClr val="F871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148840" y="3291840"/>
            <a:ext cx="731520" cy="320040"/>
          </a:xfrm>
          <a:prstGeom prst="rect">
            <a:avLst/>
          </a:prstGeom>
          <a:noFill/>
        </p:spPr>
        <p:txBody>
          <a:bodyPr wrap="square" anchor="t" lIns="45720" rIns="45720" tIns="27432" bIns="27432">
            <a:spAutoFit/>
          </a:bodyPr>
          <a:lstStyle/>
          <a:p>
            <a:pPr algn="ctr">
              <a:spcAft>
                <a:spcPts val="400"/>
              </a:spcAft>
            </a:pPr>
            <a:r>
              <a:rPr sz="1200" b="0">
                <a:solidFill>
                  <a:srgbClr val="F87171"/>
                </a:solidFill>
                <a:latin typeface="Red Hat Mono"/>
              </a:rPr>
              <a:t>yes</a:t>
            </a:r>
          </a:p>
        </p:txBody>
      </p:sp>
      <p:sp>
        <p:nvSpPr>
          <p:cNvPr id="12" name="Rounded Rectangle 11"/>
          <p:cNvSpPr/>
          <p:nvPr/>
        </p:nvSpPr>
        <p:spPr>
          <a:xfrm>
            <a:off x="822960" y="3931920"/>
            <a:ext cx="2468880" cy="1371600"/>
          </a:xfrm>
          <a:prstGeom prst="roundRect">
            <a:avLst>
              <a:gd name="adj" fmla="val 10000"/>
            </a:avLst>
          </a:prstGeom>
          <a:solidFill>
            <a:srgbClr val="171A21"/>
          </a:solidFill>
          <a:ln w="22225">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069080"/>
            <a:ext cx="2468880" cy="457200"/>
          </a:xfrm>
          <a:prstGeom prst="rect">
            <a:avLst/>
          </a:prstGeom>
          <a:noFill/>
        </p:spPr>
        <p:txBody>
          <a:bodyPr wrap="square" anchor="t" lIns="45720" rIns="45720" tIns="27432" bIns="27432">
            <a:spAutoFit/>
          </a:bodyPr>
          <a:lstStyle/>
          <a:p>
            <a:pPr algn="ctr">
              <a:spcAft>
                <a:spcPts val="400"/>
              </a:spcAft>
            </a:pPr>
            <a:r>
              <a:rPr sz="1500" b="1">
                <a:solidFill>
                  <a:srgbClr val="F87171"/>
                </a:solidFill>
                <a:latin typeface="Red Hat Mono"/>
              </a:rPr>
              <a:t>AMPLIFYING</a:t>
            </a:r>
          </a:p>
        </p:txBody>
      </p:sp>
      <p:sp>
        <p:nvSpPr>
          <p:cNvPr id="14" name="TextBox 13"/>
          <p:cNvSpPr txBox="1"/>
          <p:nvPr/>
        </p:nvSpPr>
        <p:spPr>
          <a:xfrm>
            <a:off x="960120" y="4572000"/>
            <a:ext cx="2194560" cy="731520"/>
          </a:xfrm>
          <a:prstGeom prst="rect">
            <a:avLst/>
          </a:prstGeom>
          <a:noFill/>
        </p:spPr>
        <p:txBody>
          <a:bodyPr wrap="square" anchor="t" lIns="45720" rIns="45720" tIns="27432" bIns="27432">
            <a:spAutoFit/>
          </a:bodyPr>
          <a:lstStyle/>
          <a:p>
            <a:pPr algn="ctr">
              <a:spcAft>
                <a:spcPts val="400"/>
              </a:spcAft>
            </a:pPr>
            <a:r>
              <a:rPr sz="1300" b="0">
                <a:solidFill>
                  <a:srgbClr val="8B93A1"/>
                </a:solidFill>
                <a:latin typeface="Red Hat Display"/>
              </a:rPr>
              <a:t>Plan refused unless --force</a:t>
            </a:r>
          </a:p>
        </p:txBody>
      </p:sp>
      <p:cxnSp>
        <p:nvCxnSpPr>
          <p:cNvPr id="15" name="Connector 14"/>
          <p:cNvCxnSpPr/>
          <p:nvPr/>
        </p:nvCxnSpPr>
        <p:spPr>
          <a:xfrm>
            <a:off x="3291840" y="2514600"/>
            <a:ext cx="548640" cy="0"/>
          </a:xfrm>
          <a:prstGeom prst="line">
            <a:avLst/>
          </a:prstGeom>
          <a:ln w="25400">
            <a:solidFill>
              <a:srgbClr val="8B93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246120" y="2103120"/>
            <a:ext cx="731520" cy="320040"/>
          </a:xfrm>
          <a:prstGeom prst="rect">
            <a:avLst/>
          </a:prstGeom>
          <a:noFill/>
        </p:spPr>
        <p:txBody>
          <a:bodyPr wrap="square" anchor="t" lIns="45720" rIns="45720" tIns="27432" bIns="27432">
            <a:spAutoFit/>
          </a:bodyPr>
          <a:lstStyle/>
          <a:p>
            <a:pPr algn="ctr">
              <a:spcAft>
                <a:spcPts val="400"/>
              </a:spcAft>
            </a:pPr>
            <a:r>
              <a:rPr sz="1200" b="0">
                <a:solidFill>
                  <a:srgbClr val="8B93A1"/>
                </a:solidFill>
                <a:latin typeface="Red Hat Mono"/>
              </a:rPr>
              <a:t>no</a:t>
            </a:r>
          </a:p>
        </p:txBody>
      </p:sp>
      <p:sp>
        <p:nvSpPr>
          <p:cNvPr id="17" name="Rounded Rectangle 16"/>
          <p:cNvSpPr/>
          <p:nvPr/>
        </p:nvSpPr>
        <p:spPr>
          <a:xfrm>
            <a:off x="3840480" y="2011680"/>
            <a:ext cx="2468880" cy="1005840"/>
          </a:xfrm>
          <a:prstGeom prst="roundRect">
            <a:avLst>
              <a:gd name="adj" fmla="val 10000"/>
            </a:avLst>
          </a:prstGeom>
          <a:solidFill>
            <a:srgbClr val="171A21"/>
          </a:solidFill>
          <a:ln w="1587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0" y="2011680"/>
            <a:ext cx="2468880" cy="1005840"/>
          </a:xfrm>
          <a:prstGeom prst="rect">
            <a:avLst/>
          </a:prstGeom>
          <a:noFill/>
        </p:spPr>
        <p:txBody>
          <a:bodyPr wrap="square" anchor="ctr" lIns="45720" rIns="45720" tIns="27432" bIns="27432">
            <a:spAutoFit/>
          </a:bodyPr>
          <a:lstStyle/>
          <a:p>
            <a:pPr algn="ctr">
              <a:spcAft>
                <a:spcPts val="400"/>
              </a:spcAft>
            </a:pPr>
            <a:r>
              <a:rPr sz="1500" b="1">
                <a:solidFill>
                  <a:srgbClr val="E8EAF0"/>
                </a:solidFill>
                <a:latin typeface="Red Hat Display"/>
              </a:rPr>
              <a:t>Any opaque fact?</a:t>
            </a:r>
          </a:p>
        </p:txBody>
      </p:sp>
      <p:cxnSp>
        <p:nvCxnSpPr>
          <p:cNvPr id="19" name="Connector 18"/>
          <p:cNvCxnSpPr/>
          <p:nvPr/>
        </p:nvCxnSpPr>
        <p:spPr>
          <a:xfrm>
            <a:off x="5074920" y="3017520"/>
            <a:ext cx="0" cy="914400"/>
          </a:xfrm>
          <a:prstGeom prst="line">
            <a:avLst/>
          </a:prstGeom>
          <a:ln w="25400">
            <a:solidFill>
              <a:srgbClr val="FBBF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166360" y="3291840"/>
            <a:ext cx="731520" cy="320040"/>
          </a:xfrm>
          <a:prstGeom prst="rect">
            <a:avLst/>
          </a:prstGeom>
          <a:noFill/>
        </p:spPr>
        <p:txBody>
          <a:bodyPr wrap="square" anchor="t" lIns="45720" rIns="45720" tIns="27432" bIns="27432">
            <a:spAutoFit/>
          </a:bodyPr>
          <a:lstStyle/>
          <a:p>
            <a:pPr algn="ctr">
              <a:spcAft>
                <a:spcPts val="400"/>
              </a:spcAft>
            </a:pPr>
            <a:r>
              <a:rPr sz="1200" b="0">
                <a:solidFill>
                  <a:srgbClr val="FBBF24"/>
                </a:solidFill>
                <a:latin typeface="Red Hat Mono"/>
              </a:rPr>
              <a:t>yes</a:t>
            </a:r>
          </a:p>
        </p:txBody>
      </p:sp>
      <p:sp>
        <p:nvSpPr>
          <p:cNvPr id="21" name="Rounded Rectangle 20"/>
          <p:cNvSpPr/>
          <p:nvPr/>
        </p:nvSpPr>
        <p:spPr>
          <a:xfrm>
            <a:off x="3840480" y="3931920"/>
            <a:ext cx="2468880" cy="1371600"/>
          </a:xfrm>
          <a:prstGeom prst="roundRect">
            <a:avLst>
              <a:gd name="adj" fmla="val 10000"/>
            </a:avLst>
          </a:prstGeom>
          <a:solidFill>
            <a:srgbClr val="171A21"/>
          </a:solidFill>
          <a:ln w="22225">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0" y="4069080"/>
            <a:ext cx="2468880" cy="457200"/>
          </a:xfrm>
          <a:prstGeom prst="rect">
            <a:avLst/>
          </a:prstGeom>
          <a:noFill/>
        </p:spPr>
        <p:txBody>
          <a:bodyPr wrap="square" anchor="t" lIns="45720" rIns="45720" tIns="27432" bIns="27432">
            <a:spAutoFit/>
          </a:bodyPr>
          <a:lstStyle/>
          <a:p>
            <a:pPr algn="ctr">
              <a:spcAft>
                <a:spcPts val="400"/>
              </a:spcAft>
            </a:pPr>
            <a:r>
              <a:rPr sz="1500" b="1">
                <a:solidFill>
                  <a:srgbClr val="FBBF24"/>
                </a:solidFill>
                <a:latin typeface="Red Hat Mono"/>
              </a:rPr>
              <a:t>UNKNOWN</a:t>
            </a:r>
          </a:p>
        </p:txBody>
      </p:sp>
      <p:sp>
        <p:nvSpPr>
          <p:cNvPr id="23" name="TextBox 22"/>
          <p:cNvSpPr txBox="1"/>
          <p:nvPr/>
        </p:nvSpPr>
        <p:spPr>
          <a:xfrm>
            <a:off x="3977640" y="4572000"/>
            <a:ext cx="2194560" cy="731520"/>
          </a:xfrm>
          <a:prstGeom prst="rect">
            <a:avLst/>
          </a:prstGeom>
          <a:noFill/>
        </p:spPr>
        <p:txBody>
          <a:bodyPr wrap="square" anchor="t" lIns="45720" rIns="45720" tIns="27432" bIns="27432">
            <a:spAutoFit/>
          </a:bodyPr>
          <a:lstStyle/>
          <a:p>
            <a:pPr algn="ctr">
              <a:spcAft>
                <a:spcPts val="400"/>
              </a:spcAft>
            </a:pPr>
            <a:r>
              <a:rPr sz="1300" b="0">
                <a:solidFill>
                  <a:srgbClr val="8B93A1"/>
                </a:solidFill>
                <a:latin typeface="Red Hat Display"/>
              </a:rPr>
              <a:t>Names the unsupported constructs</a:t>
            </a:r>
          </a:p>
        </p:txBody>
      </p:sp>
      <p:cxnSp>
        <p:nvCxnSpPr>
          <p:cNvPr id="24" name="Connector 23"/>
          <p:cNvCxnSpPr/>
          <p:nvPr/>
        </p:nvCxnSpPr>
        <p:spPr>
          <a:xfrm>
            <a:off x="6309360" y="2514600"/>
            <a:ext cx="548640" cy="0"/>
          </a:xfrm>
          <a:prstGeom prst="line">
            <a:avLst/>
          </a:prstGeom>
          <a:ln w="25400">
            <a:solidFill>
              <a:srgbClr val="8B93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63640" y="2103120"/>
            <a:ext cx="731520" cy="320040"/>
          </a:xfrm>
          <a:prstGeom prst="rect">
            <a:avLst/>
          </a:prstGeom>
          <a:noFill/>
        </p:spPr>
        <p:txBody>
          <a:bodyPr wrap="square" anchor="t" lIns="45720" rIns="45720" tIns="27432" bIns="27432">
            <a:spAutoFit/>
          </a:bodyPr>
          <a:lstStyle/>
          <a:p>
            <a:pPr algn="ctr">
              <a:spcAft>
                <a:spcPts val="400"/>
              </a:spcAft>
            </a:pPr>
            <a:r>
              <a:rPr sz="1200" b="0">
                <a:solidFill>
                  <a:srgbClr val="8B93A1"/>
                </a:solidFill>
                <a:latin typeface="Red Hat Mono"/>
              </a:rPr>
              <a:t>no</a:t>
            </a:r>
          </a:p>
        </p:txBody>
      </p:sp>
      <p:sp>
        <p:nvSpPr>
          <p:cNvPr id="26" name="Rounded Rectangle 25"/>
          <p:cNvSpPr/>
          <p:nvPr/>
        </p:nvSpPr>
        <p:spPr>
          <a:xfrm>
            <a:off x="6858000" y="2011680"/>
            <a:ext cx="2468880" cy="1005840"/>
          </a:xfrm>
          <a:prstGeom prst="roundRect">
            <a:avLst>
              <a:gd name="adj" fmla="val 10000"/>
            </a:avLst>
          </a:prstGeom>
          <a:solidFill>
            <a:srgbClr val="171A21"/>
          </a:solidFill>
          <a:ln w="15875">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2011680"/>
            <a:ext cx="2468880" cy="1005840"/>
          </a:xfrm>
          <a:prstGeom prst="rect">
            <a:avLst/>
          </a:prstGeom>
          <a:noFill/>
        </p:spPr>
        <p:txBody>
          <a:bodyPr wrap="square" anchor="ctr" lIns="45720" rIns="45720" tIns="27432" bIns="27432">
            <a:spAutoFit/>
          </a:bodyPr>
          <a:lstStyle/>
          <a:p>
            <a:pPr algn="ctr">
              <a:spcAft>
                <a:spcPts val="400"/>
              </a:spcAft>
            </a:pPr>
            <a:r>
              <a:rPr sz="1500" b="1">
                <a:solidFill>
                  <a:srgbClr val="E8EAF0"/>
                </a:solidFill>
                <a:latin typeface="Red Hat Display"/>
              </a:rPr>
              <a:t>Any cycle?</a:t>
            </a:r>
          </a:p>
        </p:txBody>
      </p:sp>
      <p:cxnSp>
        <p:nvCxnSpPr>
          <p:cNvPr id="28" name="Connector 27"/>
          <p:cNvCxnSpPr/>
          <p:nvPr/>
        </p:nvCxnSpPr>
        <p:spPr>
          <a:xfrm>
            <a:off x="8092440" y="3017520"/>
            <a:ext cx="0" cy="914400"/>
          </a:xfrm>
          <a:prstGeom prst="line">
            <a:avLst/>
          </a:prstGeom>
          <a:ln w="25400">
            <a:solidFill>
              <a:srgbClr val="CBD2D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183879" y="3291840"/>
            <a:ext cx="731520" cy="320040"/>
          </a:xfrm>
          <a:prstGeom prst="rect">
            <a:avLst/>
          </a:prstGeom>
          <a:noFill/>
        </p:spPr>
        <p:txBody>
          <a:bodyPr wrap="square" anchor="t" lIns="45720" rIns="45720" tIns="27432" bIns="27432">
            <a:spAutoFit/>
          </a:bodyPr>
          <a:lstStyle/>
          <a:p>
            <a:pPr algn="ctr">
              <a:spcAft>
                <a:spcPts val="400"/>
              </a:spcAft>
            </a:pPr>
            <a:r>
              <a:rPr sz="1200" b="0">
                <a:solidFill>
                  <a:srgbClr val="CBD2DC"/>
                </a:solidFill>
                <a:latin typeface="Red Hat Mono"/>
              </a:rPr>
              <a:t>yes</a:t>
            </a:r>
          </a:p>
        </p:txBody>
      </p:sp>
      <p:sp>
        <p:nvSpPr>
          <p:cNvPr id="30" name="Rounded Rectangle 29"/>
          <p:cNvSpPr/>
          <p:nvPr/>
        </p:nvSpPr>
        <p:spPr>
          <a:xfrm>
            <a:off x="6858000" y="3931920"/>
            <a:ext cx="2468880" cy="1371600"/>
          </a:xfrm>
          <a:prstGeom prst="roundRect">
            <a:avLst>
              <a:gd name="adj" fmla="val 10000"/>
            </a:avLst>
          </a:prstGeom>
          <a:solidFill>
            <a:srgbClr val="171A21"/>
          </a:solidFill>
          <a:ln w="22225">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0" y="4069080"/>
            <a:ext cx="2468880" cy="457200"/>
          </a:xfrm>
          <a:prstGeom prst="rect">
            <a:avLst/>
          </a:prstGeom>
          <a:noFill/>
        </p:spPr>
        <p:txBody>
          <a:bodyPr wrap="square" anchor="t" lIns="45720" rIns="45720" tIns="27432" bIns="27432">
            <a:spAutoFit/>
          </a:bodyPr>
          <a:lstStyle/>
          <a:p>
            <a:pPr algn="ctr">
              <a:spcAft>
                <a:spcPts val="400"/>
              </a:spcAft>
            </a:pPr>
            <a:r>
              <a:rPr sz="1500" b="1">
                <a:solidFill>
                  <a:srgbClr val="CBD2DC"/>
                </a:solidFill>
                <a:latin typeface="Red Hat Mono"/>
              </a:rPr>
              <a:t>BENIGN_CYCLIC</a:t>
            </a:r>
          </a:p>
        </p:txBody>
      </p:sp>
      <p:sp>
        <p:nvSpPr>
          <p:cNvPr id="32" name="TextBox 31"/>
          <p:cNvSpPr txBox="1"/>
          <p:nvPr/>
        </p:nvSpPr>
        <p:spPr>
          <a:xfrm>
            <a:off x="6995160" y="4572000"/>
            <a:ext cx="2194560" cy="731520"/>
          </a:xfrm>
          <a:prstGeom prst="rect">
            <a:avLst/>
          </a:prstGeom>
          <a:noFill/>
        </p:spPr>
        <p:txBody>
          <a:bodyPr wrap="square" anchor="t" lIns="45720" rIns="45720" tIns="27432" bIns="27432">
            <a:spAutoFit/>
          </a:bodyPr>
          <a:lstStyle/>
          <a:p>
            <a:pPr algn="ctr">
              <a:spcAft>
                <a:spcPts val="400"/>
              </a:spcAft>
            </a:pPr>
            <a:r>
              <a:rPr sz="1300" b="0">
                <a:solidFill>
                  <a:srgbClr val="8B93A1"/>
                </a:solidFill>
                <a:latin typeface="Red Hat Display"/>
              </a:rPr>
              <a:t>At least 3 runs</a:t>
            </a:r>
          </a:p>
        </p:txBody>
      </p:sp>
      <p:cxnSp>
        <p:nvCxnSpPr>
          <p:cNvPr id="33" name="Connector 32"/>
          <p:cNvCxnSpPr/>
          <p:nvPr/>
        </p:nvCxnSpPr>
        <p:spPr>
          <a:xfrm>
            <a:off x="8686800" y="2514600"/>
            <a:ext cx="640080" cy="0"/>
          </a:xfrm>
          <a:prstGeom prst="line">
            <a:avLst/>
          </a:prstGeom>
          <a:ln w="25400">
            <a:solidFill>
              <a:srgbClr val="8B93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641080" y="2103120"/>
            <a:ext cx="731520" cy="320040"/>
          </a:xfrm>
          <a:prstGeom prst="rect">
            <a:avLst/>
          </a:prstGeom>
          <a:noFill/>
        </p:spPr>
        <p:txBody>
          <a:bodyPr wrap="square" anchor="t" lIns="45720" rIns="45720" tIns="27432" bIns="27432">
            <a:spAutoFit/>
          </a:bodyPr>
          <a:lstStyle/>
          <a:p>
            <a:pPr algn="ctr">
              <a:spcAft>
                <a:spcPts val="400"/>
              </a:spcAft>
            </a:pPr>
            <a:r>
              <a:rPr sz="1200" b="0">
                <a:solidFill>
                  <a:srgbClr val="8B93A1"/>
                </a:solidFill>
                <a:latin typeface="Red Hat Mono"/>
              </a:rPr>
              <a:t>no</a:t>
            </a:r>
          </a:p>
        </p:txBody>
      </p:sp>
      <p:sp>
        <p:nvSpPr>
          <p:cNvPr id="35" name="Rounded Rectangle 34"/>
          <p:cNvSpPr/>
          <p:nvPr/>
        </p:nvSpPr>
        <p:spPr>
          <a:xfrm>
            <a:off x="9326880" y="2011680"/>
            <a:ext cx="2103120" cy="1005840"/>
          </a:xfrm>
          <a:prstGeom prst="roundRect">
            <a:avLst>
              <a:gd name="adj" fmla="val 10000"/>
            </a:avLst>
          </a:prstGeom>
          <a:solidFill>
            <a:srgbClr val="171A21"/>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6880" y="2011680"/>
            <a:ext cx="2103120" cy="1005840"/>
          </a:xfrm>
          <a:prstGeom prst="rect">
            <a:avLst/>
          </a:prstGeom>
          <a:noFill/>
        </p:spPr>
        <p:txBody>
          <a:bodyPr wrap="square" anchor="ctr" lIns="45720" rIns="45720" tIns="27432" bIns="27432">
            <a:spAutoFit/>
          </a:bodyPr>
          <a:lstStyle/>
          <a:p>
            <a:pPr algn="ctr">
              <a:spcAft>
                <a:spcPts val="400"/>
              </a:spcAft>
            </a:pPr>
            <a:r>
              <a:rPr sz="1700" b="1">
                <a:solidFill>
                  <a:srgbClr val="34D399"/>
                </a:solidFill>
                <a:latin typeface="Red Hat Mono"/>
              </a:rPr>
              <a:t>CERTIFIED</a:t>
            </a:r>
          </a:p>
        </p:txBody>
      </p:sp>
      <p:sp>
        <p:nvSpPr>
          <p:cNvPr id="37" name="TextBox 36"/>
          <p:cNvSpPr txBox="1"/>
          <p:nvPr/>
        </p:nvSpPr>
        <p:spPr>
          <a:xfrm>
            <a:off x="9326880" y="3108960"/>
            <a:ext cx="2103120" cy="822960"/>
          </a:xfrm>
          <a:prstGeom prst="rect">
            <a:avLst/>
          </a:prstGeom>
          <a:noFill/>
        </p:spPr>
        <p:txBody>
          <a:bodyPr wrap="square" anchor="t" lIns="45720" rIns="45720" tIns="27432" bIns="27432">
            <a:spAutoFit/>
          </a:bodyPr>
          <a:lstStyle/>
          <a:p>
            <a:pPr algn="ctr">
              <a:spcAft>
                <a:spcPts val="400"/>
              </a:spcAft>
            </a:pPr>
            <a:r>
              <a:rPr sz="1300" b="0">
                <a:solidFill>
                  <a:srgbClr val="8B93A1"/>
                </a:solidFill>
                <a:latin typeface="Red Hat Display"/>
              </a:rPr>
              <a:t>Conservative pass bound</a:t>
            </a:r>
          </a:p>
        </p:txBody>
      </p:sp>
      <p:sp>
        <p:nvSpPr>
          <p:cNvPr id="38" name="TextBox 37"/>
          <p:cNvSpPr txBox="1"/>
          <p:nvPr/>
        </p:nvSpPr>
        <p:spPr>
          <a:xfrm>
            <a:off x="822960" y="5577840"/>
            <a:ext cx="10607040" cy="457200"/>
          </a:xfrm>
          <a:prstGeom prst="rect">
            <a:avLst/>
          </a:prstGeom>
          <a:noFill/>
        </p:spPr>
        <p:txBody>
          <a:bodyPr wrap="square" anchor="t" lIns="45720" rIns="45720" tIns="27432" bIns="27432">
            <a:spAutoFit/>
          </a:bodyPr>
          <a:lstStyle/>
          <a:p>
            <a:pPr algn="l">
              <a:spcAft>
                <a:spcPts val="400"/>
              </a:spcAft>
            </a:pPr>
            <a:r>
              <a:rPr sz="1600" b="0">
                <a:solidFill>
                  <a:srgbClr val="E8EAF0"/>
                </a:solidFill>
                <a:latin typeface="Red Hat Display"/>
              </a:rPr>
              <a:t>An amplifying cycle takes precedence over opaque facts, so the most actionable signal wins.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itle 1"/>
          <p:cNvSpPr>
            <a:spLocks noGrp="1"/>
          </p:cNvSpPr>
          <p:nvPr>
            <p:ph type="title"/>
          </p:nvPr>
        </p:nvSpPr>
        <p:spPr>
          <a:xfrm>
            <a:off x="685800" y="960120"/>
            <a:ext cx="10789920" cy="731520"/>
          </a:xfrm>
        </p:spPr>
        <p:txBody>
          <a:bodyPr wrap="square" anchor="t" lIns="45720" rIns="45720" tIns="27432" bIns="27432"/>
          <a:lstStyle/>
          <a:p>
            <a:pPr algn="l"/>
            <a:r>
              <a:rPr sz="3200" b="1">
                <a:solidFill>
                  <a:srgbClr val="E8EAF0"/>
                </a:solidFill>
                <a:latin typeface="Montserrat Alternates"/>
              </a:rPr>
              <a:t>Predicted bound versus measured runs</a:t>
            </a:r>
          </a:p>
        </p:txBody>
      </p:sp>
      <p:sp>
        <p:nvSpPr>
          <p:cNvPr id="3" name="Rectangle 2"/>
          <p:cNvSpPr/>
          <p:nvPr/>
        </p:nvSpPr>
        <p:spPr>
          <a:xfrm>
            <a:off x="731520" y="566928"/>
            <a:ext cx="320040" cy="457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8229600" cy="320040"/>
          </a:xfrm>
          <a:prstGeom prst="rect">
            <a:avLst/>
          </a:prstGeom>
          <a:noFill/>
        </p:spPr>
        <p:txBody>
          <a:bodyPr wrap="square" anchor="t" lIns="45720" rIns="45720" tIns="27432" bIns="27432">
            <a:spAutoFit/>
          </a:bodyPr>
          <a:lstStyle/>
          <a:p>
            <a:pPr algn="l">
              <a:spcAft>
                <a:spcPts val="400"/>
              </a:spcAft>
            </a:pPr>
            <a:r>
              <a:rPr sz="1200" b="1">
                <a:solidFill>
                  <a:srgbClr val="A78BFA"/>
                </a:solidFill>
                <a:latin typeface="Montserrat Alternates"/>
              </a:rPr>
              <a:t>RESULTS</a:t>
            </a:r>
          </a:p>
        </p:txBody>
      </p:sp>
      <p:sp>
        <p:nvSpPr>
          <p:cNvPr id="5" name="Rectangle 4"/>
          <p:cNvSpPr/>
          <p:nvPr/>
        </p:nvSpPr>
        <p:spPr>
          <a:xfrm>
            <a:off x="731520" y="6263640"/>
            <a:ext cx="10725912" cy="9144"/>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355080"/>
            <a:ext cx="3657600" cy="274320"/>
          </a:xfrm>
          <a:prstGeom prst="rect">
            <a:avLst/>
          </a:prstGeom>
          <a:noFill/>
        </p:spPr>
        <p:txBody>
          <a:bodyPr wrap="square" anchor="t" lIns="45720" rIns="45720" tIns="27432" bIns="27432">
            <a:spAutoFit/>
          </a:bodyPr>
          <a:lstStyle/>
          <a:p>
            <a:pPr algn="l">
              <a:spcAft>
                <a:spcPts val="400"/>
              </a:spcAft>
            </a:pPr>
            <a:r>
              <a:rPr sz="1100" b="0">
                <a:solidFill>
                  <a:srgbClr val="8B93A1"/>
                </a:solidFill>
                <a:latin typeface="Red Hat Display"/>
              </a:rPr>
              <a:t>AuxFlow</a:t>
            </a:r>
          </a:p>
        </p:txBody>
      </p:sp>
      <p:sp>
        <p:nvSpPr>
          <p:cNvPr id="7" name="TextBox 6"/>
          <p:cNvSpPr txBox="1"/>
          <p:nvPr/>
        </p:nvSpPr>
        <p:spPr>
          <a:xfrm>
            <a:off x="10789920" y="6355080"/>
            <a:ext cx="731520" cy="274320"/>
          </a:xfrm>
          <a:prstGeom prst="rect">
            <a:avLst/>
          </a:prstGeom>
          <a:noFill/>
        </p:spPr>
        <p:txBody>
          <a:bodyPr wrap="square" anchor="t" lIns="45720" rIns="45720" tIns="27432" bIns="27432">
            <a:spAutoFit/>
          </a:bodyPr>
          <a:lstStyle/>
          <a:p>
            <a:pPr algn="r">
              <a:spcAft>
                <a:spcPts val="400"/>
              </a:spcAft>
            </a:pPr>
            <a:r>
              <a:rPr sz="1100" b="0">
                <a:solidFill>
                  <a:srgbClr val="8B93A1"/>
                </a:solidFill>
                <a:latin typeface="Red Hat Display"/>
              </a:rPr>
              <a:t>10</a:t>
            </a:r>
          </a:p>
        </p:txBody>
      </p:sp>
      <p:graphicFrame>
        <p:nvGraphicFramePr>
          <p:cNvPr id="8" name="Chart 7"/>
          <p:cNvGraphicFramePr>
            <a:graphicFrameLocks noGrp="1"/>
          </p:cNvGraphicFramePr>
          <p:nvPr/>
        </p:nvGraphicFramePr>
        <p:xfrm>
          <a:off x="731520" y="1828800"/>
          <a:ext cx="6949440" cy="3840480"/>
        </p:xfrm>
        <a:graphic>
          <a:graphicData uri="http://schemas.openxmlformats.org/drawingml/2006/chart">
            <c:chart xmlns:c="http://schemas.openxmlformats.org/drawingml/2006/chart" r:id="rId2"/>
          </a:graphicData>
        </a:graphic>
      </p:graphicFrame>
      <p:sp>
        <p:nvSpPr>
          <p:cNvPr id="9" name="Rounded Rectangle 8"/>
          <p:cNvSpPr/>
          <p:nvPr/>
        </p:nvSpPr>
        <p:spPr>
          <a:xfrm>
            <a:off x="8138160" y="2011680"/>
            <a:ext cx="3291840" cy="160020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2148840"/>
            <a:ext cx="3291840" cy="731520"/>
          </a:xfrm>
          <a:prstGeom prst="rect">
            <a:avLst/>
          </a:prstGeom>
          <a:noFill/>
        </p:spPr>
        <p:txBody>
          <a:bodyPr wrap="square" anchor="t" lIns="45720" rIns="45720" tIns="27432" bIns="27432">
            <a:spAutoFit/>
          </a:bodyPr>
          <a:lstStyle/>
          <a:p>
            <a:pPr algn="ctr">
              <a:spcAft>
                <a:spcPts val="400"/>
              </a:spcAft>
            </a:pPr>
            <a:r>
              <a:rPr sz="3000" b="1">
                <a:solidFill>
                  <a:srgbClr val="A78BFA"/>
                </a:solidFill>
                <a:latin typeface="Montserrat Alternates"/>
              </a:rPr>
              <a:t>under 20 ms</a:t>
            </a:r>
          </a:p>
        </p:txBody>
      </p:sp>
      <p:sp>
        <p:nvSpPr>
          <p:cNvPr id="11" name="TextBox 10"/>
          <p:cNvSpPr txBox="1"/>
          <p:nvPr/>
        </p:nvSpPr>
        <p:spPr>
          <a:xfrm>
            <a:off x="8321040" y="2926080"/>
            <a:ext cx="2926080" cy="548640"/>
          </a:xfrm>
          <a:prstGeom prst="rect">
            <a:avLst/>
          </a:prstGeom>
          <a:noFill/>
        </p:spPr>
        <p:txBody>
          <a:bodyPr wrap="square" anchor="t" lIns="45720" rIns="45720" tIns="27432" bIns="27432">
            <a:spAutoFit/>
          </a:bodyPr>
          <a:lstStyle/>
          <a:p>
            <a:pPr algn="ctr">
              <a:spcAft>
                <a:spcPts val="400"/>
              </a:spcAft>
            </a:pPr>
            <a:r>
              <a:rPr sz="1500" b="0">
                <a:solidFill>
                  <a:srgbClr val="8B93A1"/>
                </a:solidFill>
                <a:latin typeface="Red Hat Display"/>
              </a:rPr>
              <a:t>static analysis per document</a:t>
            </a:r>
          </a:p>
        </p:txBody>
      </p:sp>
      <p:sp>
        <p:nvSpPr>
          <p:cNvPr id="12" name="Rounded Rectangle 11"/>
          <p:cNvSpPr/>
          <p:nvPr/>
        </p:nvSpPr>
        <p:spPr>
          <a:xfrm>
            <a:off x="8138160" y="3840480"/>
            <a:ext cx="3291840" cy="160020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3977640"/>
            <a:ext cx="3291840" cy="731520"/>
          </a:xfrm>
          <a:prstGeom prst="rect">
            <a:avLst/>
          </a:prstGeom>
          <a:noFill/>
        </p:spPr>
        <p:txBody>
          <a:bodyPr wrap="square" anchor="t" lIns="45720" rIns="45720" tIns="27432" bIns="27432">
            <a:spAutoFit/>
          </a:bodyPr>
          <a:lstStyle/>
          <a:p>
            <a:pPr algn="ctr">
              <a:spcAft>
                <a:spcPts val="400"/>
              </a:spcAft>
            </a:pPr>
            <a:r>
              <a:rPr sz="3000" b="1">
                <a:solidFill>
                  <a:srgbClr val="A78BFA"/>
                </a:solidFill>
                <a:latin typeface="Montserrat Alternates"/>
              </a:rPr>
              <a:t>0</a:t>
            </a:r>
          </a:p>
        </p:txBody>
      </p:sp>
      <p:sp>
        <p:nvSpPr>
          <p:cNvPr id="14" name="TextBox 13"/>
          <p:cNvSpPr txBox="1"/>
          <p:nvPr/>
        </p:nvSpPr>
        <p:spPr>
          <a:xfrm>
            <a:off x="8321040" y="4754880"/>
            <a:ext cx="2926080" cy="548640"/>
          </a:xfrm>
          <a:prstGeom prst="rect">
            <a:avLst/>
          </a:prstGeom>
          <a:noFill/>
        </p:spPr>
        <p:txBody>
          <a:bodyPr wrap="square" anchor="t" lIns="45720" rIns="45720" tIns="27432" bIns="27432">
            <a:spAutoFit/>
          </a:bodyPr>
          <a:lstStyle/>
          <a:p>
            <a:pPr algn="ctr">
              <a:spcAft>
                <a:spcPts val="400"/>
              </a:spcAft>
            </a:pPr>
            <a:r>
              <a:rPr sz="1500" b="0">
                <a:solidFill>
                  <a:srgbClr val="8B93A1"/>
                </a:solidFill>
                <a:latin typeface="Red Hat Display"/>
              </a:rPr>
              <a:t>engine runs needed to decide</a:t>
            </a:r>
          </a:p>
        </p:txBody>
      </p:sp>
      <p:sp>
        <p:nvSpPr>
          <p:cNvPr id="15" name="TextBox 14"/>
          <p:cNvSpPr txBox="1"/>
          <p:nvPr/>
        </p:nvSpPr>
        <p:spPr>
          <a:xfrm>
            <a:off x="822960" y="5760720"/>
            <a:ext cx="10607040" cy="457200"/>
          </a:xfrm>
          <a:prstGeom prst="rect">
            <a:avLst/>
          </a:prstGeom>
          <a:noFill/>
        </p:spPr>
        <p:txBody>
          <a:bodyPr wrap="square" anchor="t" lIns="45720" rIns="45720" tIns="27432" bIns="27432">
            <a:spAutoFit/>
          </a:bodyPr>
          <a:lstStyle/>
          <a:p>
            <a:pPr algn="l">
              <a:spcAft>
                <a:spcPts val="400"/>
              </a:spcAft>
            </a:pPr>
            <a:r>
              <a:rPr sz="1400" b="0">
                <a:solidFill>
                  <a:srgbClr val="8B93A1"/>
                </a:solidFill>
                <a:latin typeface="Red Hat Display"/>
              </a:rPr>
              <a:t>Certified documents in the benchmark corpus. Over-prediction is expected: minimum-pass assignment is NP-complete.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itle 1"/>
          <p:cNvSpPr>
            <a:spLocks noGrp="1"/>
          </p:cNvSpPr>
          <p:nvPr>
            <p:ph type="title"/>
          </p:nvPr>
        </p:nvSpPr>
        <p:spPr>
          <a:xfrm>
            <a:off x="685800" y="960120"/>
            <a:ext cx="10789920" cy="731520"/>
          </a:xfrm>
        </p:spPr>
        <p:txBody>
          <a:bodyPr wrap="square" anchor="t" lIns="45720" rIns="45720" tIns="27432" bIns="27432"/>
          <a:lstStyle/>
          <a:p>
            <a:pPr algn="l"/>
            <a:r>
              <a:rPr sz="3200" b="1">
                <a:solidFill>
                  <a:srgbClr val="E8EAF0"/>
                </a:solidFill>
                <a:latin typeface="Montserrat Alternates"/>
              </a:rPr>
              <a:t>What AuxFlow understands today</a:t>
            </a:r>
          </a:p>
        </p:txBody>
      </p:sp>
      <p:sp>
        <p:nvSpPr>
          <p:cNvPr id="3" name="Rectangle 2"/>
          <p:cNvSpPr/>
          <p:nvPr/>
        </p:nvSpPr>
        <p:spPr>
          <a:xfrm>
            <a:off x="731520" y="566928"/>
            <a:ext cx="320040" cy="457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8229600" cy="320040"/>
          </a:xfrm>
          <a:prstGeom prst="rect">
            <a:avLst/>
          </a:prstGeom>
          <a:noFill/>
        </p:spPr>
        <p:txBody>
          <a:bodyPr wrap="square" anchor="t" lIns="45720" rIns="45720" tIns="27432" bIns="27432">
            <a:spAutoFit/>
          </a:bodyPr>
          <a:lstStyle/>
          <a:p>
            <a:pPr algn="l">
              <a:spcAft>
                <a:spcPts val="400"/>
              </a:spcAft>
            </a:pPr>
            <a:r>
              <a:rPr sz="1200" b="1">
                <a:solidFill>
                  <a:srgbClr val="A78BFA"/>
                </a:solidFill>
                <a:latin typeface="Montserrat Alternates"/>
              </a:rPr>
              <a:t>SUPPORTED</a:t>
            </a:r>
          </a:p>
        </p:txBody>
      </p:sp>
      <p:sp>
        <p:nvSpPr>
          <p:cNvPr id="5" name="Rectangle 4"/>
          <p:cNvSpPr/>
          <p:nvPr/>
        </p:nvSpPr>
        <p:spPr>
          <a:xfrm>
            <a:off x="731520" y="6263640"/>
            <a:ext cx="10725912" cy="9144"/>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355080"/>
            <a:ext cx="3657600" cy="274320"/>
          </a:xfrm>
          <a:prstGeom prst="rect">
            <a:avLst/>
          </a:prstGeom>
          <a:noFill/>
        </p:spPr>
        <p:txBody>
          <a:bodyPr wrap="square" anchor="t" lIns="45720" rIns="45720" tIns="27432" bIns="27432">
            <a:spAutoFit/>
          </a:bodyPr>
          <a:lstStyle/>
          <a:p>
            <a:pPr algn="l">
              <a:spcAft>
                <a:spcPts val="400"/>
              </a:spcAft>
            </a:pPr>
            <a:r>
              <a:rPr sz="1100" b="0">
                <a:solidFill>
                  <a:srgbClr val="8B93A1"/>
                </a:solidFill>
                <a:latin typeface="Red Hat Display"/>
              </a:rPr>
              <a:t>AuxFlow</a:t>
            </a:r>
          </a:p>
        </p:txBody>
      </p:sp>
      <p:sp>
        <p:nvSpPr>
          <p:cNvPr id="7" name="TextBox 6"/>
          <p:cNvSpPr txBox="1"/>
          <p:nvPr/>
        </p:nvSpPr>
        <p:spPr>
          <a:xfrm>
            <a:off x="10789920" y="6355080"/>
            <a:ext cx="731520" cy="274320"/>
          </a:xfrm>
          <a:prstGeom prst="rect">
            <a:avLst/>
          </a:prstGeom>
          <a:noFill/>
        </p:spPr>
        <p:txBody>
          <a:bodyPr wrap="square" anchor="t" lIns="45720" rIns="45720" tIns="27432" bIns="27432">
            <a:spAutoFit/>
          </a:bodyPr>
          <a:lstStyle/>
          <a:p>
            <a:pPr algn="r">
              <a:spcAft>
                <a:spcPts val="400"/>
              </a:spcAft>
            </a:pPr>
            <a:r>
              <a:rPr sz="1100" b="0">
                <a:solidFill>
                  <a:srgbClr val="8B93A1"/>
                </a:solidFill>
                <a:latin typeface="Red Hat Display"/>
              </a:rPr>
              <a:t>11</a:t>
            </a:r>
          </a:p>
        </p:txBody>
      </p:sp>
      <p:sp>
        <p:nvSpPr>
          <p:cNvPr id="8" name="Rounded Rectangle 7"/>
          <p:cNvSpPr/>
          <p:nvPr/>
        </p:nvSpPr>
        <p:spPr>
          <a:xfrm>
            <a:off x="822960" y="1874519"/>
            <a:ext cx="3291840" cy="379476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1874519"/>
            <a:ext cx="3291840" cy="73152"/>
          </a:xfrm>
          <a:prstGeom prst="rect">
            <a:avLst/>
          </a:prstGeom>
          <a:solidFill>
            <a:srgbClr val="34D399"/>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57400"/>
            <a:ext cx="2926080" cy="457200"/>
          </a:xfrm>
          <a:prstGeom prst="rect">
            <a:avLst/>
          </a:prstGeom>
          <a:noFill/>
        </p:spPr>
        <p:txBody>
          <a:bodyPr wrap="square" anchor="t" lIns="45720" rIns="45720" tIns="27432" bIns="27432">
            <a:spAutoFit/>
          </a:bodyPr>
          <a:lstStyle/>
          <a:p>
            <a:pPr algn="l">
              <a:spcAft>
                <a:spcPts val="400"/>
              </a:spcAft>
            </a:pPr>
            <a:r>
              <a:rPr sz="1800" b="1">
                <a:solidFill>
                  <a:srgbClr val="34D399"/>
                </a:solidFill>
                <a:latin typeface="Montserrat Alternates"/>
              </a:rPr>
              <a:t>Core constructs</a:t>
            </a:r>
          </a:p>
        </p:txBody>
      </p:sp>
      <p:sp>
        <p:nvSpPr>
          <p:cNvPr id="11" name="TextBox 10"/>
          <p:cNvSpPr txBox="1"/>
          <p:nvPr/>
        </p:nvSpPr>
        <p:spPr>
          <a:xfrm>
            <a:off x="1005840" y="2606040"/>
            <a:ext cx="2971800" cy="3017520"/>
          </a:xfrm>
          <a:prstGeom prst="rect">
            <a:avLst/>
          </a:prstGeom>
          <a:noFill/>
        </p:spPr>
        <p:txBody>
          <a:bodyPr wrap="square" anchor="t" lIns="45720" rIns="45720" tIns="27432" bIns="27432">
            <a:spAutoFit/>
          </a:bodyPr>
          <a:lstStyle/>
          <a:p>
            <a:pPr algn="l">
              <a:spcAft>
                <a:spcPts val="400"/>
              </a:spcAft>
            </a:pPr>
            <a:r>
              <a:rPr sz="1100" b="0">
                <a:solidFill>
                  <a:srgbClr val="E8EAF0"/>
                </a:solidFill>
                <a:latin typeface="Red Hat Mono"/>
              </a:rPr>
              <a:t>\label  \ref  \eqref</a:t>
            </a:r>
          </a:p>
          <a:p>
            <a:pPr algn="l">
              <a:spcAft>
                <a:spcPts val="400"/>
              </a:spcAft>
            </a:pPr>
            <a:r>
              <a:rPr sz="1100" b="0">
                <a:solidFill>
                  <a:srgbClr val="E8EAF0"/>
                </a:solidFill>
                <a:latin typeface="Red Hat Mono"/>
              </a:rPr>
              <a:t>\pageref</a:t>
            </a:r>
          </a:p>
          <a:p>
            <a:pPr algn="l">
              <a:spcAft>
                <a:spcPts val="400"/>
              </a:spcAft>
            </a:pPr>
            <a:r>
              <a:rPr sz="1100" b="0">
                <a:solidFill>
                  <a:srgbClr val="E8EAF0"/>
                </a:solidFill>
                <a:latin typeface="Red Hat Mono"/>
              </a:rPr>
              <a:t>\cite  \bibliography</a:t>
            </a:r>
          </a:p>
          <a:p>
            <a:pPr algn="l">
              <a:spcAft>
                <a:spcPts val="400"/>
              </a:spcAft>
            </a:pPr>
            <a:r>
              <a:rPr sz="1100" b="0">
                <a:solidFill>
                  <a:srgbClr val="E8EAF0"/>
                </a:solidFill>
                <a:latin typeface="Red Hat Mono"/>
              </a:rPr>
              <a:t>\tableofcontents</a:t>
            </a:r>
          </a:p>
          <a:p>
            <a:pPr algn="l">
              <a:spcAft>
                <a:spcPts val="400"/>
              </a:spcAft>
            </a:pPr>
            <a:r>
              <a:rPr sz="1100" b="0">
                <a:solidFill>
                  <a:srgbClr val="E8EAF0"/>
                </a:solidFill>
                <a:latin typeface="Red Hat Mono"/>
              </a:rPr>
              <a:t>\listoffigures</a:t>
            </a:r>
          </a:p>
          <a:p>
            <a:pPr algn="l">
              <a:spcAft>
                <a:spcPts val="400"/>
              </a:spcAft>
            </a:pPr>
            <a:r>
              <a:rPr sz="1100" b="0">
                <a:solidFill>
                  <a:srgbClr val="E8EAF0"/>
                </a:solidFill>
                <a:latin typeface="Red Hat Mono"/>
              </a:rPr>
              <a:t>\listoftables</a:t>
            </a:r>
          </a:p>
          <a:p>
            <a:pPr algn="l">
              <a:spcAft>
                <a:spcPts val="400"/>
              </a:spcAft>
            </a:pPr>
            <a:r>
              <a:rPr sz="1100" b="0">
                <a:solidFill>
                  <a:srgbClr val="E8EAF0"/>
                </a:solidFill>
                <a:latin typeface="Red Hat Mono"/>
              </a:rPr>
              <a:t>\chapter  \section</a:t>
            </a:r>
          </a:p>
          <a:p>
            <a:pPr algn="l">
              <a:spcAft>
                <a:spcPts val="400"/>
              </a:spcAft>
            </a:pPr>
            <a:r>
              <a:rPr sz="1100" b="0">
                <a:solidFill>
                  <a:srgbClr val="E8EAF0"/>
                </a:solidFill>
                <a:latin typeface="Red Hat Mono"/>
              </a:rPr>
              <a:t>figure  table  \caption</a:t>
            </a:r>
          </a:p>
          <a:p>
            <a:pPr algn="l">
              <a:spcAft>
                <a:spcPts val="400"/>
              </a:spcAft>
            </a:pPr>
            <a:r>
              <a:rPr sz="1100" b="0">
                <a:solidFill>
                  <a:srgbClr val="E8EAF0"/>
                </a:solidFill>
                <a:latin typeface="Red Hat Mono"/>
              </a:rPr>
              <a:t>\input  \include</a:t>
            </a:r>
          </a:p>
          <a:p>
            <a:pPr algn="l">
              <a:spcAft>
                <a:spcPts val="400"/>
              </a:spcAft>
            </a:pPr>
            <a:r>
              <a:rPr sz="1100" b="0">
                <a:solidFill>
                  <a:srgbClr val="E8EAF0"/>
                </a:solidFill>
                <a:latin typeface="Red Hat Mono"/>
              </a:rPr>
              <a:t>\includegraphics</a:t>
            </a:r>
          </a:p>
          <a:p>
            <a:pPr algn="l">
              <a:spcAft>
                <a:spcPts val="400"/>
              </a:spcAft>
            </a:pPr>
            <a:r>
              <a:rPr sz="1100" b="0">
                <a:solidFill>
                  <a:srgbClr val="E8EAF0"/>
                </a:solidFill>
                <a:latin typeface="Red Hat Mono"/>
              </a:rPr>
              <a:t>\newcounter  \value</a:t>
            </a:r>
          </a:p>
          <a:p>
            <a:pPr algn="l">
              <a:spcAft>
                <a:spcPts val="400"/>
              </a:spcAft>
            </a:pPr>
            <a:r>
              <a:rPr sz="1100" b="0">
                <a:solidFill>
                  <a:srgbClr val="E8EAF0"/>
                </a:solidFill>
                <a:latin typeface="Red Hat Mono"/>
              </a:rPr>
              <a:t>\whiledo  \forloop</a:t>
            </a:r>
          </a:p>
          <a:p>
            <a:pPr algn="l">
              <a:spcAft>
                <a:spcPts val="400"/>
              </a:spcAft>
            </a:pPr>
            <a:r>
              <a:rPr sz="1100" b="0">
                <a:solidFill>
                  <a:srgbClr val="E8EAF0"/>
                </a:solidFill>
                <a:latin typeface="Red Hat Mono"/>
              </a:rPr>
              <a:t>\newpage  \clearpage</a:t>
            </a:r>
          </a:p>
        </p:txBody>
      </p:sp>
      <p:sp>
        <p:nvSpPr>
          <p:cNvPr id="12" name="Rounded Rectangle 11"/>
          <p:cNvSpPr/>
          <p:nvPr/>
        </p:nvSpPr>
        <p:spPr>
          <a:xfrm>
            <a:off x="4434840" y="1874519"/>
            <a:ext cx="3291840" cy="379476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1874519"/>
            <a:ext cx="3291840" cy="73152"/>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2057400"/>
            <a:ext cx="2926080" cy="457200"/>
          </a:xfrm>
          <a:prstGeom prst="rect">
            <a:avLst/>
          </a:prstGeom>
          <a:noFill/>
        </p:spPr>
        <p:txBody>
          <a:bodyPr wrap="square" anchor="t" lIns="45720" rIns="45720" tIns="27432" bIns="27432">
            <a:spAutoFit/>
          </a:bodyPr>
          <a:lstStyle/>
          <a:p>
            <a:pPr algn="l">
              <a:spcAft>
                <a:spcPts val="400"/>
              </a:spcAft>
            </a:pPr>
            <a:r>
              <a:rPr sz="1800" b="1">
                <a:solidFill>
                  <a:srgbClr val="A78BFA"/>
                </a:solidFill>
                <a:latin typeface="Montserrat Alternates"/>
              </a:rPr>
              <a:t>Packages</a:t>
            </a:r>
          </a:p>
        </p:txBody>
      </p:sp>
      <p:sp>
        <p:nvSpPr>
          <p:cNvPr id="15" name="TextBox 14"/>
          <p:cNvSpPr txBox="1"/>
          <p:nvPr/>
        </p:nvSpPr>
        <p:spPr>
          <a:xfrm>
            <a:off x="4617720" y="2606040"/>
            <a:ext cx="2971800" cy="320040"/>
          </a:xfrm>
          <a:prstGeom prst="rect">
            <a:avLst/>
          </a:prstGeom>
          <a:noFill/>
        </p:spPr>
        <p:txBody>
          <a:bodyPr wrap="square" anchor="t" lIns="45720" rIns="45720" tIns="27432" bIns="27432">
            <a:spAutoFit/>
          </a:bodyPr>
          <a:lstStyle/>
          <a:p>
            <a:pPr algn="l">
              <a:spcAft>
                <a:spcPts val="400"/>
              </a:spcAft>
            </a:pPr>
            <a:r>
              <a:rPr sz="1200" b="1">
                <a:solidFill>
                  <a:srgbClr val="8B93A1"/>
                </a:solidFill>
                <a:latin typeface="Montserrat Alternates"/>
              </a:rPr>
              <a:t>Modeled</a:t>
            </a:r>
          </a:p>
        </p:txBody>
      </p:sp>
      <p:sp>
        <p:nvSpPr>
          <p:cNvPr id="16" name="TextBox 15"/>
          <p:cNvSpPr txBox="1"/>
          <p:nvPr/>
        </p:nvSpPr>
        <p:spPr>
          <a:xfrm>
            <a:off x="4617720" y="2880360"/>
            <a:ext cx="2971800" cy="731520"/>
          </a:xfrm>
          <a:prstGeom prst="rect">
            <a:avLst/>
          </a:prstGeom>
          <a:noFill/>
        </p:spPr>
        <p:txBody>
          <a:bodyPr wrap="square" anchor="t" lIns="45720" rIns="45720" tIns="27432" bIns="27432">
            <a:spAutoFit/>
          </a:bodyPr>
          <a:lstStyle/>
          <a:p>
            <a:pPr algn="l">
              <a:spcAft>
                <a:spcPts val="400"/>
              </a:spcAft>
            </a:pPr>
            <a:r>
              <a:rPr sz="1400" b="0">
                <a:solidFill>
                  <a:srgbClr val="E8EAF0"/>
                </a:solidFill>
                <a:latin typeface="Red Hat Mono"/>
              </a:rPr>
              <a:t>graphicx</a:t>
            </a:r>
          </a:p>
          <a:p>
            <a:pPr algn="l">
              <a:spcAft>
                <a:spcPts val="400"/>
              </a:spcAft>
            </a:pPr>
            <a:r>
              <a:rPr sz="1400" b="0">
                <a:solidFill>
                  <a:srgbClr val="E8EAF0"/>
                </a:solidFill>
                <a:latin typeface="Red Hat Mono"/>
              </a:rPr>
              <a:t>ifthen</a:t>
            </a:r>
          </a:p>
        </p:txBody>
      </p:sp>
      <p:sp>
        <p:nvSpPr>
          <p:cNvPr id="17" name="TextBox 16"/>
          <p:cNvSpPr txBox="1"/>
          <p:nvPr/>
        </p:nvSpPr>
        <p:spPr>
          <a:xfrm>
            <a:off x="4617720" y="3611880"/>
            <a:ext cx="2971800" cy="320040"/>
          </a:xfrm>
          <a:prstGeom prst="rect">
            <a:avLst/>
          </a:prstGeom>
          <a:noFill/>
        </p:spPr>
        <p:txBody>
          <a:bodyPr wrap="square" anchor="t" lIns="45720" rIns="45720" tIns="27432" bIns="27432">
            <a:spAutoFit/>
          </a:bodyPr>
          <a:lstStyle/>
          <a:p>
            <a:pPr algn="l">
              <a:spcAft>
                <a:spcPts val="400"/>
              </a:spcAft>
            </a:pPr>
            <a:r>
              <a:rPr sz="1200" b="1">
                <a:solidFill>
                  <a:srgbClr val="8B93A1"/>
                </a:solidFill>
                <a:latin typeface="Montserrat Alternates"/>
              </a:rPr>
              <a:t>Accepted as inert</a:t>
            </a:r>
          </a:p>
        </p:txBody>
      </p:sp>
      <p:sp>
        <p:nvSpPr>
          <p:cNvPr id="18" name="TextBox 17"/>
          <p:cNvSpPr txBox="1"/>
          <p:nvPr/>
        </p:nvSpPr>
        <p:spPr>
          <a:xfrm>
            <a:off x="4617720" y="3886200"/>
            <a:ext cx="2971800" cy="1737360"/>
          </a:xfrm>
          <a:prstGeom prst="rect">
            <a:avLst/>
          </a:prstGeom>
          <a:noFill/>
        </p:spPr>
        <p:txBody>
          <a:bodyPr wrap="square" anchor="t" lIns="45720" rIns="45720" tIns="27432" bIns="27432">
            <a:spAutoFit/>
          </a:bodyPr>
          <a:lstStyle/>
          <a:p>
            <a:pPr algn="l">
              <a:spcAft>
                <a:spcPts val="400"/>
              </a:spcAft>
            </a:pPr>
            <a:r>
              <a:rPr sz="1300" b="0">
                <a:solidFill>
                  <a:srgbClr val="E8EAF0"/>
                </a:solidFill>
                <a:latin typeface="Red Hat Mono"/>
              </a:rPr>
              <a:t>inputenc  fontenc  ae</a:t>
            </a:r>
          </a:p>
          <a:p>
            <a:pPr algn="l">
              <a:spcAft>
                <a:spcPts val="400"/>
              </a:spcAft>
            </a:pPr>
            <a:r>
              <a:rPr sz="1300" b="0">
                <a:solidFill>
                  <a:srgbClr val="E8EAF0"/>
                </a:solidFill>
                <a:latin typeface="Red Hat Mono"/>
              </a:rPr>
              <a:t>aecompl  lmodern</a:t>
            </a:r>
          </a:p>
          <a:p>
            <a:pPr algn="l">
              <a:spcAft>
                <a:spcPts val="400"/>
              </a:spcAft>
            </a:pPr>
            <a:r>
              <a:rPr sz="1300" b="0">
                <a:solidFill>
                  <a:srgbClr val="E8EAF0"/>
                </a:solidFill>
                <a:latin typeface="Red Hat Mono"/>
              </a:rPr>
              <a:t>xcolor  parskip  geometry</a:t>
            </a:r>
          </a:p>
          <a:p>
            <a:pPr algn="l">
              <a:spcAft>
                <a:spcPts val="400"/>
              </a:spcAft>
            </a:pPr>
            <a:r>
              <a:rPr sz="1300" b="0">
                <a:solidFill>
                  <a:srgbClr val="E8EAF0"/>
                </a:solidFill>
                <a:latin typeface="Red Hat Mono"/>
              </a:rPr>
              <a:t>setspace  multicol  amsmath</a:t>
            </a:r>
          </a:p>
        </p:txBody>
      </p:sp>
      <p:sp>
        <p:nvSpPr>
          <p:cNvPr id="19" name="Rounded Rectangle 18"/>
          <p:cNvSpPr/>
          <p:nvPr/>
        </p:nvSpPr>
        <p:spPr>
          <a:xfrm>
            <a:off x="8046720" y="1874519"/>
            <a:ext cx="3291840" cy="379476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1874519"/>
            <a:ext cx="3291840" cy="73152"/>
          </a:xfrm>
          <a:prstGeom prst="rect">
            <a:avLst/>
          </a:prstGeom>
          <a:solidFill>
            <a:srgbClr val="FBBF24"/>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2057400"/>
            <a:ext cx="2926080" cy="457200"/>
          </a:xfrm>
          <a:prstGeom prst="rect">
            <a:avLst/>
          </a:prstGeom>
          <a:noFill/>
        </p:spPr>
        <p:txBody>
          <a:bodyPr wrap="square" anchor="t" lIns="45720" rIns="45720" tIns="27432" bIns="27432">
            <a:spAutoFit/>
          </a:bodyPr>
          <a:lstStyle/>
          <a:p>
            <a:pPr algn="l">
              <a:spcAft>
                <a:spcPts val="400"/>
              </a:spcAft>
            </a:pPr>
            <a:r>
              <a:rPr sz="1800" b="1">
                <a:solidFill>
                  <a:srgbClr val="FBBF24"/>
                </a:solidFill>
                <a:latin typeface="Montserrat Alternates"/>
              </a:rPr>
              <a:t>Classes and tools</a:t>
            </a:r>
          </a:p>
        </p:txBody>
      </p:sp>
      <p:sp>
        <p:nvSpPr>
          <p:cNvPr id="22" name="TextBox 21"/>
          <p:cNvSpPr txBox="1"/>
          <p:nvPr/>
        </p:nvSpPr>
        <p:spPr>
          <a:xfrm>
            <a:off x="8229600" y="2606040"/>
            <a:ext cx="2971800" cy="3017520"/>
          </a:xfrm>
          <a:prstGeom prst="rect">
            <a:avLst/>
          </a:prstGeom>
          <a:noFill/>
        </p:spPr>
        <p:txBody>
          <a:bodyPr wrap="square" anchor="t" lIns="45720" rIns="45720" tIns="27432" bIns="27432">
            <a:spAutoFit/>
          </a:bodyPr>
          <a:lstStyle/>
          <a:p>
            <a:pPr algn="l">
              <a:spcAft>
                <a:spcPts val="400"/>
              </a:spcAft>
            </a:pPr>
            <a:r>
              <a:rPr sz="1400" b="0">
                <a:solidFill>
                  <a:srgbClr val="E8EAF0"/>
                </a:solidFill>
                <a:latin typeface="Red Hat Mono"/>
              </a:rPr>
              <a:t>article</a:t>
            </a:r>
          </a:p>
          <a:p>
            <a:pPr algn="l">
              <a:spcAft>
                <a:spcPts val="400"/>
              </a:spcAft>
            </a:pPr>
            <a:r>
              <a:rPr sz="1400" b="0">
                <a:solidFill>
                  <a:srgbClr val="E8EAF0"/>
                </a:solidFill>
                <a:latin typeface="Red Hat Mono"/>
              </a:rPr>
              <a:t>report</a:t>
            </a:r>
          </a:p>
          <a:p>
            <a:pPr algn="l">
              <a:spcAft>
                <a:spcPts val="400"/>
              </a:spcAft>
            </a:pPr>
            <a:r>
              <a:rPr sz="1400" b="0">
                <a:solidFill>
                  <a:srgbClr val="E8EAF0"/>
                </a:solidFill>
                <a:latin typeface="Red Hat Mono"/>
              </a:rPr>
              <a:t>book</a:t>
            </a:r>
          </a:p>
          <a:p>
            <a:pPr algn="l">
              <a:spcAft>
                <a:spcPts val="400"/>
              </a:spcAft>
            </a:pPr>
            <a:r>
              <a:rPr sz="1400" b="0">
                <a:solidFill>
                  <a:srgbClr val="E8EAF0"/>
                </a:solidFill>
                <a:latin typeface="Red Hat Mono"/>
              </a:rPr>
              <a:t/>
            </a:r>
          </a:p>
          <a:p>
            <a:pPr algn="l">
              <a:spcAft>
                <a:spcPts val="400"/>
              </a:spcAft>
            </a:pPr>
            <a:r>
              <a:rPr sz="1400" b="0">
                <a:solidFill>
                  <a:srgbClr val="E8EAF0"/>
                </a:solidFill>
                <a:latin typeface="Red Hat Mono"/>
              </a:rPr>
              <a:t>BibTeX for citations</a:t>
            </a:r>
          </a:p>
          <a:p>
            <a:pPr algn="l">
              <a:spcAft>
                <a:spcPts val="400"/>
              </a:spcAft>
            </a:pPr>
            <a:r>
              <a:rPr sz="1400" b="0">
                <a:solidFill>
                  <a:srgbClr val="E8EAF0"/>
                </a:solidFill>
                <a:latin typeface="Red Hat Mono"/>
              </a:rPr>
              <a:t/>
            </a:r>
          </a:p>
          <a:p>
            <a:pPr algn="l">
              <a:spcAft>
                <a:spcPts val="400"/>
              </a:spcAft>
            </a:pPr>
            <a:r>
              <a:rPr sz="1400" b="0">
                <a:solidFill>
                  <a:srgbClr val="E8EAF0"/>
                </a:solidFill>
                <a:latin typeface="Red Hat Mono"/>
              </a:rPr>
              <a:t>Other classes: see limits</a:t>
            </a:r>
          </a:p>
        </p:txBody>
      </p:sp>
      <p:sp>
        <p:nvSpPr>
          <p:cNvPr id="23" name="TextBox 22"/>
          <p:cNvSpPr txBox="1"/>
          <p:nvPr/>
        </p:nvSpPr>
        <p:spPr>
          <a:xfrm>
            <a:off x="822960" y="5760720"/>
            <a:ext cx="10607040" cy="457200"/>
          </a:xfrm>
          <a:prstGeom prst="rect">
            <a:avLst/>
          </a:prstGeom>
          <a:noFill/>
        </p:spPr>
        <p:txBody>
          <a:bodyPr wrap="square" anchor="t" lIns="45720" rIns="45720" tIns="27432" bIns="27432">
            <a:spAutoFit/>
          </a:bodyPr>
          <a:lstStyle/>
          <a:p>
            <a:pPr algn="l">
              <a:spcAft>
                <a:spcPts val="400"/>
              </a:spcAft>
            </a:pPr>
            <a:r>
              <a:rPr sz="1500" b="0">
                <a:solidFill>
                  <a:srgbClr val="8B93A1"/>
                </a:solidFill>
                <a:latin typeface="Red Hat Display"/>
              </a:rPr>
              <a:t>Inert means no analysis effect. The package name is accepted, but its layout effects are not modeled.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itle 1"/>
          <p:cNvSpPr>
            <a:spLocks noGrp="1"/>
          </p:cNvSpPr>
          <p:nvPr>
            <p:ph type="title"/>
          </p:nvPr>
        </p:nvSpPr>
        <p:spPr>
          <a:xfrm>
            <a:off x="685800" y="960120"/>
            <a:ext cx="10789920" cy="731520"/>
          </a:xfrm>
        </p:spPr>
        <p:txBody>
          <a:bodyPr wrap="square" anchor="t" lIns="45720" rIns="45720" tIns="27432" bIns="27432"/>
          <a:lstStyle/>
          <a:p>
            <a:pPr algn="l"/>
            <a:r>
              <a:rPr sz="3200" b="1">
                <a:solidFill>
                  <a:srgbClr val="E8EAF0"/>
                </a:solidFill>
                <a:latin typeface="Montserrat Alternates"/>
              </a:rPr>
              <a:t>What it cannot handle yet</a:t>
            </a:r>
          </a:p>
        </p:txBody>
      </p:sp>
      <p:sp>
        <p:nvSpPr>
          <p:cNvPr id="3" name="Rectangle 2"/>
          <p:cNvSpPr/>
          <p:nvPr/>
        </p:nvSpPr>
        <p:spPr>
          <a:xfrm>
            <a:off x="731520" y="566928"/>
            <a:ext cx="320040" cy="457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8229600" cy="320040"/>
          </a:xfrm>
          <a:prstGeom prst="rect">
            <a:avLst/>
          </a:prstGeom>
          <a:noFill/>
        </p:spPr>
        <p:txBody>
          <a:bodyPr wrap="square" anchor="t" lIns="45720" rIns="45720" tIns="27432" bIns="27432">
            <a:spAutoFit/>
          </a:bodyPr>
          <a:lstStyle/>
          <a:p>
            <a:pPr algn="l">
              <a:spcAft>
                <a:spcPts val="400"/>
              </a:spcAft>
            </a:pPr>
            <a:r>
              <a:rPr sz="1200" b="1">
                <a:solidFill>
                  <a:srgbClr val="A78BFA"/>
                </a:solidFill>
                <a:latin typeface="Montserrat Alternates"/>
              </a:rPr>
              <a:t>LIMITATIONS</a:t>
            </a:r>
          </a:p>
        </p:txBody>
      </p:sp>
      <p:sp>
        <p:nvSpPr>
          <p:cNvPr id="5" name="Rectangle 4"/>
          <p:cNvSpPr/>
          <p:nvPr/>
        </p:nvSpPr>
        <p:spPr>
          <a:xfrm>
            <a:off x="731520" y="6263640"/>
            <a:ext cx="10725912" cy="9144"/>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355080"/>
            <a:ext cx="3657600" cy="274320"/>
          </a:xfrm>
          <a:prstGeom prst="rect">
            <a:avLst/>
          </a:prstGeom>
          <a:noFill/>
        </p:spPr>
        <p:txBody>
          <a:bodyPr wrap="square" anchor="t" lIns="45720" rIns="45720" tIns="27432" bIns="27432">
            <a:spAutoFit/>
          </a:bodyPr>
          <a:lstStyle/>
          <a:p>
            <a:pPr algn="l">
              <a:spcAft>
                <a:spcPts val="400"/>
              </a:spcAft>
            </a:pPr>
            <a:r>
              <a:rPr sz="1100" b="0">
                <a:solidFill>
                  <a:srgbClr val="8B93A1"/>
                </a:solidFill>
                <a:latin typeface="Red Hat Display"/>
              </a:rPr>
              <a:t>AuxFlow</a:t>
            </a:r>
          </a:p>
        </p:txBody>
      </p:sp>
      <p:sp>
        <p:nvSpPr>
          <p:cNvPr id="7" name="TextBox 6"/>
          <p:cNvSpPr txBox="1"/>
          <p:nvPr/>
        </p:nvSpPr>
        <p:spPr>
          <a:xfrm>
            <a:off x="10789920" y="6355080"/>
            <a:ext cx="731520" cy="274320"/>
          </a:xfrm>
          <a:prstGeom prst="rect">
            <a:avLst/>
          </a:prstGeom>
          <a:noFill/>
        </p:spPr>
        <p:txBody>
          <a:bodyPr wrap="square" anchor="t" lIns="45720" rIns="45720" tIns="27432" bIns="27432">
            <a:spAutoFit/>
          </a:bodyPr>
          <a:lstStyle/>
          <a:p>
            <a:pPr algn="r">
              <a:spcAft>
                <a:spcPts val="400"/>
              </a:spcAft>
            </a:pPr>
            <a:r>
              <a:rPr sz="1100" b="0">
                <a:solidFill>
                  <a:srgbClr val="8B93A1"/>
                </a:solidFill>
                <a:latin typeface="Red Hat Display"/>
              </a:rPr>
              <a:t>12</a:t>
            </a:r>
          </a:p>
        </p:txBody>
      </p:sp>
      <p:sp>
        <p:nvSpPr>
          <p:cNvPr id="8" name="Rounded Rectangle 7"/>
          <p:cNvSpPr/>
          <p:nvPr/>
        </p:nvSpPr>
        <p:spPr>
          <a:xfrm>
            <a:off x="822960" y="1874519"/>
            <a:ext cx="3291840" cy="347472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1874519"/>
            <a:ext cx="3291840" cy="73152"/>
          </a:xfrm>
          <a:prstGeom prst="rect">
            <a:avLst/>
          </a:prstGeom>
          <a:solidFill>
            <a:srgbClr val="FBBF24"/>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57400"/>
            <a:ext cx="2926080" cy="457200"/>
          </a:xfrm>
          <a:prstGeom prst="rect">
            <a:avLst/>
          </a:prstGeom>
          <a:noFill/>
        </p:spPr>
        <p:txBody>
          <a:bodyPr wrap="square" anchor="t" lIns="45720" rIns="45720" tIns="27432" bIns="27432">
            <a:spAutoFit/>
          </a:bodyPr>
          <a:lstStyle/>
          <a:p>
            <a:pPr algn="l">
              <a:spcAft>
                <a:spcPts val="400"/>
              </a:spcAft>
            </a:pPr>
            <a:r>
              <a:rPr sz="1700" b="1">
                <a:solidFill>
                  <a:srgbClr val="FBBF24"/>
                </a:solidFill>
                <a:latin typeface="Montserrat Alternates"/>
              </a:rPr>
              <a:t>Unsupported</a:t>
            </a:r>
          </a:p>
        </p:txBody>
      </p:sp>
      <p:sp>
        <p:nvSpPr>
          <p:cNvPr id="11" name="TextBox 10"/>
          <p:cNvSpPr txBox="1"/>
          <p:nvPr/>
        </p:nvSpPr>
        <p:spPr>
          <a:xfrm>
            <a:off x="1005840" y="2651760"/>
            <a:ext cx="2971800" cy="2651760"/>
          </a:xfrm>
          <a:prstGeom prst="rect">
            <a:avLst/>
          </a:prstGeom>
          <a:noFill/>
        </p:spPr>
        <p:txBody>
          <a:bodyPr wrap="square" anchor="t" lIns="45720" rIns="45720" tIns="27432" bIns="27432">
            <a:spAutoFit/>
          </a:bodyPr>
          <a:lstStyle/>
          <a:p>
            <a:pPr algn="l">
              <a:spcAft>
                <a:spcPts val="400"/>
              </a:spcAft>
            </a:pPr>
            <a:r>
              <a:rPr sz="1300" b="0">
                <a:solidFill>
                  <a:srgbClr val="E8EAF0"/>
                </a:solidFill>
                <a:latin typeface="Red Hat Display"/>
              </a:rPr>
              <a:t>Gives UNKNOWN:</a:t>
            </a:r>
          </a:p>
          <a:p>
            <a:pPr algn="l">
              <a:spcAft>
                <a:spcPts val="400"/>
              </a:spcAft>
            </a:pPr>
            <a:r>
              <a:rPr sz="1300" b="0">
                <a:solidFill>
                  <a:srgbClr val="E8EAF0"/>
                </a:solidFill>
                <a:latin typeface="Red Hat Display"/>
              </a:rPr>
              <a:t>Any other package: biblatex, tikz, fancyhdr, tabularx</a:t>
            </a:r>
          </a:p>
          <a:p>
            <a:pPr algn="l">
              <a:spcAft>
                <a:spcPts val="400"/>
              </a:spcAft>
            </a:pPr>
            <a:r>
              <a:rPr sz="1300" b="0">
                <a:solidFill>
                  <a:srgbClr val="E8EAF0"/>
                </a:solidFill>
                <a:latin typeface="Red Hat Display"/>
              </a:rPr>
              <a:t>A local .cls file</a:t>
            </a:r>
          </a:p>
          <a:p>
            <a:pPr algn="l">
              <a:spcAft>
                <a:spcPts val="400"/>
              </a:spcAft>
            </a:pPr>
            <a:r>
              <a:rPr sz="1300" b="0">
                <a:solidFill>
                  <a:srgbClr val="E8EAF0"/>
                </a:solidFill>
                <a:latin typeface="Red Hat Display"/>
              </a:rPr>
              <a:t>varioref commands</a:t>
            </a:r>
          </a:p>
          <a:p>
            <a:pPr algn="l">
              <a:spcAft>
                <a:spcPts val="400"/>
              </a:spcAft>
            </a:pPr>
            <a:r>
              <a:rPr sz="1300" b="0">
                <a:solidFill>
                  <a:srgbClr val="E8EAF0"/>
                </a:solidFill>
                <a:latin typeface="Red Hat Display"/>
              </a:rPr>
              <a:t>Page references under roman or alph numbering</a:t>
            </a:r>
          </a:p>
          <a:p>
            <a:pPr algn="l">
              <a:spcAft>
                <a:spcPts val="400"/>
              </a:spcAft>
            </a:pPr>
            <a:r>
              <a:rPr sz="1300" b="0">
                <a:solidFill>
                  <a:srgbClr val="E8EAF0"/>
                </a:solidFill>
                <a:latin typeface="Red Hat Display"/>
              </a:rPr>
              <a:t>\csname, \expandafter, catcode changes, shell escape</a:t>
            </a:r>
          </a:p>
          <a:p>
            <a:pPr algn="l">
              <a:spcAft>
                <a:spcPts val="400"/>
              </a:spcAft>
            </a:pPr>
            <a:r>
              <a:rPr sz="1300" b="0">
                <a:solidFill>
                  <a:srgbClr val="E8EAF0"/>
                </a:solidFill>
                <a:latin typeface="Red Hat Display"/>
              </a:rPr>
              <a:t>lstlisting</a:t>
            </a:r>
          </a:p>
        </p:txBody>
      </p:sp>
      <p:sp>
        <p:nvSpPr>
          <p:cNvPr id="12" name="Rounded Rectangle 11"/>
          <p:cNvSpPr/>
          <p:nvPr/>
        </p:nvSpPr>
        <p:spPr>
          <a:xfrm>
            <a:off x="4434840" y="1874519"/>
            <a:ext cx="3291840" cy="347472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1874519"/>
            <a:ext cx="3291840" cy="73152"/>
          </a:xfrm>
          <a:prstGeom prst="rect">
            <a:avLst/>
          </a:prstGeom>
          <a:solidFill>
            <a:srgbClr val="F87171"/>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2057400"/>
            <a:ext cx="2926080" cy="457200"/>
          </a:xfrm>
          <a:prstGeom prst="rect">
            <a:avLst/>
          </a:prstGeom>
          <a:noFill/>
        </p:spPr>
        <p:txBody>
          <a:bodyPr wrap="square" anchor="t" lIns="45720" rIns="45720" tIns="27432" bIns="27432">
            <a:spAutoFit/>
          </a:bodyPr>
          <a:lstStyle/>
          <a:p>
            <a:pPr algn="l">
              <a:spcAft>
                <a:spcPts val="400"/>
              </a:spcAft>
            </a:pPr>
            <a:r>
              <a:rPr sz="1700" b="1">
                <a:solidFill>
                  <a:srgbClr val="F87171"/>
                </a:solidFill>
                <a:latin typeface="Montserrat Alternates"/>
              </a:rPr>
              <a:t>Outside the model</a:t>
            </a:r>
          </a:p>
        </p:txBody>
      </p:sp>
      <p:sp>
        <p:nvSpPr>
          <p:cNvPr id="15" name="TextBox 14"/>
          <p:cNvSpPr txBox="1"/>
          <p:nvPr/>
        </p:nvSpPr>
        <p:spPr>
          <a:xfrm>
            <a:off x="4617720" y="2651760"/>
            <a:ext cx="2971800" cy="2651760"/>
          </a:xfrm>
          <a:prstGeom prst="rect">
            <a:avLst/>
          </a:prstGeom>
          <a:noFill/>
        </p:spPr>
        <p:txBody>
          <a:bodyPr wrap="square" anchor="t" lIns="45720" rIns="45720" tIns="27432" bIns="27432">
            <a:spAutoFit/>
          </a:bodyPr>
          <a:lstStyle/>
          <a:p>
            <a:pPr algn="l">
              <a:spcAft>
                <a:spcPts val="400"/>
              </a:spcAft>
            </a:pPr>
            <a:r>
              <a:rPr sz="1300" b="0">
                <a:solidFill>
                  <a:srgbClr val="E8EAF0"/>
                </a:solidFill>
                <a:latin typeface="Red Hat Display"/>
              </a:rPr>
              <a:t>Line breaking and text width</a:t>
            </a:r>
          </a:p>
          <a:p>
            <a:pPr algn="l">
              <a:spcAft>
                <a:spcPts val="400"/>
              </a:spcAft>
            </a:pPr>
            <a:r>
              <a:rPr sz="1300" b="0">
                <a:solidFill>
                  <a:srgbClr val="E8EAF0"/>
                </a:solidFill>
                <a:latin typeface="Red Hat Display"/>
              </a:rPr>
              <a:t>Float placement</a:t>
            </a:r>
          </a:p>
          <a:p>
            <a:pPr algn="l">
              <a:spcAft>
                <a:spcPts val="400"/>
              </a:spcAft>
            </a:pPr>
            <a:r>
              <a:rPr sz="1300" b="0">
                <a:solidFill>
                  <a:srgbClr val="E8EAF0"/>
                </a:solidFill>
                <a:latin typeface="Red Hat Display"/>
              </a:rPr>
              <a:t>Footnote extent</a:t>
            </a:r>
          </a:p>
          <a:p>
            <a:pPr algn="l">
              <a:spcAft>
                <a:spcPts val="400"/>
              </a:spcAft>
            </a:pPr>
            <a:r>
              <a:rPr sz="1300" b="0">
                <a:solidFill>
                  <a:srgbClr val="E8EAF0"/>
                </a:solidFill>
                <a:latin typeface="Red Hat Display"/>
              </a:rPr>
              <a:t>Nondeterministic output such as random values</a:t>
            </a:r>
          </a:p>
          <a:p>
            <a:pPr algn="l">
              <a:spcAft>
                <a:spcPts val="400"/>
              </a:spcAft>
            </a:pPr>
            <a:r>
              <a:rPr sz="1300" b="0">
                <a:solidFill>
                  <a:srgbClr val="E8EAF0"/>
                </a:solidFill>
                <a:latin typeface="Red Hat Display"/>
              </a:rPr>
              <a:t>Macro bodies: recorded, never expanded</a:t>
            </a:r>
          </a:p>
        </p:txBody>
      </p:sp>
      <p:sp>
        <p:nvSpPr>
          <p:cNvPr id="16" name="Rounded Rectangle 15"/>
          <p:cNvSpPr/>
          <p:nvPr/>
        </p:nvSpPr>
        <p:spPr>
          <a:xfrm>
            <a:off x="8046720" y="1874519"/>
            <a:ext cx="3291840" cy="347472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874519"/>
            <a:ext cx="3291840" cy="73152"/>
          </a:xfrm>
          <a:prstGeom prst="rect">
            <a:avLst/>
          </a:prstGeom>
          <a:solidFill>
            <a:srgbClr val="CBD2DC"/>
          </a:solidFill>
          <a:ln w="12700">
            <a:solidFill>
              <a:srgbClr val="CBD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057400"/>
            <a:ext cx="2926080" cy="457200"/>
          </a:xfrm>
          <a:prstGeom prst="rect">
            <a:avLst/>
          </a:prstGeom>
          <a:noFill/>
        </p:spPr>
        <p:txBody>
          <a:bodyPr wrap="square" anchor="t" lIns="45720" rIns="45720" tIns="27432" bIns="27432">
            <a:spAutoFit/>
          </a:bodyPr>
          <a:lstStyle/>
          <a:p>
            <a:pPr algn="l">
              <a:spcAft>
                <a:spcPts val="400"/>
              </a:spcAft>
            </a:pPr>
            <a:r>
              <a:rPr sz="1700" b="1">
                <a:solidFill>
                  <a:srgbClr val="CBD2DC"/>
                </a:solidFill>
                <a:latin typeface="Montserrat Alternates"/>
              </a:rPr>
              <a:t>Design limits</a:t>
            </a:r>
          </a:p>
        </p:txBody>
      </p:sp>
      <p:sp>
        <p:nvSpPr>
          <p:cNvPr id="19" name="TextBox 18"/>
          <p:cNvSpPr txBox="1"/>
          <p:nvPr/>
        </p:nvSpPr>
        <p:spPr>
          <a:xfrm>
            <a:off x="8229600" y="2651760"/>
            <a:ext cx="2971800" cy="2651760"/>
          </a:xfrm>
          <a:prstGeom prst="rect">
            <a:avLst/>
          </a:prstGeom>
          <a:noFill/>
        </p:spPr>
        <p:txBody>
          <a:bodyPr wrap="square" anchor="t" lIns="45720" rIns="45720" tIns="27432" bIns="27432">
            <a:spAutoFit/>
          </a:bodyPr>
          <a:lstStyle/>
          <a:p>
            <a:pPr algn="l">
              <a:spcAft>
                <a:spcPts val="400"/>
              </a:spcAft>
            </a:pPr>
            <a:r>
              <a:rPr sz="1300" b="0">
                <a:solidFill>
                  <a:srgbClr val="E8EAF0"/>
                </a:solidFill>
                <a:latin typeface="Red Hat Display"/>
              </a:rPr>
              <a:t>One opaque construct downgrades the whole document</a:t>
            </a:r>
          </a:p>
          <a:p>
            <a:pPr algn="l">
              <a:spcAft>
                <a:spcPts val="400"/>
              </a:spcAft>
            </a:pPr>
            <a:r>
              <a:rPr sz="1300" b="0">
                <a:solidFill>
                  <a:srgbClr val="E8EAF0"/>
                </a:solidFill>
                <a:latin typeface="Red Hat Display"/>
              </a:rPr>
              <a:t>The pass count is a bound, not a minimum</a:t>
            </a:r>
          </a:p>
          <a:p>
            <a:pPr algn="l">
              <a:spcAft>
                <a:spcPts val="400"/>
              </a:spcAft>
            </a:pPr>
            <a:r>
              <a:rPr sz="1300" b="0">
                <a:solidFill>
                  <a:srgbClr val="E8EAF0"/>
                </a:solidFill>
                <a:latin typeface="Red Hat Display"/>
              </a:rPr>
              <a:t>Assumes resolving a reference does not alter pagination</a:t>
            </a:r>
          </a:p>
          <a:p>
            <a:pPr algn="l">
              <a:spcAft>
                <a:spcPts val="400"/>
              </a:spcAft>
            </a:pPr>
            <a:r>
              <a:rPr sz="1300" b="0">
                <a:solidFill>
                  <a:srgbClr val="E8EAF0"/>
                </a:solidFill>
                <a:latin typeface="Red Hat Display"/>
              </a:rPr>
              <a:t>15 documents, mostly synthetic</a:t>
            </a:r>
          </a:p>
        </p:txBody>
      </p:sp>
      <p:sp>
        <p:nvSpPr>
          <p:cNvPr id="20" name="Rounded Rectangle 19"/>
          <p:cNvSpPr/>
          <p:nvPr/>
        </p:nvSpPr>
        <p:spPr>
          <a:xfrm>
            <a:off x="822960" y="5486400"/>
            <a:ext cx="10607040" cy="640080"/>
          </a:xfrm>
          <a:prstGeom prst="roundRect">
            <a:avLst>
              <a:gd name="adj" fmla="val 10000"/>
            </a:avLst>
          </a:prstGeom>
          <a:solidFill>
            <a:srgbClr val="171A21"/>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486400"/>
            <a:ext cx="10607040" cy="640080"/>
          </a:xfrm>
          <a:prstGeom prst="rect">
            <a:avLst/>
          </a:prstGeom>
          <a:noFill/>
        </p:spPr>
        <p:txBody>
          <a:bodyPr wrap="square" anchor="ctr" lIns="45720" rIns="45720" tIns="27432" bIns="27432">
            <a:spAutoFit/>
          </a:bodyPr>
          <a:lstStyle/>
          <a:p>
            <a:pPr algn="ctr">
              <a:spcAft>
                <a:spcPts val="400"/>
              </a:spcAft>
            </a:pPr>
            <a:r>
              <a:rPr sz="1600" b="1">
                <a:solidFill>
                  <a:srgbClr val="34D399"/>
                </a:solidFill>
                <a:latin typeface="Montserrat Alternates"/>
              </a:rPr>
              <a:t>UNKNOWN is safe: at least three runs, checked by runtime. It does not mean the document fails.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itle 1"/>
          <p:cNvSpPr>
            <a:spLocks noGrp="1"/>
          </p:cNvSpPr>
          <p:nvPr>
            <p:ph type="title"/>
          </p:nvPr>
        </p:nvSpPr>
        <p:spPr>
          <a:xfrm>
            <a:off x="685800" y="960120"/>
            <a:ext cx="10789920" cy="731520"/>
          </a:xfrm>
        </p:spPr>
        <p:txBody>
          <a:bodyPr wrap="square" anchor="t" lIns="45720" rIns="45720" tIns="27432" bIns="27432"/>
          <a:lstStyle/>
          <a:p>
            <a:pPr algn="l"/>
            <a:r>
              <a:rPr sz="3200" b="1">
                <a:solidFill>
                  <a:srgbClr val="E8EAF0"/>
                </a:solidFill>
                <a:latin typeface="Montserrat Alternates"/>
              </a:rPr>
              <a:t>Where it helps</a:t>
            </a:r>
          </a:p>
        </p:txBody>
      </p:sp>
      <p:sp>
        <p:nvSpPr>
          <p:cNvPr id="3" name="Rectangle 2"/>
          <p:cNvSpPr/>
          <p:nvPr/>
        </p:nvSpPr>
        <p:spPr>
          <a:xfrm>
            <a:off x="731520" y="566928"/>
            <a:ext cx="320040" cy="457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8229600" cy="320040"/>
          </a:xfrm>
          <a:prstGeom prst="rect">
            <a:avLst/>
          </a:prstGeom>
          <a:noFill/>
        </p:spPr>
        <p:txBody>
          <a:bodyPr wrap="square" anchor="t" lIns="45720" rIns="45720" tIns="27432" bIns="27432">
            <a:spAutoFit/>
          </a:bodyPr>
          <a:lstStyle/>
          <a:p>
            <a:pPr algn="l">
              <a:spcAft>
                <a:spcPts val="400"/>
              </a:spcAft>
            </a:pPr>
            <a:r>
              <a:rPr sz="1200" b="1">
                <a:solidFill>
                  <a:srgbClr val="A78BFA"/>
                </a:solidFill>
                <a:latin typeface="Montserrat Alternates"/>
              </a:rPr>
              <a:t>USE CASES</a:t>
            </a:r>
          </a:p>
        </p:txBody>
      </p:sp>
      <p:sp>
        <p:nvSpPr>
          <p:cNvPr id="5" name="Rectangle 4"/>
          <p:cNvSpPr/>
          <p:nvPr/>
        </p:nvSpPr>
        <p:spPr>
          <a:xfrm>
            <a:off x="731520" y="6263640"/>
            <a:ext cx="10725912" cy="9144"/>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355080"/>
            <a:ext cx="3657600" cy="274320"/>
          </a:xfrm>
          <a:prstGeom prst="rect">
            <a:avLst/>
          </a:prstGeom>
          <a:noFill/>
        </p:spPr>
        <p:txBody>
          <a:bodyPr wrap="square" anchor="t" lIns="45720" rIns="45720" tIns="27432" bIns="27432">
            <a:spAutoFit/>
          </a:bodyPr>
          <a:lstStyle/>
          <a:p>
            <a:pPr algn="l">
              <a:spcAft>
                <a:spcPts val="400"/>
              </a:spcAft>
            </a:pPr>
            <a:r>
              <a:rPr sz="1100" b="0">
                <a:solidFill>
                  <a:srgbClr val="8B93A1"/>
                </a:solidFill>
                <a:latin typeface="Red Hat Display"/>
              </a:rPr>
              <a:t>AuxFlow</a:t>
            </a:r>
          </a:p>
        </p:txBody>
      </p:sp>
      <p:sp>
        <p:nvSpPr>
          <p:cNvPr id="7" name="TextBox 6"/>
          <p:cNvSpPr txBox="1"/>
          <p:nvPr/>
        </p:nvSpPr>
        <p:spPr>
          <a:xfrm>
            <a:off x="10789920" y="6355080"/>
            <a:ext cx="731520" cy="274320"/>
          </a:xfrm>
          <a:prstGeom prst="rect">
            <a:avLst/>
          </a:prstGeom>
          <a:noFill/>
        </p:spPr>
        <p:txBody>
          <a:bodyPr wrap="square" anchor="t" lIns="45720" rIns="45720" tIns="27432" bIns="27432">
            <a:spAutoFit/>
          </a:bodyPr>
          <a:lstStyle/>
          <a:p>
            <a:pPr algn="r">
              <a:spcAft>
                <a:spcPts val="400"/>
              </a:spcAft>
            </a:pPr>
            <a:r>
              <a:rPr sz="1100" b="0">
                <a:solidFill>
                  <a:srgbClr val="8B93A1"/>
                </a:solidFill>
                <a:latin typeface="Red Hat Display"/>
              </a:rPr>
              <a:t>13</a:t>
            </a:r>
          </a:p>
        </p:txBody>
      </p:sp>
      <p:sp>
        <p:nvSpPr>
          <p:cNvPr id="8" name="Rounded Rectangle 7"/>
          <p:cNvSpPr/>
          <p:nvPr/>
        </p:nvSpPr>
        <p:spPr>
          <a:xfrm>
            <a:off x="822960" y="2103120"/>
            <a:ext cx="2468880" cy="301752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103120"/>
            <a:ext cx="2468880" cy="73152"/>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423160"/>
            <a:ext cx="2194560" cy="731520"/>
          </a:xfrm>
          <a:prstGeom prst="rect">
            <a:avLst/>
          </a:prstGeom>
          <a:noFill/>
        </p:spPr>
        <p:txBody>
          <a:bodyPr wrap="square" anchor="t" lIns="45720" rIns="45720" tIns="27432" bIns="27432">
            <a:spAutoFit/>
          </a:bodyPr>
          <a:lstStyle/>
          <a:p>
            <a:pPr algn="ctr">
              <a:spcAft>
                <a:spcPts val="400"/>
              </a:spcAft>
            </a:pPr>
            <a:r>
              <a:rPr sz="1900" b="1">
                <a:solidFill>
                  <a:srgbClr val="E8EAF0"/>
                </a:solidFill>
                <a:latin typeface="Montserrat Alternates"/>
              </a:rPr>
              <a:t>Reference checks</a:t>
            </a:r>
          </a:p>
        </p:txBody>
      </p:sp>
      <p:sp>
        <p:nvSpPr>
          <p:cNvPr id="11" name="TextBox 10"/>
          <p:cNvSpPr txBox="1"/>
          <p:nvPr/>
        </p:nvSpPr>
        <p:spPr>
          <a:xfrm>
            <a:off x="1005840" y="3200400"/>
            <a:ext cx="2103120" cy="1188720"/>
          </a:xfrm>
          <a:prstGeom prst="rect">
            <a:avLst/>
          </a:prstGeom>
          <a:noFill/>
        </p:spPr>
        <p:txBody>
          <a:bodyPr wrap="square" anchor="t" lIns="45720" rIns="45720" tIns="27432" bIns="27432">
            <a:spAutoFit/>
          </a:bodyPr>
          <a:lstStyle/>
          <a:p>
            <a:pPr algn="ctr">
              <a:spcAft>
                <a:spcPts val="400"/>
              </a:spcAft>
            </a:pPr>
            <a:r>
              <a:rPr sz="1500" b="0">
                <a:solidFill>
                  <a:srgbClr val="8B93A1"/>
                </a:solidFill>
                <a:latin typeface="Red Hat Display"/>
              </a:rPr>
              <a:t>Find undefined labels and missing citations in CI.</a:t>
            </a:r>
          </a:p>
        </p:txBody>
      </p:sp>
      <p:sp>
        <p:nvSpPr>
          <p:cNvPr id="12" name="TextBox 11"/>
          <p:cNvSpPr txBox="1"/>
          <p:nvPr/>
        </p:nvSpPr>
        <p:spPr>
          <a:xfrm>
            <a:off x="914400" y="4434840"/>
            <a:ext cx="2286000" cy="457200"/>
          </a:xfrm>
          <a:prstGeom prst="rect">
            <a:avLst/>
          </a:prstGeom>
          <a:noFill/>
        </p:spPr>
        <p:txBody>
          <a:bodyPr wrap="square" anchor="t" lIns="45720" rIns="45720" tIns="27432" bIns="27432">
            <a:spAutoFit/>
          </a:bodyPr>
          <a:lstStyle/>
          <a:p>
            <a:pPr algn="ctr">
              <a:spcAft>
                <a:spcPts val="400"/>
              </a:spcAft>
            </a:pPr>
            <a:r>
              <a:rPr sz="1200" b="0">
                <a:solidFill>
                  <a:srgbClr val="A78BFA"/>
                </a:solidFill>
                <a:latin typeface="Red Hat Mono"/>
              </a:rPr>
              <a:t>auxflow check --json</a:t>
            </a:r>
          </a:p>
        </p:txBody>
      </p:sp>
      <p:sp>
        <p:nvSpPr>
          <p:cNvPr id="13" name="Rounded Rectangle 12"/>
          <p:cNvSpPr/>
          <p:nvPr/>
        </p:nvSpPr>
        <p:spPr>
          <a:xfrm>
            <a:off x="3520440" y="2103120"/>
            <a:ext cx="2468880" cy="301752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2103120"/>
            <a:ext cx="2468880" cy="73152"/>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2423160"/>
            <a:ext cx="2194560" cy="731520"/>
          </a:xfrm>
          <a:prstGeom prst="rect">
            <a:avLst/>
          </a:prstGeom>
          <a:noFill/>
        </p:spPr>
        <p:txBody>
          <a:bodyPr wrap="square" anchor="t" lIns="45720" rIns="45720" tIns="27432" bIns="27432">
            <a:spAutoFit/>
          </a:bodyPr>
          <a:lstStyle/>
          <a:p>
            <a:pPr algn="ctr">
              <a:spcAft>
                <a:spcPts val="400"/>
              </a:spcAft>
            </a:pPr>
            <a:r>
              <a:rPr sz="1900" b="1">
                <a:solidFill>
                  <a:srgbClr val="E8EAF0"/>
                </a:solidFill>
                <a:latin typeface="Montserrat Alternates"/>
              </a:rPr>
              <a:t>Editor feedback</a:t>
            </a:r>
          </a:p>
        </p:txBody>
      </p:sp>
      <p:sp>
        <p:nvSpPr>
          <p:cNvPr id="16" name="TextBox 15"/>
          <p:cNvSpPr txBox="1"/>
          <p:nvPr/>
        </p:nvSpPr>
        <p:spPr>
          <a:xfrm>
            <a:off x="3703320" y="3200400"/>
            <a:ext cx="2103120" cy="1188720"/>
          </a:xfrm>
          <a:prstGeom prst="rect">
            <a:avLst/>
          </a:prstGeom>
          <a:noFill/>
        </p:spPr>
        <p:txBody>
          <a:bodyPr wrap="square" anchor="t" lIns="45720" rIns="45720" tIns="27432" bIns="27432">
            <a:spAutoFit/>
          </a:bodyPr>
          <a:lstStyle/>
          <a:p>
            <a:pPr algn="ctr">
              <a:spcAft>
                <a:spcPts val="400"/>
              </a:spcAft>
            </a:pPr>
            <a:r>
              <a:rPr sz="1500" b="0">
                <a:solidFill>
                  <a:srgbClr val="8B93A1"/>
                </a:solidFill>
                <a:latin typeface="Red Hat Display"/>
              </a:rPr>
              <a:t>See warnings and the state while you write.</a:t>
            </a:r>
          </a:p>
        </p:txBody>
      </p:sp>
      <p:sp>
        <p:nvSpPr>
          <p:cNvPr id="17" name="TextBox 16"/>
          <p:cNvSpPr txBox="1"/>
          <p:nvPr/>
        </p:nvSpPr>
        <p:spPr>
          <a:xfrm>
            <a:off x="3611880" y="4434840"/>
            <a:ext cx="2286000" cy="457200"/>
          </a:xfrm>
          <a:prstGeom prst="rect">
            <a:avLst/>
          </a:prstGeom>
          <a:noFill/>
        </p:spPr>
        <p:txBody>
          <a:bodyPr wrap="square" anchor="t" lIns="45720" rIns="45720" tIns="27432" bIns="27432">
            <a:spAutoFit/>
          </a:bodyPr>
          <a:lstStyle/>
          <a:p>
            <a:pPr algn="ctr">
              <a:spcAft>
                <a:spcPts val="400"/>
              </a:spcAft>
            </a:pPr>
            <a:r>
              <a:rPr sz="1200" b="0">
                <a:solidFill>
                  <a:srgbClr val="A78BFA"/>
                </a:solidFill>
                <a:latin typeface="Red Hat Mono"/>
              </a:rPr>
              <a:t>VS Code extension</a:t>
            </a:r>
          </a:p>
        </p:txBody>
      </p:sp>
      <p:sp>
        <p:nvSpPr>
          <p:cNvPr id="18" name="Rounded Rectangle 17"/>
          <p:cNvSpPr/>
          <p:nvPr/>
        </p:nvSpPr>
        <p:spPr>
          <a:xfrm>
            <a:off x="6217920" y="2103120"/>
            <a:ext cx="2468880" cy="301752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103120"/>
            <a:ext cx="2468880" cy="73152"/>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2423160"/>
            <a:ext cx="2194560" cy="731520"/>
          </a:xfrm>
          <a:prstGeom prst="rect">
            <a:avLst/>
          </a:prstGeom>
          <a:noFill/>
        </p:spPr>
        <p:txBody>
          <a:bodyPr wrap="square" anchor="t" lIns="45720" rIns="45720" tIns="27432" bIns="27432">
            <a:spAutoFit/>
          </a:bodyPr>
          <a:lstStyle/>
          <a:p>
            <a:pPr algn="ctr">
              <a:spcAft>
                <a:spcPts val="400"/>
              </a:spcAft>
            </a:pPr>
            <a:r>
              <a:rPr sz="1900" b="1">
                <a:solidFill>
                  <a:srgbClr val="E8EAF0"/>
                </a:solidFill>
                <a:latin typeface="Montserrat Alternates"/>
              </a:rPr>
              <a:t>Long documents</a:t>
            </a:r>
          </a:p>
        </p:txBody>
      </p:sp>
      <p:sp>
        <p:nvSpPr>
          <p:cNvPr id="21" name="TextBox 20"/>
          <p:cNvSpPr txBox="1"/>
          <p:nvPr/>
        </p:nvSpPr>
        <p:spPr>
          <a:xfrm>
            <a:off x="6400800" y="3200400"/>
            <a:ext cx="2103120" cy="1188720"/>
          </a:xfrm>
          <a:prstGeom prst="rect">
            <a:avLst/>
          </a:prstGeom>
          <a:noFill/>
        </p:spPr>
        <p:txBody>
          <a:bodyPr wrap="square" anchor="t" lIns="45720" rIns="45720" tIns="27432" bIns="27432">
            <a:spAutoFit/>
          </a:bodyPr>
          <a:lstStyle/>
          <a:p>
            <a:pPr algn="ctr">
              <a:spcAft>
                <a:spcPts val="400"/>
              </a:spcAft>
            </a:pPr>
            <a:r>
              <a:rPr sz="1500" b="0">
                <a:solidFill>
                  <a:srgbClr val="8B93A1"/>
                </a:solidFill>
                <a:latin typeface="Red Hat Display"/>
              </a:rPr>
              <a:t>Plan the runs for a thesis with contents and a bibliography.</a:t>
            </a:r>
          </a:p>
        </p:txBody>
      </p:sp>
      <p:sp>
        <p:nvSpPr>
          <p:cNvPr id="22" name="TextBox 21"/>
          <p:cNvSpPr txBox="1"/>
          <p:nvPr/>
        </p:nvSpPr>
        <p:spPr>
          <a:xfrm>
            <a:off x="6309360" y="4434840"/>
            <a:ext cx="2286000" cy="457200"/>
          </a:xfrm>
          <a:prstGeom prst="rect">
            <a:avLst/>
          </a:prstGeom>
          <a:noFill/>
        </p:spPr>
        <p:txBody>
          <a:bodyPr wrap="square" anchor="t" lIns="45720" rIns="45720" tIns="27432" bIns="27432">
            <a:spAutoFit/>
          </a:bodyPr>
          <a:lstStyle/>
          <a:p>
            <a:pPr algn="ctr">
              <a:spcAft>
                <a:spcPts val="400"/>
              </a:spcAft>
            </a:pPr>
            <a:r>
              <a:rPr sz="1200" b="0">
                <a:solidFill>
                  <a:srgbClr val="A78BFA"/>
                </a:solidFill>
                <a:latin typeface="Red Hat Mono"/>
              </a:rPr>
              <a:t>auxflow plan --explain</a:t>
            </a:r>
          </a:p>
        </p:txBody>
      </p:sp>
      <p:sp>
        <p:nvSpPr>
          <p:cNvPr id="23" name="Rounded Rectangle 22"/>
          <p:cNvSpPr/>
          <p:nvPr/>
        </p:nvSpPr>
        <p:spPr>
          <a:xfrm>
            <a:off x="8915400" y="2103120"/>
            <a:ext cx="2468880" cy="3017520"/>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2103120"/>
            <a:ext cx="2468880" cy="73152"/>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0" y="2423160"/>
            <a:ext cx="2194560" cy="731520"/>
          </a:xfrm>
          <a:prstGeom prst="rect">
            <a:avLst/>
          </a:prstGeom>
          <a:noFill/>
        </p:spPr>
        <p:txBody>
          <a:bodyPr wrap="square" anchor="t" lIns="45720" rIns="45720" tIns="27432" bIns="27432">
            <a:spAutoFit/>
          </a:bodyPr>
          <a:lstStyle/>
          <a:p>
            <a:pPr algn="ctr">
              <a:spcAft>
                <a:spcPts val="400"/>
              </a:spcAft>
            </a:pPr>
            <a:r>
              <a:rPr sz="1900" b="1">
                <a:solidFill>
                  <a:srgbClr val="E8EAF0"/>
                </a:solidFill>
                <a:latin typeface="Montserrat Alternates"/>
              </a:rPr>
              <a:t>Runaway builds</a:t>
            </a:r>
          </a:p>
        </p:txBody>
      </p:sp>
      <p:sp>
        <p:nvSpPr>
          <p:cNvPr id="26" name="TextBox 25"/>
          <p:cNvSpPr txBox="1"/>
          <p:nvPr/>
        </p:nvSpPr>
        <p:spPr>
          <a:xfrm>
            <a:off x="9098280" y="3200400"/>
            <a:ext cx="2103120" cy="1188720"/>
          </a:xfrm>
          <a:prstGeom prst="rect">
            <a:avLst/>
          </a:prstGeom>
          <a:noFill/>
        </p:spPr>
        <p:txBody>
          <a:bodyPr wrap="square" anchor="t" lIns="45720" rIns="45720" tIns="27432" bIns="27432">
            <a:spAutoFit/>
          </a:bodyPr>
          <a:lstStyle/>
          <a:p>
            <a:pPr algn="ctr">
              <a:spcAft>
                <a:spcPts val="400"/>
              </a:spcAft>
            </a:pPr>
            <a:r>
              <a:rPr sz="1500" b="0">
                <a:solidFill>
                  <a:srgbClr val="8B93A1"/>
                </a:solidFill>
                <a:latin typeface="Red Hat Display"/>
              </a:rPr>
              <a:t>Refuse a document that never settles before it burns runs.</a:t>
            </a:r>
          </a:p>
        </p:txBody>
      </p:sp>
      <p:sp>
        <p:nvSpPr>
          <p:cNvPr id="27" name="TextBox 26"/>
          <p:cNvSpPr txBox="1"/>
          <p:nvPr/>
        </p:nvSpPr>
        <p:spPr>
          <a:xfrm>
            <a:off x="9006840" y="4434840"/>
            <a:ext cx="2286000" cy="457200"/>
          </a:xfrm>
          <a:prstGeom prst="rect">
            <a:avLst/>
          </a:prstGeom>
          <a:noFill/>
        </p:spPr>
        <p:txBody>
          <a:bodyPr wrap="square" anchor="t" lIns="45720" rIns="45720" tIns="27432" bIns="27432">
            <a:spAutoFit/>
          </a:bodyPr>
          <a:lstStyle/>
          <a:p>
            <a:pPr algn="ctr">
              <a:spcAft>
                <a:spcPts val="400"/>
              </a:spcAft>
            </a:pPr>
            <a:r>
              <a:rPr sz="1200" b="0">
                <a:solidFill>
                  <a:srgbClr val="A78BFA"/>
                </a:solidFill>
                <a:latin typeface="Red Hat Mono"/>
              </a:rPr>
              <a:t>auxflow classify</a:t>
            </a:r>
          </a:p>
        </p:txBody>
      </p:sp>
      <p:sp>
        <p:nvSpPr>
          <p:cNvPr id="28" name="TextBox 27"/>
          <p:cNvSpPr txBox="1"/>
          <p:nvPr/>
        </p:nvSpPr>
        <p:spPr>
          <a:xfrm>
            <a:off x="822960" y="5440680"/>
            <a:ext cx="10515600" cy="548640"/>
          </a:xfrm>
          <a:prstGeom prst="rect">
            <a:avLst/>
          </a:prstGeom>
          <a:noFill/>
        </p:spPr>
        <p:txBody>
          <a:bodyPr wrap="square" anchor="t" lIns="45720" rIns="45720" tIns="27432" bIns="27432">
            <a:spAutoFit/>
          </a:bodyPr>
          <a:lstStyle/>
          <a:p>
            <a:pPr algn="l">
              <a:spcAft>
                <a:spcPts val="400"/>
              </a:spcAft>
            </a:pPr>
            <a:r>
              <a:rPr sz="1800" b="0">
                <a:solidFill>
                  <a:srgbClr val="8B93A1"/>
                </a:solidFill>
                <a:latin typeface="Red Hat Display"/>
              </a:rPr>
              <a:t>pip install auxflow. Python 3.12 or newer, no runtime dependencies, MIT license.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itle 1"/>
          <p:cNvSpPr>
            <a:spLocks noGrp="1"/>
          </p:cNvSpPr>
          <p:nvPr>
            <p:ph type="title"/>
          </p:nvPr>
        </p:nvSpPr>
        <p:spPr>
          <a:xfrm>
            <a:off x="685800" y="960120"/>
            <a:ext cx="10789920" cy="731520"/>
          </a:xfrm>
        </p:spPr>
        <p:txBody>
          <a:bodyPr wrap="square" anchor="t" lIns="45720" rIns="45720" tIns="27432" bIns="27432"/>
          <a:lstStyle/>
          <a:p>
            <a:pPr algn="l"/>
            <a:r>
              <a:rPr sz="3200" b="1">
                <a:solidFill>
                  <a:srgbClr val="E8EAF0"/>
                </a:solidFill>
                <a:latin typeface="Montserrat Alternates"/>
              </a:rPr>
              <a:t>Questions you may have</a:t>
            </a:r>
          </a:p>
        </p:txBody>
      </p:sp>
      <p:sp>
        <p:nvSpPr>
          <p:cNvPr id="3" name="Rectangle 2"/>
          <p:cNvSpPr/>
          <p:nvPr/>
        </p:nvSpPr>
        <p:spPr>
          <a:xfrm>
            <a:off x="731520" y="566928"/>
            <a:ext cx="320040" cy="45720"/>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58368"/>
            <a:ext cx="8229600" cy="320040"/>
          </a:xfrm>
          <a:prstGeom prst="rect">
            <a:avLst/>
          </a:prstGeom>
          <a:noFill/>
        </p:spPr>
        <p:txBody>
          <a:bodyPr wrap="square" anchor="t" lIns="45720" rIns="45720" tIns="27432" bIns="27432">
            <a:spAutoFit/>
          </a:bodyPr>
          <a:lstStyle/>
          <a:p>
            <a:pPr algn="l">
              <a:spcAft>
                <a:spcPts val="400"/>
              </a:spcAft>
            </a:pPr>
            <a:r>
              <a:rPr sz="1200" b="1">
                <a:solidFill>
                  <a:srgbClr val="A78BFA"/>
                </a:solidFill>
                <a:latin typeface="Montserrat Alternates"/>
              </a:rPr>
              <a:t>FAQ</a:t>
            </a:r>
          </a:p>
        </p:txBody>
      </p:sp>
      <p:sp>
        <p:nvSpPr>
          <p:cNvPr id="5" name="Rectangle 4"/>
          <p:cNvSpPr/>
          <p:nvPr/>
        </p:nvSpPr>
        <p:spPr>
          <a:xfrm>
            <a:off x="731520" y="6263640"/>
            <a:ext cx="10725912" cy="9144"/>
          </a:xfrm>
          <a:prstGeom prst="rect">
            <a:avLst/>
          </a:prstGeom>
          <a:solidFill>
            <a:srgbClr val="2A2F3A"/>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6355080"/>
            <a:ext cx="3657600" cy="274320"/>
          </a:xfrm>
          <a:prstGeom prst="rect">
            <a:avLst/>
          </a:prstGeom>
          <a:noFill/>
        </p:spPr>
        <p:txBody>
          <a:bodyPr wrap="square" anchor="t" lIns="45720" rIns="45720" tIns="27432" bIns="27432">
            <a:spAutoFit/>
          </a:bodyPr>
          <a:lstStyle/>
          <a:p>
            <a:pPr algn="l">
              <a:spcAft>
                <a:spcPts val="400"/>
              </a:spcAft>
            </a:pPr>
            <a:r>
              <a:rPr sz="1100" b="0">
                <a:solidFill>
                  <a:srgbClr val="8B93A1"/>
                </a:solidFill>
                <a:latin typeface="Red Hat Display"/>
              </a:rPr>
              <a:t>AuxFlow</a:t>
            </a:r>
          </a:p>
        </p:txBody>
      </p:sp>
      <p:sp>
        <p:nvSpPr>
          <p:cNvPr id="7" name="TextBox 6"/>
          <p:cNvSpPr txBox="1"/>
          <p:nvPr/>
        </p:nvSpPr>
        <p:spPr>
          <a:xfrm>
            <a:off x="10789920" y="6355080"/>
            <a:ext cx="731520" cy="274320"/>
          </a:xfrm>
          <a:prstGeom prst="rect">
            <a:avLst/>
          </a:prstGeom>
          <a:noFill/>
        </p:spPr>
        <p:txBody>
          <a:bodyPr wrap="square" anchor="t" lIns="45720" rIns="45720" tIns="27432" bIns="27432">
            <a:spAutoFit/>
          </a:bodyPr>
          <a:lstStyle/>
          <a:p>
            <a:pPr algn="r">
              <a:spcAft>
                <a:spcPts val="400"/>
              </a:spcAft>
            </a:pPr>
            <a:r>
              <a:rPr sz="1100" b="0">
                <a:solidFill>
                  <a:srgbClr val="8B93A1"/>
                </a:solidFill>
                <a:latin typeface="Red Hat Display"/>
              </a:rPr>
              <a:t>14</a:t>
            </a:r>
          </a:p>
        </p:txBody>
      </p:sp>
      <p:sp>
        <p:nvSpPr>
          <p:cNvPr id="8" name="Rounded Rectangle 7"/>
          <p:cNvSpPr/>
          <p:nvPr/>
        </p:nvSpPr>
        <p:spPr>
          <a:xfrm>
            <a:off x="822960" y="1920240"/>
            <a:ext cx="3291840" cy="1874519"/>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1920240"/>
            <a:ext cx="64008" cy="1874519"/>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057400"/>
            <a:ext cx="2971800" cy="731520"/>
          </a:xfrm>
          <a:prstGeom prst="rect">
            <a:avLst/>
          </a:prstGeom>
          <a:noFill/>
        </p:spPr>
        <p:txBody>
          <a:bodyPr wrap="square" anchor="t" lIns="45720" rIns="45720" tIns="27432" bIns="27432">
            <a:spAutoFit/>
          </a:bodyPr>
          <a:lstStyle/>
          <a:p>
            <a:pPr algn="l">
              <a:spcAft>
                <a:spcPts val="400"/>
              </a:spcAft>
            </a:pPr>
            <a:r>
              <a:rPr sz="1500" b="1">
                <a:solidFill>
                  <a:srgbClr val="E8EAF0"/>
                </a:solidFill>
                <a:latin typeface="Montserrat Alternates"/>
              </a:rPr>
              <a:t>Does it replace pdflatex?</a:t>
            </a:r>
          </a:p>
        </p:txBody>
      </p:sp>
      <p:sp>
        <p:nvSpPr>
          <p:cNvPr id="11" name="TextBox 10"/>
          <p:cNvSpPr txBox="1"/>
          <p:nvPr/>
        </p:nvSpPr>
        <p:spPr>
          <a:xfrm>
            <a:off x="1051560" y="2788920"/>
            <a:ext cx="2971800" cy="1005840"/>
          </a:xfrm>
          <a:prstGeom prst="rect">
            <a:avLst/>
          </a:prstGeom>
          <a:noFill/>
        </p:spPr>
        <p:txBody>
          <a:bodyPr wrap="square" anchor="t" lIns="45720" rIns="45720" tIns="27432" bIns="27432">
            <a:spAutoFit/>
          </a:bodyPr>
          <a:lstStyle/>
          <a:p>
            <a:pPr algn="l">
              <a:spcAft>
                <a:spcPts val="400"/>
              </a:spcAft>
            </a:pPr>
            <a:r>
              <a:rPr sz="1400" b="0">
                <a:solidFill>
                  <a:srgbClr val="8B93A1"/>
                </a:solidFill>
                <a:latin typeface="Red Hat Display"/>
              </a:rPr>
              <a:t>No. It plans and checks runs. auxflow run still starts the TeX engine.</a:t>
            </a:r>
          </a:p>
        </p:txBody>
      </p:sp>
      <p:sp>
        <p:nvSpPr>
          <p:cNvPr id="12" name="Rounded Rectangle 11"/>
          <p:cNvSpPr/>
          <p:nvPr/>
        </p:nvSpPr>
        <p:spPr>
          <a:xfrm>
            <a:off x="4434840" y="1920240"/>
            <a:ext cx="3291840" cy="1874519"/>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1920240"/>
            <a:ext cx="64008" cy="1874519"/>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2057400"/>
            <a:ext cx="2971800" cy="731520"/>
          </a:xfrm>
          <a:prstGeom prst="rect">
            <a:avLst/>
          </a:prstGeom>
          <a:noFill/>
        </p:spPr>
        <p:txBody>
          <a:bodyPr wrap="square" anchor="t" lIns="45720" rIns="45720" tIns="27432" bIns="27432">
            <a:spAutoFit/>
          </a:bodyPr>
          <a:lstStyle/>
          <a:p>
            <a:pPr algn="l">
              <a:spcAft>
                <a:spcPts val="400"/>
              </a:spcAft>
            </a:pPr>
            <a:r>
              <a:rPr sz="1500" b="1">
                <a:solidFill>
                  <a:srgbClr val="E8EAF0"/>
                </a:solidFill>
                <a:latin typeface="Montserrat Alternates"/>
              </a:rPr>
              <a:t>Why not just use latexmk?</a:t>
            </a:r>
          </a:p>
        </p:txBody>
      </p:sp>
      <p:sp>
        <p:nvSpPr>
          <p:cNvPr id="15" name="TextBox 14"/>
          <p:cNvSpPr txBox="1"/>
          <p:nvPr/>
        </p:nvSpPr>
        <p:spPr>
          <a:xfrm>
            <a:off x="4663440" y="2788920"/>
            <a:ext cx="2971800" cy="1005840"/>
          </a:xfrm>
          <a:prstGeom prst="rect">
            <a:avLst/>
          </a:prstGeom>
          <a:noFill/>
        </p:spPr>
        <p:txBody>
          <a:bodyPr wrap="square" anchor="t" lIns="45720" rIns="45720" tIns="27432" bIns="27432">
            <a:spAutoFit/>
          </a:bodyPr>
          <a:lstStyle/>
          <a:p>
            <a:pPr algn="l">
              <a:spcAft>
                <a:spcPts val="400"/>
              </a:spcAft>
            </a:pPr>
            <a:r>
              <a:rPr sz="1400" b="0">
                <a:solidFill>
                  <a:srgbClr val="8B93A1"/>
                </a:solidFill>
                <a:latin typeface="Red Hat Display"/>
              </a:rPr>
              <a:t>latexmk finds out by running, then stops at a cap. AuxFlow decides before the first run.</a:t>
            </a:r>
          </a:p>
        </p:txBody>
      </p:sp>
      <p:sp>
        <p:nvSpPr>
          <p:cNvPr id="16" name="Rounded Rectangle 15"/>
          <p:cNvSpPr/>
          <p:nvPr/>
        </p:nvSpPr>
        <p:spPr>
          <a:xfrm>
            <a:off x="8046720" y="1920240"/>
            <a:ext cx="3291840" cy="1874519"/>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920240"/>
            <a:ext cx="64008" cy="1874519"/>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2057400"/>
            <a:ext cx="2971800" cy="731520"/>
          </a:xfrm>
          <a:prstGeom prst="rect">
            <a:avLst/>
          </a:prstGeom>
          <a:noFill/>
        </p:spPr>
        <p:txBody>
          <a:bodyPr wrap="square" anchor="t" lIns="45720" rIns="45720" tIns="27432" bIns="27432">
            <a:spAutoFit/>
          </a:bodyPr>
          <a:lstStyle/>
          <a:p>
            <a:pPr algn="l">
              <a:spcAft>
                <a:spcPts val="400"/>
              </a:spcAft>
            </a:pPr>
            <a:r>
              <a:rPr sz="1500" b="1">
                <a:solidFill>
                  <a:srgbClr val="E8EAF0"/>
                </a:solidFill>
                <a:latin typeface="Montserrat Alternates"/>
              </a:rPr>
              <a:t>Can the prediction be wrong?</a:t>
            </a:r>
          </a:p>
        </p:txBody>
      </p:sp>
      <p:sp>
        <p:nvSpPr>
          <p:cNvPr id="19" name="TextBox 18"/>
          <p:cNvSpPr txBox="1"/>
          <p:nvPr/>
        </p:nvSpPr>
        <p:spPr>
          <a:xfrm>
            <a:off x="8275320" y="2788920"/>
            <a:ext cx="2971800" cy="1005840"/>
          </a:xfrm>
          <a:prstGeom prst="rect">
            <a:avLst/>
          </a:prstGeom>
          <a:noFill/>
        </p:spPr>
        <p:txBody>
          <a:bodyPr wrap="square" anchor="t" lIns="45720" rIns="45720" tIns="27432" bIns="27432">
            <a:spAutoFit/>
          </a:bodyPr>
          <a:lstStyle/>
          <a:p>
            <a:pPr algn="l">
              <a:spcAft>
                <a:spcPts val="400"/>
              </a:spcAft>
            </a:pPr>
            <a:r>
              <a:rPr sz="1400" b="0">
                <a:solidFill>
                  <a:srgbClr val="8B93A1"/>
                </a:solidFill>
                <a:latin typeface="Red Hat Display"/>
              </a:rPr>
              <a:t>Yes. Three declared cases were. Runtime checks the real files after every pass.</a:t>
            </a:r>
          </a:p>
        </p:txBody>
      </p:sp>
      <p:sp>
        <p:nvSpPr>
          <p:cNvPr id="20" name="Rounded Rectangle 19"/>
          <p:cNvSpPr/>
          <p:nvPr/>
        </p:nvSpPr>
        <p:spPr>
          <a:xfrm>
            <a:off x="822960" y="4023360"/>
            <a:ext cx="3291840" cy="1874519"/>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 y="4023360"/>
            <a:ext cx="64008" cy="1874519"/>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160520"/>
            <a:ext cx="2971800" cy="731520"/>
          </a:xfrm>
          <a:prstGeom prst="rect">
            <a:avLst/>
          </a:prstGeom>
          <a:noFill/>
        </p:spPr>
        <p:txBody>
          <a:bodyPr wrap="square" anchor="t" lIns="45720" rIns="45720" tIns="27432" bIns="27432">
            <a:spAutoFit/>
          </a:bodyPr>
          <a:lstStyle/>
          <a:p>
            <a:pPr algn="l">
              <a:spcAft>
                <a:spcPts val="400"/>
              </a:spcAft>
            </a:pPr>
            <a:r>
              <a:rPr sz="1500" b="1">
                <a:solidFill>
                  <a:srgbClr val="E8EAF0"/>
                </a:solidFill>
                <a:latin typeface="Montserrat Alternates"/>
              </a:rPr>
              <a:t>Is the pass count minimal?</a:t>
            </a:r>
          </a:p>
        </p:txBody>
      </p:sp>
      <p:sp>
        <p:nvSpPr>
          <p:cNvPr id="23" name="TextBox 22"/>
          <p:cNvSpPr txBox="1"/>
          <p:nvPr/>
        </p:nvSpPr>
        <p:spPr>
          <a:xfrm>
            <a:off x="1051560" y="4892040"/>
            <a:ext cx="2971800" cy="1005840"/>
          </a:xfrm>
          <a:prstGeom prst="rect">
            <a:avLst/>
          </a:prstGeom>
          <a:noFill/>
        </p:spPr>
        <p:txBody>
          <a:bodyPr wrap="square" anchor="t" lIns="45720" rIns="45720" tIns="27432" bIns="27432">
            <a:spAutoFit/>
          </a:bodyPr>
          <a:lstStyle/>
          <a:p>
            <a:pPr algn="l">
              <a:spcAft>
                <a:spcPts val="400"/>
              </a:spcAft>
            </a:pPr>
            <a:r>
              <a:rPr sz="1400" b="0">
                <a:solidFill>
                  <a:srgbClr val="8B93A1"/>
                </a:solidFill>
                <a:latin typeface="Red Hat Display"/>
              </a:rPr>
              <a:t>No. It is a conservative bound. Minimum assignment is NP-complete.</a:t>
            </a:r>
          </a:p>
        </p:txBody>
      </p:sp>
      <p:sp>
        <p:nvSpPr>
          <p:cNvPr id="24" name="Rounded Rectangle 23"/>
          <p:cNvSpPr/>
          <p:nvPr/>
        </p:nvSpPr>
        <p:spPr>
          <a:xfrm>
            <a:off x="4434840" y="4023360"/>
            <a:ext cx="3291840" cy="1874519"/>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34840" y="4023360"/>
            <a:ext cx="64008" cy="1874519"/>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4160520"/>
            <a:ext cx="2971800" cy="731520"/>
          </a:xfrm>
          <a:prstGeom prst="rect">
            <a:avLst/>
          </a:prstGeom>
          <a:noFill/>
        </p:spPr>
        <p:txBody>
          <a:bodyPr wrap="square" anchor="t" lIns="45720" rIns="45720" tIns="27432" bIns="27432">
            <a:spAutoFit/>
          </a:bodyPr>
          <a:lstStyle/>
          <a:p>
            <a:pPr algn="l">
              <a:spcAft>
                <a:spcPts val="400"/>
              </a:spcAft>
            </a:pPr>
            <a:r>
              <a:rPr sz="1500" b="1">
                <a:solidFill>
                  <a:srgbClr val="E8EAF0"/>
                </a:solidFill>
                <a:latin typeface="Montserrat Alternates"/>
              </a:rPr>
              <a:t>What about unsupported packages?</a:t>
            </a:r>
          </a:p>
        </p:txBody>
      </p:sp>
      <p:sp>
        <p:nvSpPr>
          <p:cNvPr id="27" name="TextBox 26"/>
          <p:cNvSpPr txBox="1"/>
          <p:nvPr/>
        </p:nvSpPr>
        <p:spPr>
          <a:xfrm>
            <a:off x="4663440" y="4892040"/>
            <a:ext cx="2971800" cy="1005840"/>
          </a:xfrm>
          <a:prstGeom prst="rect">
            <a:avLst/>
          </a:prstGeom>
          <a:noFill/>
        </p:spPr>
        <p:txBody>
          <a:bodyPr wrap="square" anchor="t" lIns="45720" rIns="45720" tIns="27432" bIns="27432">
            <a:spAutoFit/>
          </a:bodyPr>
          <a:lstStyle/>
          <a:p>
            <a:pPr algn="l">
              <a:spcAft>
                <a:spcPts val="400"/>
              </a:spcAft>
            </a:pPr>
            <a:r>
              <a:rPr sz="1400" b="0">
                <a:solidFill>
                  <a:srgbClr val="8B93A1"/>
                </a:solidFill>
                <a:latin typeface="Red Hat Display"/>
              </a:rPr>
              <a:t>The result is UNKNOWN. The plan keeps at least three runs and names the construct.</a:t>
            </a:r>
          </a:p>
        </p:txBody>
      </p:sp>
      <p:sp>
        <p:nvSpPr>
          <p:cNvPr id="28" name="Rounded Rectangle 27"/>
          <p:cNvSpPr/>
          <p:nvPr/>
        </p:nvSpPr>
        <p:spPr>
          <a:xfrm>
            <a:off x="8046720" y="4023360"/>
            <a:ext cx="3291840" cy="1874519"/>
          </a:xfrm>
          <a:prstGeom prst="roundRect">
            <a:avLst>
              <a:gd name="adj" fmla="val 10000"/>
            </a:avLst>
          </a:prstGeom>
          <a:solidFill>
            <a:srgbClr val="171A21"/>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0" y="4023360"/>
            <a:ext cx="64008" cy="1874519"/>
          </a:xfrm>
          <a:prstGeom prst="rect">
            <a:avLst/>
          </a:prstGeom>
          <a:solidFill>
            <a:srgbClr val="A78BFA"/>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20" y="4160520"/>
            <a:ext cx="2971800" cy="731520"/>
          </a:xfrm>
          <a:prstGeom prst="rect">
            <a:avLst/>
          </a:prstGeom>
          <a:noFill/>
        </p:spPr>
        <p:txBody>
          <a:bodyPr wrap="square" anchor="t" lIns="45720" rIns="45720" tIns="27432" bIns="27432">
            <a:spAutoFit/>
          </a:bodyPr>
          <a:lstStyle/>
          <a:p>
            <a:pPr algn="l">
              <a:spcAft>
                <a:spcPts val="400"/>
              </a:spcAft>
            </a:pPr>
            <a:r>
              <a:rPr sz="1500" b="1">
                <a:solidFill>
                  <a:srgbClr val="E8EAF0"/>
                </a:solidFill>
                <a:latin typeface="Montserrat Alternates"/>
              </a:rPr>
              <a:t>What does it support?</a:t>
            </a:r>
          </a:p>
        </p:txBody>
      </p:sp>
      <p:sp>
        <p:nvSpPr>
          <p:cNvPr id="31" name="TextBox 30"/>
          <p:cNvSpPr txBox="1"/>
          <p:nvPr/>
        </p:nvSpPr>
        <p:spPr>
          <a:xfrm>
            <a:off x="8275320" y="4892040"/>
            <a:ext cx="2971800" cy="1005840"/>
          </a:xfrm>
          <a:prstGeom prst="rect">
            <a:avLst/>
          </a:prstGeom>
          <a:noFill/>
        </p:spPr>
        <p:txBody>
          <a:bodyPr wrap="square" anchor="t" lIns="45720" rIns="45720" tIns="27432" bIns="27432">
            <a:spAutoFit/>
          </a:bodyPr>
          <a:lstStyle/>
          <a:p>
            <a:pPr algn="l">
              <a:spcAft>
                <a:spcPts val="400"/>
              </a:spcAft>
            </a:pPr>
            <a:r>
              <a:rPr sz="1400" b="0">
                <a:solidFill>
                  <a:srgbClr val="8B93A1"/>
                </a:solidFill>
                <a:latin typeface="Red Hat Display"/>
              </a:rPr>
              <a:t>A declared LaTeX subset: labels, references, contents, lists and citations.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